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Knowledge System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Philosophy, Architecture &amp; Workflow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evidence-grounded LLM workflow with confidential routing for unpublished research.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0" y="62179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v2.1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LLM-Wiki?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pattern for grounding LLM reasoning in papers you actually own.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760720" cy="45720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idea (Karpathy, 2024)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53949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letting an LLM browse the web or invent citations, build a personal markdown corpus of papers you have actually read. Every paper becomes a structured summary. The LLM reads those summaries as ground truth. Answers stay traceable. Hallucinations stop.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markdown?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5394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text. Git-trackable. Obsidian-readable. Every LLM speaks it natively. No vendor lock-in, no database, no API key.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37960" y="1828800"/>
            <a:ext cx="507492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084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3-tier structure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720840" y="2468880"/>
            <a:ext cx="4709160" cy="1097280"/>
          </a:xfrm>
          <a:prstGeom prst="roundRect">
            <a:avLst>
              <a:gd name="adj" fmla="val 6667"/>
            </a:avLst>
          </a:prstGeom>
          <a:solidFill>
            <a:srgbClr val="E5E7E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25420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PDF (immutable)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0" y="28620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papers/{author}-{year}-{title}.pdf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31546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source. Never modified.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0" y="35844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720840" y="3840480"/>
            <a:ext cx="4709160" cy="1097280"/>
          </a:xfrm>
          <a:prstGeom prst="roundRect">
            <a:avLst>
              <a:gd name="adj" fmla="val 6667"/>
            </a:avLst>
          </a:prstGeom>
          <a:solidFill>
            <a:srgbClr val="DFF5F1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0" y="39136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Source summary (LLM-written)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42336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sources/{stem}.md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0" y="4526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· Results · Limitations · Glossary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869680" y="4956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720840" y="5212080"/>
            <a:ext cx="4709160" cy="1097280"/>
          </a:xfrm>
          <a:prstGeom prst="roundRect">
            <a:avLst>
              <a:gd name="adj" fmla="val 6667"/>
            </a:avLst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52852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Wiki page (categorized, cross-linked)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0" y="56052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wiki/{category}/{stem}.md  +  [[wikilinks]]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5897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Cross-paper synthesis lives in wiki/overviews/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Non-Negotiable Rules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apply to every cloud agent, every conversation.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285232" cy="2011680"/>
          </a:xfrm>
          <a:prstGeom prst="roundRect">
            <a:avLst>
              <a:gd name="adj" fmla="val 4545"/>
            </a:avLst>
          </a:prstGeom>
          <a:solidFill>
            <a:srgbClr val="2D3A5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86000"/>
            <a:ext cx="640080" cy="6400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22860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web search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54480" y="278892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 external search to fill gaps. Every answer is grounded in papers we actually own.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2011680"/>
            <a:ext cx="5285232" cy="2011680"/>
          </a:xfrm>
          <a:prstGeom prst="roundRect">
            <a:avLst>
              <a:gd name="adj" fmla="val 4545"/>
            </a:avLst>
          </a:prstGeom>
          <a:solidFill>
            <a:srgbClr val="2D3A5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2286000"/>
            <a:ext cx="640080" cy="6400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360920" y="22860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 from the wiki first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60920" y="278892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sources/ and wiki/ are the only sources of truth. Cross-paper synthesis in wiki/overviews/.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5285232" cy="2011680"/>
          </a:xfrm>
          <a:prstGeom prst="roundRect">
            <a:avLst>
              <a:gd name="adj" fmla="val 4545"/>
            </a:avLst>
          </a:prstGeom>
          <a:solidFill>
            <a:srgbClr val="2D3A5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572000"/>
            <a:ext cx="640080" cy="6400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572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5720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Re-read the PDF if wiki is insufficient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54480" y="507492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papers/{stem}.pdf, extract more detail. Then update the wiki so the next conversation has it.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55080" y="4297680"/>
            <a:ext cx="5285232" cy="2011680"/>
          </a:xfrm>
          <a:prstGeom prst="roundRect">
            <a:avLst>
              <a:gd name="adj" fmla="val 4545"/>
            </a:avLst>
          </a:prstGeom>
          <a:solidFill>
            <a:srgbClr val="2D3A5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4572000"/>
            <a:ext cx="640080" cy="6400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4572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360920" y="45720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Say if missing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360920" y="507492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don't have a paper on this — please give me the PDF." No improvising. No making up sources.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Beyond Basic LLM-Wiki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system adds on top of Karpathy's pattern — and how each addition accelerates research.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384048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on top of basic LLM-Wiki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0" y="1828800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accelerates research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11064240" cy="5029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12848"/>
            <a:ext cx="73152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Confidentiality routing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0" y="221284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for unpublished work. Cloud agents physically cannot read grants, drafts, or pilot data.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15768"/>
            <a:ext cx="11064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715768"/>
            <a:ext cx="73152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271576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9 agent roles (not just one)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0" y="271576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Scout, Triage, Ingester, Synthesizer, Drafter, Argue, Demon, Rejection-Sim, Skeptic.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18688"/>
            <a:ext cx="11064240" cy="5029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218688"/>
            <a:ext cx="73152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1868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Exploration → Project pipeline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0" y="321868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incubate publicly. Promotion to confidential projects is a single human decision.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11064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721608"/>
            <a:ext cx="73152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372160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Scout brief sanitization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0" y="372160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projects search the public corpus through a self-validated sanitized brief.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224528"/>
            <a:ext cx="11064240" cy="5029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224528"/>
            <a:ext cx="73152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422452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User-first drafting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0" y="422452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Drafter cannot write blank-page. User writes a skeleton; LLM amplifies. No hallucinated framing.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727448"/>
            <a:ext cx="11064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727448"/>
            <a:ext cx="73152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472744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Dashboard with one-click Run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0" y="472744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workflow step is a button. No memorizing commands. Run-buttons are allowlisted.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5230368"/>
            <a:ext cx="73152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523036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Mendeley two-way sync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669280" y="523036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 for reading + synthesis. Mendeley for Word citations. Same PDFs, no manual duplication.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733288"/>
            <a:ext cx="11064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5733288"/>
            <a:ext cx="73152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3232" y="573328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Knowledge compounding via overviews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0" y="573328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Cross-paper synthesis writes back to wiki/overviews/, which the next project consumes.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Spaces × Two Tiers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machine, same files. Which AI is allowed to read each part is what changes.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291840" cy="4480560"/>
          </a:xfrm>
          <a:prstGeom prst="roundRect">
            <a:avLst>
              <a:gd name="adj" fmla="val 3333"/>
            </a:avLst>
          </a:prstGeom>
          <a:solidFill>
            <a:srgbClr val="DFF5F1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14884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LIBRARY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0632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papers/  sources/  wiki/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index.md  wiki/overviews/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knowledge base.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cloud agents.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by everyone.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580644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by: Ingester · Synthesizer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26280" y="2011680"/>
            <a:ext cx="3291840" cy="4480560"/>
          </a:xfrm>
          <a:prstGeom prst="roundRect">
            <a:avLst>
              <a:gd name="adj" fmla="val 3333"/>
            </a:avLst>
          </a:prstGeom>
          <a:solidFill>
            <a:srgbClr val="DFF5F1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214884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214884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09160" y="2560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EXPLORATION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09160" y="30632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explorations/idea-notes/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explorations/ideas/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explorations/active/{slug}/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09160" y="429768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Pre-project incubator.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literature.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unpublished hypotheses.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09160" y="580644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by: Scout · Skeptic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503920" y="2011680"/>
            <a:ext cx="3291840" cy="4480560"/>
          </a:xfrm>
          <a:prstGeom prst="roundRect">
            <a:avLst>
              <a:gd name="adj" fmla="val 3333"/>
            </a:avLst>
          </a:prstGeom>
          <a:solidFill>
            <a:srgbClr val="FEF3C7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0" y="214884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0" y="214884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686800" y="2560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🔒 PROJECT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686800" y="30632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projects/{slug}/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Project_Brief.md  user-drafts/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Drafts/  critiques/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686800" y="429768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workspace.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· paper_in_prep · review.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ONLY.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86800" y="580644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by: Drafter · Argue</a:t>
            </a:r>
            <a:endParaRPr lang="en-US" sz="1100" dirty="0"/>
          </a:p>
          <a:p>
            <a:pPr indent="0" marL="0">
              <a:buNone/>
            </a:pPr>
            <a:r>
              <a:rPr lang="en-US" sz="11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 · Rejection-Sim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53796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Exception: library_ingest projects → cloud-ok (lightweight wiki-add path, no unpublished content)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Confidentiality = Routing, Not Encryption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machine. Two AI lanes. The files stay where they are — what changes is who can read them.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3657600"/>
          </a:xfrm>
          <a:prstGeom prst="roundRect">
            <a:avLst>
              <a:gd name="adj" fmla="val 3000"/>
            </a:avLst>
          </a:prstGeom>
          <a:solidFill>
            <a:srgbClr val="DFF5F1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03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may read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 ·  Codex CLI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 papers/  (published corpus)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 sources/  wiki/  wiki/overviews/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 explorations/  (public facing)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160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 library_ingest project briefs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5720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 index.md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5440680" cy="3657600"/>
          </a:xfrm>
          <a:prstGeom prst="roundRect">
            <a:avLst>
              <a:gd name="adj" fmla="val 3000"/>
            </a:avLst>
          </a:prstGeom>
          <a:solidFill>
            <a:srgbClr val="FEF3C7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2103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3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LLM only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55080" y="25146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 Studio  ·  Qwen 3.5 MLX  ·  127.0.0.1:1234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46520" y="2926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projects/{slug}/  (grant, paper_in_prep)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papers/under-review/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46520" y="3749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explorations/active/*/_pdfs/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60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user-drafts/  Drafts/  critiques/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5720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Any  confidential_tier: local-only  file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85216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EF2F2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989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refusal: cloud agent encounters confidential path → it refuses. No override — even if the user says "do it here anyway."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Tools — One Shared File System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tools for different jobs. All three read and write the SAME folder.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DFF5F1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057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writing + reasoning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3200400"/>
            <a:ext cx="137160" cy="1371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0632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Cross-paper synthesis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3703320"/>
            <a:ext cx="137160" cy="1371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5661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brainstorming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4206240"/>
            <a:ext cx="137160" cy="1371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0690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 structure decisions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4709160"/>
            <a:ext cx="137160" cy="1371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5720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revision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212080"/>
            <a:ext cx="137160" cy="1371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5074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agent outputs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26280" y="1920240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2057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CODEX CLI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709160" y="26060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throughput + files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3200400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30632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script execution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54880" y="3703320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35661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of candidates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54880" y="4206240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3480" y="40690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Ingester: PDF → wiki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754880" y="4709160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45720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file operations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54880" y="5212080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83480" y="5074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verification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503920" y="1920240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FEF3C7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0" y="20574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LLM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686800" y="26060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only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732520" y="3200400"/>
            <a:ext cx="137160" cy="13716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0" y="306324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Manuscript drafting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732520" y="3703320"/>
            <a:ext cx="137160" cy="13716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0" y="35661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writing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732520" y="4206240"/>
            <a:ext cx="137160" cy="13716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61120" y="40690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#2 critique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732520" y="4709160"/>
            <a:ext cx="137160" cy="13716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61120" y="45720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Devil's advocate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732520" y="5212080"/>
            <a:ext cx="137160" cy="13716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61120" y="5074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simulation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48640" y="626364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tools read and write the SAME markdown folder. No file transfer, no context handoff.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Agent Roles — Divided by Environment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role is a markdown spec in subagents/. Dashboard Run buttons open the right agent with the right context.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36576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1828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1828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0" y="18288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DFF5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9456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19456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0" y="219456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CLI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03520" y="2194560"/>
            <a:ext cx="6217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PubMed / arXiv / bioRxiv / Semantic Scholar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578608"/>
            <a:ext cx="11064240" cy="384048"/>
          </a:xfrm>
          <a:prstGeom prst="rect">
            <a:avLst/>
          </a:prstGeom>
          <a:solidFill>
            <a:srgbClr val="DFF5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860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2578608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578608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CLI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2578608"/>
            <a:ext cx="6217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candidates — in-scope / borderline / out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DFF5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96265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97280" y="2962656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00400" y="2962656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CLI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03520" y="2962656"/>
            <a:ext cx="6217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→ papers/ + sources/ + wiki/ pages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346704"/>
            <a:ext cx="11064240" cy="384048"/>
          </a:xfrm>
          <a:prstGeom prst="rect">
            <a:avLst/>
          </a:prstGeom>
          <a:solidFill>
            <a:srgbClr val="DFF5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34670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97280" y="334670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00400" y="334670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03520" y="3346704"/>
            <a:ext cx="6217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Cross-paper synthesis → wiki/overviews/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DFF5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373075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97280" y="3730752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Skeptic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200400" y="3730752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03520" y="3730752"/>
            <a:ext cx="6217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idea → exploration promotion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4114800"/>
            <a:ext cx="11064240" cy="32004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41148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ONLY — confidential zone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8640" y="4434840"/>
            <a:ext cx="11064240" cy="384048"/>
          </a:xfrm>
          <a:prstGeom prst="rect">
            <a:avLst/>
          </a:prstGeom>
          <a:solidFill>
            <a:srgbClr val="FEF3C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44348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97280" y="443484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200400" y="443484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303520" y="4434840"/>
            <a:ext cx="6217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your user-drafts/, writes manuscript / grant sections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4818888"/>
            <a:ext cx="11064240" cy="384048"/>
          </a:xfrm>
          <a:prstGeom prst="rect">
            <a:avLst/>
          </a:prstGeom>
          <a:solidFill>
            <a:srgbClr val="FEF3C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481888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97280" y="4818888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200400" y="4818888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303520" y="4818888"/>
            <a:ext cx="6217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Reviewer-#2-style pressure test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48640" y="5202936"/>
            <a:ext cx="11064240" cy="384048"/>
          </a:xfrm>
          <a:prstGeom prst="rect">
            <a:avLst/>
          </a:prstGeom>
          <a:solidFill>
            <a:srgbClr val="FEF3C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" y="520293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97280" y="5202936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3200400" y="5202936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303520" y="5202936"/>
            <a:ext cx="6217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Devil's-advocate / desk-reject critique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48640" y="5586984"/>
            <a:ext cx="11064240" cy="384048"/>
          </a:xfrm>
          <a:prstGeom prst="rect">
            <a:avLst/>
          </a:prstGeom>
          <a:solidFill>
            <a:srgbClr val="FEF3C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0080" y="558698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97280" y="55869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Rejection-Sim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3200400" y="55869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303520" y="5586984"/>
            <a:ext cx="6217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Pre-mortem: funder/journal rejection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Drafter Cannot Write From Blank Page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does the homework first. The LLM amplifies — it does not replace your thinking.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291840" cy="3383280"/>
          </a:xfrm>
          <a:prstGeom prst="roundRect">
            <a:avLst>
              <a:gd name="adj" fmla="val 2778"/>
            </a:avLst>
          </a:prstGeom>
          <a:solidFill>
            <a:srgbClr val="FEF3C7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103120"/>
            <a:ext cx="548640" cy="5486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writes skeleton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78892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user-drafts/{section}.md.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5–10 lines: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claim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framing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key citation hooks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4709160"/>
            <a:ext cx="292608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709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user-drafts/{section}.md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338328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26280" y="1920240"/>
            <a:ext cx="3291840" cy="3383280"/>
          </a:xfrm>
          <a:prstGeom prst="roundRect">
            <a:avLst>
              <a:gd name="adj" fmla="val 2778"/>
            </a:avLst>
          </a:prstGeom>
          <a:solidFill>
            <a:srgbClr val="DFF5F1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09160" y="210312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39496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Wiki context loaded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09160" y="278892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"Analyze wiki relevance".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pre_drafter.py scans sources/ and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wiki/ for relevant pages →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wiki_context.md.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09160" y="4709160"/>
            <a:ext cx="292608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4709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wiki_context.md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18120" y="338328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503920" y="1920240"/>
            <a:ext cx="3291840" cy="3383280"/>
          </a:xfrm>
          <a:prstGeom prst="roundRect">
            <a:avLst>
              <a:gd name="adj" fmla="val 2778"/>
            </a:avLst>
          </a:prstGeom>
          <a:solidFill>
            <a:srgbClr val="1E2A4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0" y="21031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7260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Drafter amplifies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0" y="278892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reads: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Project_Brief.md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wiki_context.md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user-drafts/{section}.md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writes Drafts/{section}.md.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686800" y="4709160"/>
            <a:ext cx="2926080" cy="411480"/>
          </a:xfrm>
          <a:prstGeom prst="roundRect">
            <a:avLst>
              <a:gd name="adj" fmla="val 11111"/>
            </a:avLst>
          </a:prstGeom>
          <a:solidFill>
            <a:srgbClr val="2D3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78240" y="4709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Drafts/{section}.md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548640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AFAFA"/>
          </a:solidFill>
          <a:ln w="19050">
            <a:solidFill>
              <a:srgbClr val="1E2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5778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 draft → /compare with your skeleton  ·  /save  ·  iterate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Drafter never writes blank-page prose. Without a user-drafts/{section}.md skeleton, it has no framing to amplify and the output collapses into generic boilerplate. This is by design — it forces you to think first.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Scout Brief — Zero Identity Leakage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confidential project searches the public paper corpus — without revealing what it's about.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468880" cy="1280160"/>
          </a:xfrm>
          <a:prstGeom prst="roundRect">
            <a:avLst>
              <a:gd name="adj" fmla="val 7143"/>
            </a:avLst>
          </a:prstGeom>
          <a:solidFill>
            <a:srgbClr val="FEF3C7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57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Project_Brief.md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017520" y="23774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154680" y="1920240"/>
            <a:ext cx="2468880" cy="1280160"/>
          </a:xfrm>
          <a:prstGeom prst="roundRect">
            <a:avLst>
              <a:gd name="adj" fmla="val 7143"/>
            </a:avLst>
          </a:prstGeom>
          <a:solidFill>
            <a:srgbClr val="FEF3C7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2057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Local LLM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46120" y="2560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sanitized brief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3560" y="23774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5760720" y="1920240"/>
            <a:ext cx="2468880" cy="1280160"/>
          </a:xfrm>
          <a:prstGeom prst="roundRect">
            <a:avLst>
              <a:gd name="adj" fmla="val 7143"/>
            </a:avLst>
          </a:prstGeom>
          <a:solidFill>
            <a:srgbClr val="FEF3C7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52160" y="2057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Self-simulation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52160" y="2560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the project be guessed?"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0" y="23774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366760" y="1920240"/>
            <a:ext cx="2468880" cy="1280160"/>
          </a:xfrm>
          <a:prstGeom prst="roundRect">
            <a:avLst>
              <a:gd name="adj" fmla="val 7143"/>
            </a:avLst>
          </a:prstGeom>
          <a:solidFill>
            <a:srgbClr val="DFF5F1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8200" y="2057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scouts/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58200" y="2560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cloud-ok export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5440680" cy="2468880"/>
          </a:xfrm>
          <a:prstGeom prst="roundRect">
            <a:avLst>
              <a:gd name="adj" fmla="val 3704"/>
            </a:avLst>
          </a:prstGeom>
          <a:solidFill>
            <a:srgbClr val="FEF3C7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566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  The brief must NOT contain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" y="3977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specific hypothesis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4343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Unpublished data / pilot results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" y="4709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PI name, lab name, institution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074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Grant aims or objectives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54406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project slug or title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72200" y="3474720"/>
            <a:ext cx="5440680" cy="2468880"/>
          </a:xfrm>
          <a:prstGeom prst="roundRect">
            <a:avLst>
              <a:gd name="adj" fmla="val 3704"/>
            </a:avLst>
          </a:prstGeom>
          <a:solidFill>
            <a:srgbClr val="DFF5F1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55080" y="3566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 The brief MAY contain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3977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Broad scientific field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6520" y="4343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Standard MeSH terms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46520" y="4709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Public field leaders as author filters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6520" y="5074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Generic year range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46520" y="54406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Sources to search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6080760"/>
            <a:ext cx="11064240" cy="594360"/>
          </a:xfrm>
          <a:prstGeom prst="roundRect">
            <a:avLst>
              <a:gd name="adj" fmla="val 9231"/>
            </a:avLst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1264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validates before export: simulation_passed: true required  +  project slug must not appear in body. Otherwise BLOCKED.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Workflow — End to 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BUILD (cloud)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DFF5F1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659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34640" y="196596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83280" y="19659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DFF5F1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9659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0" y="196596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217920" y="19659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9659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503920" y="196596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052560" y="19659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DFF5F1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19659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5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PDF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USE (cloud)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324612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38328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from wiki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94760" y="338328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343400" y="3383280"/>
            <a:ext cx="324612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3400" y="338328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 overviews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589520" y="338328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138160" y="3383280"/>
            <a:ext cx="324612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0" y="3383280"/>
            <a:ext cx="3246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new ideas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CONFIDENTIAL (local LLM)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480060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8006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skeleton → Drafter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834640" y="480060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3383280" y="480060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0" y="48006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 critique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0" y="480060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217920" y="480060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48006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 check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03920" y="480060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9052560" y="480060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52560" y="48006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sim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594360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2D3A5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5989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⟲   Loop: durable insights → manual redaction → wiki/overviews/  →  cloud agents read them in the next cycle.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Dashboard — Single Point of Entry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web UI at http://127.0.0.1:8765. Every workflow has a Run button.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bar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status. Workflow diagram. Quick nav.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🔍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709160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Quick Scout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3291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paper search across PubMed + arXiv + bioRxiv.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03920" y="192024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💡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Idea incubator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686800" y="3291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notes. Promote to briefs. Activate explorations.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43484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🚀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31520" y="5303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launcher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31520" y="58064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dropdown with every workflow step.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26280" y="443484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🔒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4709160" y="5303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Scout brief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709160" y="58064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writes sanitized brief for confidential projects.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503920" y="443484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0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📖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8686800" y="5303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Wiki + Mendeley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686800" y="58064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as Obsidian vault. Mendeley sync for Word citations.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Mendeley Integration — Two Systems, One Source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wiki is your reading memory. Mendeley is your citation manager. Same PDFs, no duplication.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86400" cy="3200400"/>
          </a:xfrm>
          <a:prstGeom prst="roundRect">
            <a:avLst>
              <a:gd name="adj" fmla="val 2857"/>
            </a:avLst>
          </a:prstGeom>
          <a:solidFill>
            <a:srgbClr val="DFF5F1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LLM-Wiki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reading memory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Papers you have read + synthesized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1089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Structured source summaries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Cross-paper overviews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840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Reasoning substrate for LLMs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5720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Selected. Read. Synthesized.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1874520"/>
            <a:ext cx="5486400" cy="3200400"/>
          </a:xfrm>
          <a:prstGeom prst="roundRect">
            <a:avLst>
              <a:gd name="adj" fmla="val 2857"/>
            </a:avLst>
          </a:prstGeom>
          <a:solidFill>
            <a:srgbClr val="DBEAFE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965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Mendeley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2331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manager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46520" y="2743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Reference library for Word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1089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Automatic citation insertion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46520" y="34747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BibTeX export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3840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Personal reference catalog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55080" y="45720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Comprehensive. Citation-ready.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⇄  Two-way sync (scripts)  ⇄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566928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74243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FF5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sync_to_mendeley_watch.py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" y="60807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ingesting a paper into papers/, copy it into Mendeley's watched folder. One-way: wiki → Mendeley.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566928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574243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FF5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audit_mendeley_export.py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55080" y="60807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Mendeley's BibTeX export, compare against the wiki, find gaps. Audit-only — never modifies Mendeley.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Wiki Gets Smarter Over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conversation should produce new or improved wiki pages. The corpus compounds.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508760" y="4937760"/>
            <a:ext cx="9144000" cy="914400"/>
          </a:xfrm>
          <a:prstGeom prst="rect">
            <a:avLst/>
          </a:prstGeom>
          <a:solidFill>
            <a:srgbClr val="DFF5F1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1640" y="50292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Individual papers  ·  sources/*.md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91640" y="539496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per paper. Structured summary. Inputs to everything above.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97480" y="3749040"/>
            <a:ext cx="6766560" cy="914400"/>
          </a:xfrm>
          <a:prstGeom prst="rect">
            <a:avLst/>
          </a:prstGeom>
          <a:solidFill>
            <a:srgbClr val="DBEAFE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38404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Wiki pages  ·  wiki/{category}/*.md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80360" y="42062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Categorized by topic. Cross-linked via [[wikilinks]].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977640" y="2560320"/>
            <a:ext cx="4206240" cy="914400"/>
          </a:xfrm>
          <a:prstGeom prst="rect">
            <a:avLst/>
          </a:prstGeom>
          <a:solidFill>
            <a:srgbClr val="FEF3C7"/>
          </a:solidFill>
          <a:ln w="3175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Overviews  ·  wiki/overviews/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60520" y="30175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Cross-paper synthesis. The most valuable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5820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453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⭐ Most valuable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626364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paper summaries are inputs. Cross-paper synthesis is the output. The output compounds.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Principles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828800"/>
            <a:ext cx="5285232" cy="1554480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65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3-Tier Architecture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(immutable) → sources/ → wiki/. Each tier is human-readable. Every layer adds synthesis.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828800"/>
            <a:ext cx="5285232" cy="1554480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965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Library as Evidence Layer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46888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wiki is not the deliverable. It is the substrate that confidential projects consume.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5285232" cy="1554480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7033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Confidentiality as Routing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42062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constraint, not encryption. The same file, different AI lanes.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55080" y="3566160"/>
            <a:ext cx="5285232" cy="1554480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7033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User is the Translator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2062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needs → public scout queries only by manual user rewriting. Never LLM extraction.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5285232" cy="1554480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4406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User-First Drafting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594360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amplifies what the user already wrote. No blank-page generation.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5303520"/>
            <a:ext cx="5285232" cy="1554480"/>
          </a:xfrm>
          <a:prstGeom prst="roundRect">
            <a:avLst>
              <a:gd name="adj" fmla="val 5882"/>
            </a:avLst>
          </a:prstGeom>
          <a:solidFill>
            <a:srgbClr val="FAFAFA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54406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Approval Gate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37960" y="594360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automatic corpus expansion. Every PDF entering papers/ requires a human decision.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LLM — Practical Setup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137160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MacBook Pro M4 Pro · 24 GB unified memory · Qwen 3.5 27B MLX 4-bit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291840" cy="2926080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11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 · 24 GB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Qwen 3.5 27B MLX 4-bit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9718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~16 GB loaded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~12–20 tok/s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97764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Close Chrome / Slack during drafting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26280" y="1920240"/>
            <a:ext cx="3291840" cy="2926080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011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COMFORTABLE · 48 GB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09160" y="24688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Qwen 3.5 32B with headroom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09160" y="29718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16K context comfortably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09160" y="34747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secondary model loaded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09160" y="397764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mix of capability + speed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503920" y="1920240"/>
            <a:ext cx="3291840" cy="2926080"/>
          </a:xfrm>
          <a:prstGeom prst="roundRect">
            <a:avLst>
              <a:gd name="adj" fmla="val 3125"/>
            </a:avLst>
          </a:prstGeom>
          <a:solidFill>
            <a:srgbClr val="FAFAFA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41080" y="2011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RECOMMENDED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0" y="24688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Models above 30B on 24 GB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0" y="29718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Llama 3.3 70B (won't fit)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0" y="34747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Coding-specialized variants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0" y="397764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Models without MLX 4-bit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Quick start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544068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5321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Install LM Studio → search "Qwen3.5-27B-Instruct MLX 4bit" → Download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Load model into memory  →  Start Local Server (http://localhost:1234)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python3 scripts/local_agent.py --role drafter --project my-paper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Here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commands to begin.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698480" cy="960120"/>
          </a:xfrm>
          <a:prstGeom prst="roundRect">
            <a:avLst>
              <a:gd name="adj" fmla="val 7619"/>
            </a:avLst>
          </a:prstGeom>
          <a:solidFill>
            <a:srgbClr val="2D3A5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83464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dashboard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scripts/dashboard_server.py --port 8765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886200"/>
            <a:ext cx="10698480" cy="960120"/>
          </a:xfrm>
          <a:prstGeom prst="roundRect">
            <a:avLst>
              <a:gd name="adj" fmla="val 7619"/>
            </a:avLst>
          </a:prstGeom>
          <a:solidFill>
            <a:srgbClr val="2D3A5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97764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a paper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scripts/extract_pdf.py /path/to/paper.pdf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5029200"/>
            <a:ext cx="10698480" cy="960120"/>
          </a:xfrm>
          <a:prstGeom prst="roundRect">
            <a:avLst>
              <a:gd name="adj" fmla="val 7619"/>
            </a:avLst>
          </a:prstGeom>
          <a:solidFill>
            <a:srgbClr val="2D3A5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12064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Confidential drafting (after writing user-drafts/)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scripts/local_agent.py --role drafter --project {slug}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overview pages don't exist yet. Build them conversation by conversation.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5E59"/>
                </a:solidFill>
                <a:latin typeface="Helvetica Neue"/>
              </a:rPr>
              <a:t>v2.3 release · 2026-05-15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E2A4A"/>
                </a:solidFill>
                <a:latin typeface="Helvetica Neue"/>
              </a:rPr>
              <a:t>What's new in v2.3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F2937"/>
                </a:solidFill>
                <a:latin typeface="Helvetica Neue"/>
              </a:rPr>
              <a:t>Project-level governance, confidential data tracking, and an LLM sync</a:t>
            </a:r>
          </a:p>
          <a:p>
            <a:pPr algn="l"/>
            <a:r>
              <a:rPr sz="1600" b="0" i="0">
                <a:solidFill>
                  <a:srgbClr val="1F2937"/>
                </a:solidFill>
                <a:latin typeface="Helvetica Neue"/>
              </a:rPr>
              <a:t>workflow that proposes — but never auto-applies — updates to project</a:t>
            </a:r>
          </a:p>
          <a:p>
            <a:pPr algn="l"/>
            <a:r>
              <a:rPr sz="1600" b="0" i="0">
                <a:solidFill>
                  <a:srgbClr val="1F2937"/>
                </a:solidFill>
                <a:latin typeface="Helvetica Neue"/>
              </a:rPr>
              <a:t>planning artifacts. Built on top of the existing wiki / project /</a:t>
            </a:r>
          </a:p>
          <a:p>
            <a:pPr algn="l"/>
            <a:r>
              <a:rPr sz="1600" b="0" i="0">
                <a:solidFill>
                  <a:srgbClr val="1F2937"/>
                </a:solidFill>
                <a:latin typeface="Helvetica Neue"/>
              </a:rPr>
              <a:t>exploration architecture.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54864" cy="777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Helvetica Neue"/>
              </a:rPr>
              <a:t>01 · Dashboard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A4A"/>
                </a:solidFill>
                <a:latin typeface="Helvetica Neue"/>
              </a:rPr>
              <a:t>Layout refresh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34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Snapshot 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63448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System health snapshot moved to the top, full-width row above the workspaces.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03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Workspaces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0316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Each project card now spans the full width — one card per row.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9184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71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Count chips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37184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Project's 10 count chips render as a single horizontal flex row, sized to fit.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6052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40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Why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405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Eliminates excessive vertical scroll when many projects are active.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 Neue"/>
              </a:rPr>
              <a:t>Pure UI change — no new API.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54864" cy="777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Helvetica Neue"/>
              </a:rPr>
              <a:t>02 ·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A4A"/>
                </a:solidFill>
                <a:latin typeface="Helvetica Neue"/>
              </a:rPr>
              <a:t>Project managers with mailto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5612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0204" y="18562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storage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0204" y="228600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A4A"/>
                </a:solidFill>
                <a:latin typeface="Helvetica Neue"/>
              </a:rPr>
              <a:t>Multiple managers /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04" y="2770632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Helvetica Neue"/>
              </a:rPr>
              <a:t>Stored in Project_Brief.md frontmatter under `managers:` (name + email). Multiple managers per project supported.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5780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00372" y="18562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badge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0372" y="228600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A4A"/>
                </a:solidFill>
                <a:latin typeface="Helvetica Neue"/>
              </a:rPr>
              <a:t>Bottom-right badge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0372" y="2770632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Helvetica Neue"/>
              </a:rPr>
              <a:t>Click the badge → popup with checkboxes, emails, Select-all toggle, and an 'Email selected managers' mailto button.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65948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0540" y="18562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edit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0540" y="228600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A4A"/>
                </a:solidFill>
                <a:latin typeface="Helvetica Neue"/>
              </a:rPr>
              <a:t>Admin-gated 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0540" y="2770632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Helvetica Neue"/>
              </a:rPr>
              <a:t>An ✎ button appears only after admin unlock; the editor adds/removes name + email rows.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 Neue"/>
              </a:rPr>
              <a:t>API: update-managers (PIN-required). UI: buildManagerBadge, openManagerPopover, openManagerEditor.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54864" cy="777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Helvetica Neue"/>
              </a:rPr>
              <a:t>03 ·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A4A"/>
                </a:solidFill>
                <a:latin typeface="Helvetica Neue"/>
              </a:rPr>
              <a:t>Admin mode (PIN-protected) with email recovery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34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63448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First click of the toggle: choose a 4–8 digit PIN + a recovery email.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03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Unlock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0316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Subsequent clicks: enter PIN → session-scoped admin mode (locks when tab closes).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9184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71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Forgot PIN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37184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Confirm recovery email → 6-digit code emailed (or printed to terminal) → enter code + new PIN.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6052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40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Hash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405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PBKDF2-HMAC-SHA256 with 200,000 iterations + per-install salt.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2920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09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10920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_system/admin/admin_config.json (gitignored, mode 0600). Server binds 127.0.0.1 only.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 Neue"/>
              </a:rPr>
              <a:t>SMTP env vars: DASHBOARD_SMTP_HOST / _PORT / _USER / _PASSWORD / _FROM (Gmail needs App Password).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54864" cy="777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Helvetica Neue"/>
              </a:rPr>
              <a:t>04 · Drill-down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A4A"/>
                </a:solidFill>
                <a:latin typeface="Helvetica Neue"/>
              </a:rPr>
              <a:t>Count-chip file list popup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34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Click any chip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63448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Popup lists actual files in the corresponding folder (candidates, drafts, notes, …).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03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Open with one click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0316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Each row opens the file via macOS `open` in its default app.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9184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71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Special cases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37184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Figure rows → opens figure-plan.md itself. Candidate batches → directory + file 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6052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40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Drill-down + Reassign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405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data-update rows show an extra Reassign… button (see slide 6).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 Neue"/>
              </a:rPr>
              <a:t>API: list-bucket-files, open-relative-path.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54864" cy="777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Helvetica Neue"/>
              </a:rPr>
              <a:t>05 · Confidential data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A4A"/>
                </a:solidFill>
                <a:latin typeface="Helvetica Neue"/>
              </a:rPr>
              <a:t>Data updates with Google Drive integration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5612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0204" y="18562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filename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0204" y="228600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A4A"/>
                </a:solidFill>
                <a:latin typeface="Helvetica Neue"/>
              </a:rPr>
              <a:t>Canonical naming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04" y="2770632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Helvetica Neue"/>
              </a:rPr>
              <a:t>fig-1A_brief-slug.ext · prelim_xxx · unspecified_xxx. Brief description (3–6 words) is required.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5780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00372" y="18562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modes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0372" y="228600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A4A"/>
                </a:solidFill>
                <a:latin typeface="Helvetica Neue"/>
              </a:rPr>
              <a:t>Two modes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0372" y="2770632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Helvetica Neue"/>
              </a:rPr>
              <a:t>New data → moves file + creates .md. Adding to existing → archives old file (zip) + replaces canonical name.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65948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0540" y="18562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0540" y="228600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A4A"/>
                </a:solidFill>
                <a:latin typeface="Helvetica Neue"/>
              </a:rPr>
              <a:t>CHANGELOG.md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0540" y="2770632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Helvetica Neue"/>
              </a:rPr>
              <a:t>Append-only history of every CREATE / UPDATE / REASSIGN / RENUMBER / RESTORE inside LLM_project_manager/.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 Neue"/>
              </a:rPr>
              <a:t>If gdrive_path is missing, the modal offers an inline 'Set Google Drive path…' folder picker.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54864" cy="777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Helvetica Neue"/>
              </a:rPr>
              <a:t>05 · File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A4A"/>
                </a:solidFill>
                <a:latin typeface="Helvetica Neue"/>
              </a:rPr>
              <a:t>LLM_project_manager/ folder convention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Helvetica Neue"/>
              </a:rPr>
              <a:t>Flat folder — figure organization is metadata-driven, not filesystem-driven.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515600" cy="38404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0058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{gdrive_path}/LLM_project_manager/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├── fig-1A_wt-vs-ko-baseline.csv         ← canonical (current)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├── prelim_pilot-trace.png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├── unspecified_misc.csv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├── archive/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│   ├── fig-1A_wt-vs-ko-baseline_20260512-101522.zip   ← previous version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│   └── …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└── CHANGELOG.md                          ← append-only history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/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projects/{slug}/data-updates/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└── 2026-05-15-fig-1a_wt-vs-ko-baseline.md  ← structured record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54864" cy="777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Helvetica Neue"/>
              </a:rPr>
              <a:t>06 · Figure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A4A"/>
                </a:solidFill>
                <a:latin typeface="Helvetica Neue"/>
              </a:rPr>
              <a:t>Reassign &amp; bulk renumber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34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Source of truth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63448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The `figure` field in each data-update's frontmatter. Filenames mirror it but are display-only.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03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Reassign (single)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0316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Change figure/panel for one data-update → frontmatter rewritten + file renamed + CHANGELOG 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9184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71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Renumber (bulk)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37184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Mapping table (Fig 1 → Fig 2, etc.). 2-pass rename handles swap-style cases safely.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6052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40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Affects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405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All matching data-updates + their canonical files + figure-plan.md rows.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 Neue"/>
              </a:rPr>
              <a:t>API: reassign-data-update, renumber-figures.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54864" cy="777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Helvetica Neue"/>
              </a:rPr>
              <a:t>07 · Rollback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A4A"/>
                </a:solidFill>
                <a:latin typeface="Helvetica Neue"/>
              </a:rPr>
              <a:t>Archive viewer &amp; restore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34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📦 Archive button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63448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Lists every zip in LLM_project_manager/archive/, newest first.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03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Per-row Restore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0316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Extracts the zip back to LLM_project_manager/.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9184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71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Conflict handling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37184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If a file with the original name exists, restored file gets _restored_{timestamp} suffix.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60520"/>
            <a:ext cx="10515600" cy="73152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40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5E59"/>
                </a:solidFill>
                <a:latin typeface="Helvetica Neue"/>
              </a:rPr>
              <a:t>Audit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405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Helvetica Neue"/>
              </a:rPr>
              <a:t>CHANGELOG appends a RESTORE 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 Neue"/>
              </a:rPr>
              <a:t>Each zip also contains _archive_meta.txt (original name, reason, archived_at).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54864" cy="777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Helvetica Neue"/>
              </a:rPr>
              <a:t>08 · Meetings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A4A"/>
                </a:solidFill>
                <a:latin typeface="Helvetica Neue"/>
              </a:rPr>
              <a:t>Meeting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5612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0204" y="18562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schedule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0204" y="228600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A4A"/>
                </a:solidFill>
                <a:latin typeface="Helvetica Neue"/>
              </a:rPr>
              <a:t>+ Meeting modal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04" y="2770632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Helvetica Neue"/>
              </a:rPr>
              <a:t>Pick type (default: table / progress / collaborator; extensible). Datetime, duration, attendees, location, agenda.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5780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00372" y="18562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propagate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0372" y="228600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A4A"/>
                </a:solidFill>
                <a:latin typeface="Helvetica Neue"/>
              </a:rPr>
              <a:t>ICS + Calendar.app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0372" y="2770632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Helvetica Neue"/>
              </a:rPr>
              <a:t>RFC-5545 .ics file generated. AppleScript adds the event to default macOS calendar. Mailto opens to attendees.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65948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0540" y="18562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notes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0540" y="228600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A4A"/>
                </a:solidFill>
                <a:latin typeface="Helvetica Neue"/>
              </a:rPr>
              <a:t>Append-only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0540" y="2770632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Helvetica Neue"/>
              </a:rPr>
              <a:t>+ Note button on each meeting row → appended as ### Note — {timestamp} section. The file is the audit log.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 Neue"/>
              </a:rPr>
              <a:t>Types persisted in _system/admin/meeting_types.json. Files live in projects/{slug}/meetings/.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54864" cy="777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Helvetica Neue"/>
              </a:rPr>
              <a:t>09 · Phase 3 · Approval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A4A"/>
                </a:solidFill>
                <a:latin typeface="Helvetica Neue"/>
              </a:rPr>
              <a:t>LLM sync proposals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5612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0204" y="18562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local-only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0204" y="228600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A4A"/>
                </a:solidFill>
                <a:latin typeface="Helvetica Neue"/>
              </a:rPr>
              <a:t>🤖 data-sync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04" y="2770632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Helvetica Neue"/>
              </a:rPr>
              <a:t>Reads recent data-updates + planning artifacts. Proposes figure-plan status updates, Decision_Log entries, notes.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5780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00372" y="18562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local-only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0372" y="228600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A4A"/>
                </a:solidFill>
                <a:latin typeface="Helvetica Neue"/>
              </a:rPr>
              <a:t>🤖 meeting-sync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0372" y="2770632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Helvetica Neue"/>
              </a:rPr>
              <a:t>Reads recent meetings + planning artifacts. Proposes decisions logged, figure / experiment shifts, notes.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65948" y="1691640"/>
            <a:ext cx="35204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0540" y="185623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Helvetica Neue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0540" y="228600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A4A"/>
                </a:solidFill>
                <a:latin typeface="Helvetica Neue"/>
              </a:rPr>
              <a:t>Apply with checkboxes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0540" y="2770632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Helvetica Neue"/>
              </a:rPr>
              <a:t>Proposals button → cards with per-action checkboxes. Server applies mechanically (regex / YAML), not via LLM.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 Neue"/>
              </a:rPr>
              <a:t>LLM proposes; user approves; server executes. Apply can never itself hallucinate.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54864" cy="777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Helvetica Neue"/>
              </a:rPr>
              <a:t>09 · Action vocabulary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A4A"/>
                </a:solidFill>
                <a:latin typeface="Helvetica Neue"/>
              </a:rPr>
              <a:t>Proposal JSON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Helvetica Neue"/>
              </a:rPr>
              <a:t>Every action carries source_files for traceability. Supported actions: figure_plan_status_update, experiment_roadmap_status_update, figure_plan_add_row, experiment_roadmap_add_row, decision_log_append, note.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515600" cy="38404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0058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[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  { "id": "p1",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    "action": "figure_plan_status_update",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    "figure": "Fig 2", "panel": "A",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    "new_status": "analyzed",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    "reason": "data-update added n=5 wt + 5 ko with significance test",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    "source_files": ["projects/foo/data-updates/2026-05-12-fig-2a_wt-ko.md"]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  },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  { "id": "p2",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    "action": "decision_log_append",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    "entry": "Drop Fig 3B (insufficient effect size, n=4)",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    "source_files": ["projects/foo/meetings/2026-05-14-progress.md"]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  }</a:t>
            </a:r>
          </a:p>
          <a:p>
            <a:pPr algn="l"/>
            <a:r>
              <a:rPr sz="1100">
                <a:solidFill>
                  <a:srgbClr val="1F2937"/>
                </a:solidFill>
                <a:latin typeface="Menlo"/>
              </a:rPr>
              <a:t>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7F3D0"/>
                </a:solidFill>
                <a:latin typeface="Helvetica Neue"/>
              </a:rPr>
              <a:t>For full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Helvetica Neue"/>
              </a:rPr>
              <a:t>_system/docs/features/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7472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  <a:latin typeface="Helvetica Neue"/>
              </a:rPr>
              <a:t>01 — Layout refresh</a:t>
            </a:r>
          </a:p>
          <a:p>
            <a:pPr algn="l"/>
            <a:r>
              <a:rPr sz="1400" b="0" i="0">
                <a:solidFill>
                  <a:srgbClr val="D1D5DB"/>
                </a:solidFill>
                <a:latin typeface="Helvetica Neue"/>
              </a:rPr>
              <a:t>02 — Project managers</a:t>
            </a:r>
          </a:p>
          <a:p>
            <a:pPr algn="l"/>
            <a:r>
              <a:rPr sz="1400" b="0" i="0">
                <a:solidFill>
                  <a:srgbClr val="D1D5DB"/>
                </a:solidFill>
                <a:latin typeface="Helvetica Neue"/>
              </a:rPr>
              <a:t>03 — Admin PIN mode</a:t>
            </a:r>
          </a:p>
          <a:p>
            <a:pPr algn="l"/>
            <a:r>
              <a:rPr sz="1400" b="0" i="0">
                <a:solidFill>
                  <a:srgbClr val="D1D5DB"/>
                </a:solidFill>
                <a:latin typeface="Helvetica Neue"/>
              </a:rPr>
              <a:t>04 — Count-chip popup</a:t>
            </a:r>
          </a:p>
          <a:p>
            <a:pPr algn="l"/>
            <a:r>
              <a:rPr sz="1400" b="0" i="0">
                <a:solidFill>
                  <a:srgbClr val="D1D5DB"/>
                </a:solidFill>
                <a:latin typeface="Helvetica Neue"/>
              </a:rPr>
              <a:t>05 — Data updates</a:t>
            </a:r>
          </a:p>
          <a:p>
            <a:pPr algn="l"/>
            <a:r>
              <a:rPr sz="1400" b="0" i="0">
                <a:solidFill>
                  <a:srgbClr val="D1D5DB"/>
                </a:solidFill>
                <a:latin typeface="Helvetica Neue"/>
              </a:rPr>
              <a:t>06 — Reassign &amp; renumber</a:t>
            </a:r>
          </a:p>
          <a:p>
            <a:pPr algn="l"/>
            <a:r>
              <a:rPr sz="1400" b="0" i="0">
                <a:solidFill>
                  <a:srgbClr val="D1D5DB"/>
                </a:solidFill>
                <a:latin typeface="Helvetica Neue"/>
              </a:rPr>
              <a:t>07 — Archive &amp; restore</a:t>
            </a:r>
          </a:p>
          <a:p>
            <a:pPr algn="l"/>
            <a:r>
              <a:rPr sz="1400" b="0" i="0">
                <a:solidFill>
                  <a:srgbClr val="D1D5DB"/>
                </a:solidFill>
                <a:latin typeface="Helvetica Neue"/>
              </a:rPr>
              <a:t>08 — Meeting system</a:t>
            </a:r>
          </a:p>
          <a:p>
            <a:pPr algn="l"/>
            <a:r>
              <a:rPr sz="1400" b="0" i="0">
                <a:solidFill>
                  <a:srgbClr val="D1D5DB"/>
                </a:solidFill>
                <a:latin typeface="Helvetica Neue"/>
              </a:rPr>
              <a:t>09 — LLM sync proposals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Knowledge System</dc:title>
  <dc:subject>PptxGenJS Presentation</dc:subject>
  <dc:creator>LLM-Wiki System</dc:creator>
  <cp:lastModifiedBy>LLM-Wiki System</cp:lastModifiedBy>
  <cp:revision>1</cp:revision>
  <dcterms:created xsi:type="dcterms:W3CDTF">2026-05-14T17:02:28Z</dcterms:created>
  <dcterms:modified xsi:type="dcterms:W3CDTF">2026-05-14T17:02:28Z</dcterms:modified>
</cp:coreProperties>
</file>