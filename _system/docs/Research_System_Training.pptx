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237d8deaa141ef" /><Relationship Type="http://schemas.openxmlformats.org/officeDocument/2006/relationships/extended-properties" Target="/docProps/app.xml" Id="Refe47203e77e41ec" /><Relationship Type="http://schemas.openxmlformats.org/officeDocument/2006/relationships/officeDocument" Target="/ppt/presentation.xml" Id="Rff1864f75c9a44c3" /></Relationships>
</file>

<file path=ppt/presentation.xml><?xml version="1.0" encoding="utf-8"?>
<p:presentation xmlns:p="http://schemas.openxmlformats.org/presentationml/2006/main">
  <p:sldMasterIdLst>
    <p:sldMasterId xmlns:r="http://schemas.openxmlformats.org/officeDocument/2006/relationships" id="2147483648" r:id="R0582029497984937"/>
  </p:sldMasterIdLst>
  <p:notesMasterIdLst>
    <p:notesMasterId xmlns:r="http://schemas.openxmlformats.org/officeDocument/2006/relationships" r:id="R900cd0ef750f4da9"/>
  </p:notesMasterIdLst>
  <p:sldIdLst>
    <p:sldId xmlns:r="http://schemas.openxmlformats.org/officeDocument/2006/relationships" id="256" r:id="Rd5efcaa0f6e54284"/>
    <p:sldId xmlns:r="http://schemas.openxmlformats.org/officeDocument/2006/relationships" id="257" r:id="R44c1d18edbeb4e9a"/>
    <p:sldId xmlns:r="http://schemas.openxmlformats.org/officeDocument/2006/relationships" id="258" r:id="R3c6e906e30a04219"/>
    <p:sldId xmlns:r="http://schemas.openxmlformats.org/officeDocument/2006/relationships" id="259" r:id="Ra59a9764b8864f42"/>
    <p:sldId xmlns:r="http://schemas.openxmlformats.org/officeDocument/2006/relationships" id="260" r:id="R62c101a7563f4307"/>
    <p:sldId xmlns:r="http://schemas.openxmlformats.org/officeDocument/2006/relationships" id="261" r:id="R0125e19d87f94f49"/>
    <p:sldId xmlns:r="http://schemas.openxmlformats.org/officeDocument/2006/relationships" id="262" r:id="R0d5a37ae57d94e0a"/>
    <p:sldId xmlns:r="http://schemas.openxmlformats.org/officeDocument/2006/relationships" id="263" r:id="R5c4ea5f0cba44cdc"/>
    <p:sldId xmlns:r="http://schemas.openxmlformats.org/officeDocument/2006/relationships" id="264" r:id="R7d44e5f215a84132"/>
    <p:sldId xmlns:r="http://schemas.openxmlformats.org/officeDocument/2006/relationships" id="265" r:id="Rc6dc70247b974a4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0582029497984937" /><Relationship Type="http://schemas.openxmlformats.org/officeDocument/2006/relationships/theme" Target="/ppt/theme/theme1.xml" Id="R7d948a95cb1c4ef8" /><Relationship Type="http://schemas.openxmlformats.org/officeDocument/2006/relationships/notesMaster" Target="/ppt/notesMasters/notesMaster1.xml" Id="R900cd0ef750f4da9" /><Relationship Type="http://schemas.openxmlformats.org/officeDocument/2006/relationships/presProps" Target="/ppt/presProps.xml" Id="Re9193ae492fa4be4" /><Relationship Type="http://schemas.openxmlformats.org/officeDocument/2006/relationships/viewProps" Target="/ppt/viewProps.xml" Id="R06fce511bc1345af" /><Relationship Type="http://schemas.openxmlformats.org/officeDocument/2006/relationships/tableStyles" Target="/ppt/tableStyles.xml" Id="R68575b02f6834923" /><Relationship Type="http://schemas.openxmlformats.org/officeDocument/2006/relationships/slide" Target="/ppt/slides/slide1.xml" Id="Rd5efcaa0f6e54284" /><Relationship Type="http://schemas.openxmlformats.org/officeDocument/2006/relationships/slide" Target="/ppt/slides/slide2.xml" Id="R44c1d18edbeb4e9a" /><Relationship Type="http://schemas.openxmlformats.org/officeDocument/2006/relationships/slide" Target="/ppt/slides/slide3.xml" Id="R3c6e906e30a04219" /><Relationship Type="http://schemas.openxmlformats.org/officeDocument/2006/relationships/slide" Target="/ppt/slides/slide4.xml" Id="Ra59a9764b8864f42" /><Relationship Type="http://schemas.openxmlformats.org/officeDocument/2006/relationships/slide" Target="/ppt/slides/slide5.xml" Id="R62c101a7563f4307" /><Relationship Type="http://schemas.openxmlformats.org/officeDocument/2006/relationships/slide" Target="/ppt/slides/slide6.xml" Id="R0125e19d87f94f49" /><Relationship Type="http://schemas.openxmlformats.org/officeDocument/2006/relationships/slide" Target="/ppt/slides/slide7.xml" Id="R0d5a37ae57d94e0a" /><Relationship Type="http://schemas.openxmlformats.org/officeDocument/2006/relationships/slide" Target="/ppt/slides/slide8.xml" Id="R5c4ea5f0cba44cdc" /><Relationship Type="http://schemas.openxmlformats.org/officeDocument/2006/relationships/slide" Target="/ppt/slides/slide9.xml" Id="R7d44e5f215a84132" /><Relationship Type="http://schemas.openxmlformats.org/officeDocument/2006/relationships/slide" Target="/ppt/slides/slide10.xml" Id="Rc6dc70247b974a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25ed97c7444f4a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b81c6c98414eee" /><Relationship Type="http://schemas.openxmlformats.org/officeDocument/2006/relationships/notesMaster" Target="/ppt/notesMasters/notesMaster1.xml" Id="R194fac107c5d4b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4632a5937d4f38" /><Relationship Type="http://schemas.openxmlformats.org/officeDocument/2006/relationships/notesMaster" Target="/ppt/notesMasters/notesMaster1.xml" Id="R2e2a8734e57a48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1b84643881479d" /><Relationship Type="http://schemas.openxmlformats.org/officeDocument/2006/relationships/notesMaster" Target="/ppt/notesMasters/notesMaster1.xml" Id="R73a04acf153943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6ae6a6d9a84985" /><Relationship Type="http://schemas.openxmlformats.org/officeDocument/2006/relationships/notesMaster" Target="/ppt/notesMasters/notesMaster1.xml" Id="R5aeb87227f6a40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ff6c5dd69a46f3" /><Relationship Type="http://schemas.openxmlformats.org/officeDocument/2006/relationships/notesMaster" Target="/ppt/notesMasters/notesMaster1.xml" Id="Reb7f8acd3f2d42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e8636b99394e42" /><Relationship Type="http://schemas.openxmlformats.org/officeDocument/2006/relationships/notesMaster" Target="/ppt/notesMasters/notesMaster1.xml" Id="Rf6627411b27a47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855b23e03b452f" /><Relationship Type="http://schemas.openxmlformats.org/officeDocument/2006/relationships/notesMaster" Target="/ppt/notesMasters/notesMaster1.xml" Id="Rbee86cbcd58d4e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e632eb501c444b" /><Relationship Type="http://schemas.openxmlformats.org/officeDocument/2006/relationships/notesMaster" Target="/ppt/notesMasters/notesMaster1.xml" Id="R98c0b075f4a34f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97473ac962443b" /><Relationship Type="http://schemas.openxmlformats.org/officeDocument/2006/relationships/notesMaster" Target="/ppt/notesMasters/notesMaster1.xml" Id="Rc81db23ce8a04a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e09ec8eab7413e" /><Relationship Type="http://schemas.openxmlformats.org/officeDocument/2006/relationships/notesMaster" Target="/ppt/notesMasters/notesMaster1.xml" Id="R13084d06701341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e496fce6f84023"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c97d68912a1348c1" /><Relationship Type="http://schemas.openxmlformats.org/officeDocument/2006/relationships/slideLayout" Target="/ppt/slideLayouts/slideLayout2.xml" Id="R11506df4bff24c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506df4bff24c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29fc56b3b3334ac7" /><Relationship Type="http://schemas.openxmlformats.org/officeDocument/2006/relationships/notesSlide" Target="/ppt/notesSlides/notesSlide1.xml" Id="R8efb933df0294b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f9663498bae41f4" /><Relationship Type="http://schemas.openxmlformats.org/officeDocument/2006/relationships/notesSlide" Target="/ppt/notesSlides/notesSlide2.xml" Id="R0bdc57b5ca894c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11005531c0e455a" /><Relationship Type="http://schemas.openxmlformats.org/officeDocument/2006/relationships/notesSlide" Target="/ppt/notesSlides/notesSlide3.xml" Id="Rc7675f7d93be44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bbdc67471bc4ab9" /><Relationship Type="http://schemas.openxmlformats.org/officeDocument/2006/relationships/notesSlide" Target="/ppt/notesSlides/notesSlide4.xml" Id="Rf2733625a39345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be2bdf6231442ba" /><Relationship Type="http://schemas.openxmlformats.org/officeDocument/2006/relationships/notesSlide" Target="/ppt/notesSlides/notesSlide5.xml" Id="R8f55da13dfcb4c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c3b11e768f94c6c" /><Relationship Type="http://schemas.openxmlformats.org/officeDocument/2006/relationships/notesSlide" Target="/ppt/notesSlides/notesSlide6.xml" Id="Rc61b526a6e4a4d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c24349f14f24d9d" /><Relationship Type="http://schemas.openxmlformats.org/officeDocument/2006/relationships/notesSlide" Target="/ppt/notesSlides/notesSlide7.xml" Id="R7d31e2ad2c4e4e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87f2181addfe4c2a" /><Relationship Type="http://schemas.openxmlformats.org/officeDocument/2006/relationships/notesSlide" Target="/ppt/notesSlides/notesSlide8.xml" Id="Ra1126366c58e4b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ff0f6f1f9804511" /><Relationship Type="http://schemas.openxmlformats.org/officeDocument/2006/relationships/notesSlide" Target="/ppt/notesSlides/notesSlide9.xml" Id="R37cd316360694b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f27eb171697487d" /><Relationship Type="http://schemas.openxmlformats.org/officeDocument/2006/relationships/notesSlide" Target="/ppt/notesSlides/notesSlide10.xml" Id="Ra6eb74496e384b3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57FF2C-8029-4790-A876-249D71E49C3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2" name="">
            <a:extLst xmlns:a="http://schemas.openxmlformats.org/drawingml/2006/main">
              <a:ext uri="{FF2B5EF4-FFF2-40B4-BE49-F238E27FC236}">
                <a16:creationId xmlns:a16="http://schemas.microsoft.com/office/drawing/2014/main" id="{A5692E1D-FE3F-4301-AF29-C74289BD82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prstDash val="solid"/>
          </a:ln>
        </p:spPr>
      </p:sp>
      <p:sp>
        <p:nvSpPr>
          <p:cNvPr id="3" name="">
            <a:extLst xmlns:a="http://schemas.openxmlformats.org/drawingml/2006/main">
              <a:ext uri="{FF2B5EF4-FFF2-40B4-BE49-F238E27FC236}">
                <a16:creationId xmlns:a16="http://schemas.microsoft.com/office/drawing/2014/main" id="{06DE3ADC-DE1A-4ED0-976B-5AF06FBC6E2D}"/>
              </a:ext>
            </a:extLst>
          </p:cNvPr>
          <p:cNvSpPr>
            <a:spLocks xmlns:a="http://schemas.openxmlformats.org/drawingml/2006/main" noGrp="1"/>
          </p:cNvSpPr>
          <p:nvPr/>
        </p:nvSpPr>
        <p:spPr>
          <a:xfrm xmlns:a="http://schemas.openxmlformats.org/drawingml/2006/main">
            <a:off x="0" y="0"/>
            <a:ext cx="12192000" cy="12192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4" name="">
            <a:extLst xmlns:a="http://schemas.openxmlformats.org/drawingml/2006/main">
              <a:ext uri="{FF2B5EF4-FFF2-40B4-BE49-F238E27FC236}">
                <a16:creationId xmlns:a16="http://schemas.microsoft.com/office/drawing/2014/main" id="{59950807-28C1-472B-9A79-ACC26E90B12B}"/>
              </a:ext>
            </a:extLst>
          </p:cNvPr>
          <p:cNvSpPr>
            <a:spLocks xmlns:a="http://schemas.openxmlformats.org/drawingml/2006/main" noGrp="1"/>
          </p:cNvSpPr>
          <p:nvPr/>
        </p:nvSpPr>
        <p:spPr>
          <a:xfrm xmlns:a="http://schemas.openxmlformats.org/drawingml/2006/main">
            <a:off x="552450" y="514350"/>
            <a:ext cx="438150" cy="38100"/>
          </a:xfrm>
          <a:prstGeom xmlns:a="http://schemas.openxmlformats.org/drawingml/2006/main" prst="rect">
            <a:avLst/>
          </a:prstGeom>
          <a:solidFill xmlns:a="http://schemas.openxmlformats.org/drawingml/2006/main">
            <a:srgbClr val="0F766E"/>
          </a:solidFill>
          <a:ln xmlns:a="http://schemas.openxmlformats.org/drawingml/2006/main" w="0">
            <a:prstDash val="solid"/>
          </a:ln>
        </p:spPr>
      </p:sp>
      <p:sp>
        <p:nvSpPr>
          <p:cNvPr id="5" name="kicker-1-label">
            <a:extLst xmlns:a="http://schemas.openxmlformats.org/drawingml/2006/main">
              <a:ext uri="{FF2B5EF4-FFF2-40B4-BE49-F238E27FC236}">
                <a16:creationId xmlns:a16="http://schemas.microsoft.com/office/drawing/2014/main" id="{53E5E725-24C6-4ABD-9333-E1483366C836}"/>
              </a:ext>
            </a:extLst>
          </p:cNvPr>
          <p:cNvSpPr>
            <a:spLocks xmlns:a="http://schemas.openxmlformats.org/drawingml/2006/main" noGrp="1"/>
          </p:cNvSpPr>
          <p:nvPr/>
        </p:nvSpPr>
        <p:spPr>
          <a:xfrm xmlns:a="http://schemas.openxmlformats.org/drawingml/2006/main">
            <a:off x="1104900" y="428625"/>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825" b="1">
                <a:solidFill>
                  <a:srgbClr val="0F766E"/>
                </a:solidFill>
                <a:latin typeface="Avenir Next"/>
                <a:ea typeface="Avenir Next"/>
                <a:cs typeface="Avenir Next"/>
              </a:defRPr>
            </a:pPr>
            <a:r>
              <a:rPr sz="825" b="1">
                <a:solidFill>
                  <a:srgbClr val="0F766E"/>
                </a:solidFill>
                <a:latin typeface="Avenir Next"/>
                <a:ea typeface="Avenir Next"/>
                <a:cs typeface="Avenir Next"/>
              </a:rPr>
              <a:t>ORIENTATION</a:t>
            </a:r>
          </a:p>
        </p:txBody>
      </p:sp>
      <p:sp>
        <p:nvSpPr>
          <p:cNvPr id="6" name="">
            <a:extLst xmlns:a="http://schemas.openxmlformats.org/drawingml/2006/main">
              <a:ext uri="{FF2B5EF4-FFF2-40B4-BE49-F238E27FC236}">
                <a16:creationId xmlns:a16="http://schemas.microsoft.com/office/drawing/2014/main" id="{093A8720-1721-45AB-80BA-4F892A11965E}"/>
              </a:ext>
            </a:extLst>
          </p:cNvPr>
          <p:cNvSpPr>
            <a:spLocks xmlns:a="http://schemas.openxmlformats.org/drawingml/2006/main" noGrp="1"/>
          </p:cNvSpPr>
          <p:nvPr/>
        </p:nvSpPr>
        <p:spPr>
          <a:xfrm xmlns:a="http://schemas.openxmlformats.org/drawingml/2006/main">
            <a:off x="11049000" y="428625"/>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57084"/>
                </a:solidFill>
                <a:latin typeface="Avenir Next"/>
                <a:ea typeface="Avenir Next"/>
                <a:cs typeface="Avenir Next"/>
              </a:defRPr>
            </a:pPr>
            <a:r>
              <a:rPr sz="825" b="1">
                <a:solidFill>
                  <a:srgbClr val="657084"/>
                </a:solidFill>
                <a:latin typeface="Avenir Next"/>
                <a:ea typeface="Avenir Next"/>
                <a:cs typeface="Avenir Next"/>
              </a:rPr>
              <a:t>01</a:t>
            </a:r>
          </a:p>
        </p:txBody>
      </p:sp>
      <p:sp>
        <p:nvSpPr>
          <p:cNvPr id="7" name="">
            <a:extLst xmlns:a="http://schemas.openxmlformats.org/drawingml/2006/main">
              <a:ext uri="{FF2B5EF4-FFF2-40B4-BE49-F238E27FC236}">
                <a16:creationId xmlns:a16="http://schemas.microsoft.com/office/drawing/2014/main" id="{F361A0D9-6FCF-4631-861F-F8FB3C7BAEA7}"/>
              </a:ext>
            </a:extLst>
          </p:cNvPr>
          <p:cNvSpPr>
            <a:spLocks xmlns:a="http://schemas.openxmlformats.org/drawingml/2006/main" noGrp="1"/>
          </p:cNvSpPr>
          <p:nvPr/>
        </p:nvSpPr>
        <p:spPr>
          <a:xfrm xmlns:a="http://schemas.openxmlformats.org/drawingml/2006/main">
            <a:off x="552450" y="1123950"/>
            <a:ext cx="100965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D2430"/>
                </a:solidFill>
                <a:latin typeface="Georgia"/>
                <a:ea typeface="Georgia"/>
                <a:cs typeface="Georgia"/>
              </a:defRPr>
            </a:pPr>
            <a:r>
              <a:rPr sz="2550" b="1">
                <a:solidFill>
                  <a:srgbClr val="1D2430"/>
                </a:solidFill>
                <a:latin typeface="Georgia"/>
                <a:ea typeface="Georgia"/>
                <a:cs typeface="Georgia"/>
              </a:rPr>
              <a:t>A research system with three clean spaces: Library, Exploration, and Project.</a:t>
            </a:r>
          </a:p>
        </p:txBody>
      </p:sp>
      <p:sp>
        <p:nvSpPr>
          <p:cNvPr id="8" name="">
            <a:extLst xmlns:a="http://schemas.openxmlformats.org/drawingml/2006/main">
              <a:ext uri="{FF2B5EF4-FFF2-40B4-BE49-F238E27FC236}">
                <a16:creationId xmlns:a16="http://schemas.microsoft.com/office/drawing/2014/main" id="{42B0DCDC-E094-46D7-B59C-2C7BC550774D}"/>
              </a:ext>
            </a:extLst>
          </p:cNvPr>
          <p:cNvSpPr>
            <a:spLocks xmlns:a="http://schemas.openxmlformats.org/drawingml/2006/main" noGrp="1"/>
          </p:cNvSpPr>
          <p:nvPr/>
        </p:nvSpPr>
        <p:spPr>
          <a:xfrm xmlns:a="http://schemas.openxmlformats.org/drawingml/2006/main">
            <a:off x="590550" y="2609850"/>
            <a:ext cx="72390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657084"/>
                </a:solidFill>
                <a:latin typeface="Avenir Next"/>
                <a:ea typeface="Avenir Next"/>
                <a:cs typeface="Avenir Next"/>
              </a:defRPr>
            </a:pPr>
            <a:r>
              <a:rPr sz="1500" b="0">
                <a:solidFill>
                  <a:srgbClr val="657084"/>
                </a:solidFill>
                <a:latin typeface="Avenir Next"/>
                <a:ea typeface="Avenir Next"/>
                <a:cs typeface="Avenir Next"/>
              </a:rPr>
              <a:t>The goal is not to make one giant folder do everything. The goal is to let ideas mature, let papers become durable knowledge, and let projects consume that knowledge without polluting it.</a:t>
            </a:r>
          </a:p>
        </p:txBody>
      </p:sp>
      <p:sp>
        <p:nvSpPr>
          <p:cNvPr id="9" name="">
            <a:extLst xmlns:a="http://schemas.openxmlformats.org/drawingml/2006/main">
              <a:ext uri="{FF2B5EF4-FFF2-40B4-BE49-F238E27FC236}">
                <a16:creationId xmlns:a16="http://schemas.microsoft.com/office/drawing/2014/main" id="{A9C98372-DFB3-4F7C-9F15-BA357C6A31CF}"/>
              </a:ext>
            </a:extLst>
          </p:cNvPr>
          <p:cNvSpPr>
            <a:spLocks xmlns:a="http://schemas.openxmlformats.org/drawingml/2006/main" noGrp="1"/>
          </p:cNvSpPr>
          <p:nvPr/>
        </p:nvSpPr>
        <p:spPr>
          <a:xfrm xmlns:a="http://schemas.openxmlformats.org/drawingml/2006/main">
            <a:off x="8324850" y="1676400"/>
            <a:ext cx="2857500" cy="2857500"/>
          </a:xfrm>
          <a:prstGeom xmlns:a="http://schemas.openxmlformats.org/drawingml/2006/main" prst="roundRect">
            <a:avLst>
              <a:gd name="adj" fmla="val 2667"/>
            </a:avLst>
          </a:prstGeom>
          <a:solidFill xmlns:a="http://schemas.openxmlformats.org/drawingml/2006/main">
            <a:srgbClr val="172033"/>
          </a:solidFill>
          <a:ln xmlns:a="http://schemas.openxmlformats.org/drawingml/2006/main" w="0">
            <a:prstDash val="solid"/>
          </a:ln>
        </p:spPr>
      </p:sp>
      <p:sp>
        <p:nvSpPr>
          <p:cNvPr id="10" name="">
            <a:extLst xmlns:a="http://schemas.openxmlformats.org/drawingml/2006/main">
              <a:ext uri="{FF2B5EF4-FFF2-40B4-BE49-F238E27FC236}">
                <a16:creationId xmlns:a16="http://schemas.microsoft.com/office/drawing/2014/main" id="{A4AC895F-23FF-437B-9255-D03B2ED8D6DD}"/>
              </a:ext>
            </a:extLst>
          </p:cNvPr>
          <p:cNvSpPr>
            <a:spLocks xmlns:a="http://schemas.openxmlformats.org/drawingml/2006/main" noGrp="1"/>
          </p:cNvSpPr>
          <p:nvPr/>
        </p:nvSpPr>
        <p:spPr>
          <a:xfrm xmlns:a="http://schemas.openxmlformats.org/drawingml/2006/main">
            <a:off x="8763000" y="2114550"/>
            <a:ext cx="2000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BDEBE5"/>
                </a:solidFill>
                <a:latin typeface="Avenir Next"/>
                <a:ea typeface="Avenir Next"/>
                <a:cs typeface="Avenir Next"/>
              </a:defRPr>
            </a:pPr>
            <a:r>
              <a:rPr sz="825" b="1">
                <a:solidFill>
                  <a:srgbClr val="BDEBE5"/>
                </a:solidFill>
                <a:latin typeface="Avenir Next"/>
                <a:ea typeface="Avenir Next"/>
                <a:cs typeface="Avenir Next"/>
              </a:rPr>
              <a:t>CORE RULE</a:t>
            </a:r>
          </a:p>
        </p:txBody>
      </p:sp>
      <p:sp>
        <p:nvSpPr>
          <p:cNvPr id="11" name="">
            <a:extLst xmlns:a="http://schemas.openxmlformats.org/drawingml/2006/main">
              <a:ext uri="{FF2B5EF4-FFF2-40B4-BE49-F238E27FC236}">
                <a16:creationId xmlns:a16="http://schemas.microsoft.com/office/drawing/2014/main" id="{4DF64749-7108-4983-817E-6A9C428128B4}"/>
              </a:ext>
            </a:extLst>
          </p:cNvPr>
          <p:cNvSpPr>
            <a:spLocks xmlns:a="http://schemas.openxmlformats.org/drawingml/2006/main" noGrp="1"/>
          </p:cNvSpPr>
          <p:nvPr/>
        </p:nvSpPr>
        <p:spPr>
          <a:xfrm xmlns:a="http://schemas.openxmlformats.org/drawingml/2006/main">
            <a:off x="8801100" y="2533650"/>
            <a:ext cx="1962150" cy="112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325" b="1">
                <a:solidFill>
                  <a:srgbClr val="FFFFFF"/>
                </a:solidFill>
                <a:latin typeface="Georgia"/>
                <a:ea typeface="Georgia"/>
                <a:cs typeface="Georgia"/>
              </a:defRPr>
            </a:pPr>
            <a:r>
              <a:rPr sz="2325" b="1">
                <a:solidFill>
                  <a:srgbClr val="FFFFFF"/>
                </a:solidFill>
                <a:latin typeface="Georgia"/>
                <a:ea typeface="Georgia"/>
                <a:cs typeface="Georgia"/>
              </a:rPr>
              <a:t>Read freely.</a:t>
            </a:r>
          </a:p>
          <a:p xmlns:a="http://schemas.openxmlformats.org/drawingml/2006/main">
            <a:pPr algn="ctr">
              <a:defRPr sz="2325" b="1">
                <a:solidFill>
                  <a:srgbClr val="FFFFFF"/>
                </a:solidFill>
                <a:latin typeface="Georgia"/>
                <a:ea typeface="Georgia"/>
                <a:cs typeface="Georgia"/>
              </a:defRPr>
            </a:pPr>
            <a:r>
              <a:rPr sz="2325" b="1">
                <a:solidFill>
                  <a:srgbClr val="FFFFFF"/>
                </a:solidFill>
                <a:latin typeface="Georgia"/>
                <a:ea typeface="Georgia"/>
                <a:cs typeface="Georgia"/>
              </a:rPr>
              <a:t>Write back only</a:t>
            </a:r>
          </a:p>
          <a:p xmlns:a="http://schemas.openxmlformats.org/drawingml/2006/main">
            <a:pPr algn="ctr">
              <a:defRPr sz="2325" b="1">
                <a:solidFill>
                  <a:srgbClr val="FFFFFF"/>
                </a:solidFill>
                <a:latin typeface="Georgia"/>
                <a:ea typeface="Georgia"/>
                <a:cs typeface="Georgia"/>
              </a:defRPr>
            </a:pPr>
            <a:r>
              <a:rPr sz="2325" b="1">
                <a:solidFill>
                  <a:srgbClr val="FFFFFF"/>
                </a:solidFill>
                <a:latin typeface="Georgia"/>
                <a:ea typeface="Georgia"/>
                <a:cs typeface="Georgia"/>
              </a:rPr>
              <a:t>through gates.</a:t>
            </a:r>
          </a:p>
        </p:txBody>
      </p:sp>
      <p:sp>
        <p:nvSpPr>
          <p:cNvPr id="12" name="">
            <a:extLst xmlns:a="http://schemas.openxmlformats.org/drawingml/2006/main">
              <a:ext uri="{FF2B5EF4-FFF2-40B4-BE49-F238E27FC236}">
                <a16:creationId xmlns:a16="http://schemas.microsoft.com/office/drawing/2014/main" id="{51EC8847-93FD-4BFB-8E5F-C8C8A3CE0B84}"/>
              </a:ext>
            </a:extLst>
          </p:cNvPr>
          <p:cNvSpPr>
            <a:spLocks xmlns:a="http://schemas.openxmlformats.org/drawingml/2006/main" noGrp="1"/>
          </p:cNvSpPr>
          <p:nvPr/>
        </p:nvSpPr>
        <p:spPr>
          <a:xfrm xmlns:a="http://schemas.openxmlformats.org/drawingml/2006/main">
            <a:off x="1581150" y="4953000"/>
            <a:ext cx="9029700" cy="19050"/>
          </a:xfrm>
          <a:prstGeom xmlns:a="http://schemas.openxmlformats.org/drawingml/2006/main" prst="rect">
            <a:avLst/>
          </a:prstGeom>
          <a:solidFill xmlns:a="http://schemas.openxmlformats.org/drawingml/2006/main">
            <a:srgbClr val="D8DEE8"/>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D58136A4-923E-4578-813C-B29DAB76BDBB}"/>
              </a:ext>
            </a:extLst>
          </p:cNvPr>
          <p:cNvSpPr>
            <a:spLocks xmlns:a="http://schemas.openxmlformats.org/drawingml/2006/main" noGrp="1"/>
          </p:cNvSpPr>
          <p:nvPr/>
        </p:nvSpPr>
        <p:spPr>
          <a:xfrm xmlns:a="http://schemas.openxmlformats.org/drawingml/2006/main">
            <a:off x="1714500" y="5314950"/>
            <a:ext cx="1657350" cy="323850"/>
          </a:xfrm>
          <a:prstGeom xmlns:a="http://schemas.openxmlformats.org/drawingml/2006/main" prst="roundRect">
            <a:avLst>
              <a:gd name="adj" fmla="val 23529"/>
            </a:avLst>
          </a:prstGeom>
          <a:solidFill xmlns:a="http://schemas.openxmlformats.org/drawingml/2006/main">
            <a:srgbClr val="DFF5F1"/>
          </a:solidFill>
          <a:ln xmlns:a="http://schemas.openxmlformats.org/drawingml/2006/main" w="0">
            <a:prstDash val="solid"/>
          </a:ln>
        </p:spPr>
      </p:sp>
      <p:sp>
        <p:nvSpPr>
          <p:cNvPr id="14" name="">
            <a:extLst xmlns:a="http://schemas.openxmlformats.org/drawingml/2006/main">
              <a:ext uri="{FF2B5EF4-FFF2-40B4-BE49-F238E27FC236}">
                <a16:creationId xmlns:a16="http://schemas.microsoft.com/office/drawing/2014/main" id="{7848C1AE-FE9B-46B9-AC9B-3EBF731ACAF1}"/>
              </a:ext>
            </a:extLst>
          </p:cNvPr>
          <p:cNvSpPr>
            <a:spLocks xmlns:a="http://schemas.openxmlformats.org/drawingml/2006/main" noGrp="1"/>
          </p:cNvSpPr>
          <p:nvPr/>
        </p:nvSpPr>
        <p:spPr>
          <a:xfrm xmlns:a="http://schemas.openxmlformats.org/drawingml/2006/main">
            <a:off x="1828800" y="53911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0F766E"/>
                </a:solidFill>
                <a:latin typeface="Avenir Next"/>
                <a:ea typeface="Avenir Next"/>
                <a:cs typeface="Avenir Next"/>
              </a:defRPr>
            </a:pPr>
            <a:r>
              <a:rPr sz="788" b="1">
                <a:solidFill>
                  <a:srgbClr val="0F766E"/>
                </a:solidFill>
                <a:latin typeface="Avenir Next"/>
                <a:ea typeface="Avenir Next"/>
                <a:cs typeface="Avenir Next"/>
              </a:rPr>
              <a:t>Library = Memory</a:t>
            </a:r>
          </a:p>
        </p:txBody>
      </p:sp>
      <p:sp>
        <p:nvSpPr>
          <p:cNvPr id="15" name="">
            <a:extLst xmlns:a="http://schemas.openxmlformats.org/drawingml/2006/main">
              <a:ext uri="{FF2B5EF4-FFF2-40B4-BE49-F238E27FC236}">
                <a16:creationId xmlns:a16="http://schemas.microsoft.com/office/drawing/2014/main" id="{BFCB81A8-4255-4585-8A3D-3110350CB9A1}"/>
              </a:ext>
            </a:extLst>
          </p:cNvPr>
          <p:cNvSpPr>
            <a:spLocks xmlns:a="http://schemas.openxmlformats.org/drawingml/2006/main" noGrp="1"/>
          </p:cNvSpPr>
          <p:nvPr/>
        </p:nvSpPr>
        <p:spPr>
          <a:xfrm xmlns:a="http://schemas.openxmlformats.org/drawingml/2006/main">
            <a:off x="3981450" y="5314950"/>
            <a:ext cx="1657350" cy="323850"/>
          </a:xfrm>
          <a:prstGeom xmlns:a="http://schemas.openxmlformats.org/drawingml/2006/main" prst="roundRect">
            <a:avLst>
              <a:gd name="adj" fmla="val 23529"/>
            </a:avLst>
          </a:prstGeom>
          <a:solidFill xmlns:a="http://schemas.openxmlformats.org/drawingml/2006/main">
            <a:srgbClr val="FFF3D4"/>
          </a:solidFill>
          <a:ln xmlns:a="http://schemas.openxmlformats.org/drawingml/2006/main" w="0">
            <a:prstDash val="solid"/>
          </a:ln>
        </p:spPr>
      </p:sp>
      <p:sp>
        <p:nvSpPr>
          <p:cNvPr id="16" name="">
            <a:extLst xmlns:a="http://schemas.openxmlformats.org/drawingml/2006/main">
              <a:ext uri="{FF2B5EF4-FFF2-40B4-BE49-F238E27FC236}">
                <a16:creationId xmlns:a16="http://schemas.microsoft.com/office/drawing/2014/main" id="{03DD1A28-0403-4287-8C96-EF7DED3E4575}"/>
              </a:ext>
            </a:extLst>
          </p:cNvPr>
          <p:cNvSpPr>
            <a:spLocks xmlns:a="http://schemas.openxmlformats.org/drawingml/2006/main" noGrp="1"/>
          </p:cNvSpPr>
          <p:nvPr/>
        </p:nvSpPr>
        <p:spPr>
          <a:xfrm xmlns:a="http://schemas.openxmlformats.org/drawingml/2006/main">
            <a:off x="4095750" y="53911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B45309"/>
                </a:solidFill>
                <a:latin typeface="Avenir Next"/>
                <a:ea typeface="Avenir Next"/>
                <a:cs typeface="Avenir Next"/>
              </a:defRPr>
            </a:pPr>
            <a:r>
              <a:rPr sz="788" b="1">
                <a:solidFill>
                  <a:srgbClr val="B45309"/>
                </a:solidFill>
                <a:latin typeface="Avenir Next"/>
                <a:ea typeface="Avenir Next"/>
                <a:cs typeface="Avenir Next"/>
              </a:rPr>
              <a:t>Exploration = Incubator</a:t>
            </a:r>
          </a:p>
        </p:txBody>
      </p:sp>
      <p:sp>
        <p:nvSpPr>
          <p:cNvPr id="17" name="">
            <a:extLst xmlns:a="http://schemas.openxmlformats.org/drawingml/2006/main">
              <a:ext uri="{FF2B5EF4-FFF2-40B4-BE49-F238E27FC236}">
                <a16:creationId xmlns:a16="http://schemas.microsoft.com/office/drawing/2014/main" id="{C890FA2C-7FB0-4E09-811B-126C6DEE2CF4}"/>
              </a:ext>
            </a:extLst>
          </p:cNvPr>
          <p:cNvSpPr>
            <a:spLocks xmlns:a="http://schemas.openxmlformats.org/drawingml/2006/main" noGrp="1"/>
          </p:cNvSpPr>
          <p:nvPr/>
        </p:nvSpPr>
        <p:spPr>
          <a:xfrm xmlns:a="http://schemas.openxmlformats.org/drawingml/2006/main">
            <a:off x="6477000" y="5314950"/>
            <a:ext cx="1657350" cy="323850"/>
          </a:xfrm>
          <a:prstGeom xmlns:a="http://schemas.openxmlformats.org/drawingml/2006/main" prst="roundRect">
            <a:avLst>
              <a:gd name="adj" fmla="val 23529"/>
            </a:avLst>
          </a:prstGeom>
          <a:solidFill xmlns:a="http://schemas.openxmlformats.org/drawingml/2006/main">
            <a:srgbClr val="E7EEFC"/>
          </a:solidFill>
          <a:ln xmlns:a="http://schemas.openxmlformats.org/drawingml/2006/main" w="0">
            <a:prstDash val="solid"/>
          </a:ln>
        </p:spPr>
      </p:sp>
      <p:sp>
        <p:nvSpPr>
          <p:cNvPr id="18" name="">
            <a:extLst xmlns:a="http://schemas.openxmlformats.org/drawingml/2006/main">
              <a:ext uri="{FF2B5EF4-FFF2-40B4-BE49-F238E27FC236}">
                <a16:creationId xmlns:a16="http://schemas.microsoft.com/office/drawing/2014/main" id="{2D0959A6-72B3-4202-B11E-CAF840328C83}"/>
              </a:ext>
            </a:extLst>
          </p:cNvPr>
          <p:cNvSpPr>
            <a:spLocks xmlns:a="http://schemas.openxmlformats.org/drawingml/2006/main" noGrp="1"/>
          </p:cNvSpPr>
          <p:nvPr/>
        </p:nvSpPr>
        <p:spPr>
          <a:xfrm xmlns:a="http://schemas.openxmlformats.org/drawingml/2006/main">
            <a:off x="6591300" y="5391150"/>
            <a:ext cx="1428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2563EB"/>
                </a:solidFill>
                <a:latin typeface="Avenir Next"/>
                <a:ea typeface="Avenir Next"/>
                <a:cs typeface="Avenir Next"/>
              </a:defRPr>
            </a:pPr>
            <a:r>
              <a:rPr sz="788" b="1">
                <a:solidFill>
                  <a:srgbClr val="2563EB"/>
                </a:solidFill>
                <a:latin typeface="Avenir Next"/>
                <a:ea typeface="Avenir Next"/>
                <a:cs typeface="Avenir Next"/>
              </a:rPr>
              <a:t>Project = Deliverable</a:t>
            </a:r>
          </a:p>
        </p:txBody>
      </p:sp>
      <p:sp>
        <p:nvSpPr>
          <p:cNvPr id="19" name="">
            <a:extLst xmlns:a="http://schemas.openxmlformats.org/drawingml/2006/main">
              <a:ext uri="{FF2B5EF4-FFF2-40B4-BE49-F238E27FC236}">
                <a16:creationId xmlns:a16="http://schemas.microsoft.com/office/drawing/2014/main" id="{217D0BC1-AD79-4773-A83B-35AA8504E096}"/>
              </a:ext>
            </a:extLst>
          </p:cNvPr>
          <p:cNvSpPr>
            <a:spLocks xmlns:a="http://schemas.openxmlformats.org/drawingml/2006/main" noGrp="1"/>
          </p:cNvSpPr>
          <p:nvPr/>
        </p:nvSpPr>
        <p:spPr>
          <a:xfrm xmlns:a="http://schemas.openxmlformats.org/drawingml/2006/main">
            <a:off x="552450" y="6305550"/>
            <a:ext cx="11087100" cy="9525"/>
          </a:xfrm>
          <a:prstGeom xmlns:a="http://schemas.openxmlformats.org/drawingml/2006/main" prst="rect">
            <a:avLst/>
          </a:prstGeom>
          <a:solidFill xmlns:a="http://schemas.openxmlformats.org/drawingml/2006/main">
            <a:srgbClr val="D8DEE8"/>
          </a:solidFill>
          <a:ln xmlns:a="http://schemas.openxmlformats.org/drawingml/2006/main" w="0">
            <a:prstDash val="solid"/>
          </a:ln>
        </p:spPr>
      </p:sp>
      <p:sp>
        <p:nvSpPr>
          <p:cNvPr id="20" name="">
            <a:extLst xmlns:a="http://schemas.openxmlformats.org/drawingml/2006/main">
              <a:ext uri="{FF2B5EF4-FFF2-40B4-BE49-F238E27FC236}">
                <a16:creationId xmlns:a16="http://schemas.microsoft.com/office/drawing/2014/main" id="{1A77DC82-C1B0-4A53-95EF-3BCEB4C38883}"/>
              </a:ext>
            </a:extLst>
          </p:cNvPr>
          <p:cNvSpPr>
            <a:spLocks xmlns:a="http://schemas.openxmlformats.org/drawingml/2006/main" noGrp="1"/>
          </p:cNvSpPr>
          <p:nvPr/>
        </p:nvSpPr>
        <p:spPr>
          <a:xfrm xmlns:a="http://schemas.openxmlformats.org/drawingml/2006/main">
            <a:off x="552450" y="6438900"/>
            <a:ext cx="666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Educational overview deck</a:t>
            </a:r>
          </a:p>
        </p:txBody>
      </p:sp>
      <p:sp>
        <p:nvSpPr>
          <p:cNvPr id="21" name="">
            <a:extLst xmlns:a="http://schemas.openxmlformats.org/drawingml/2006/main">
              <a:ext uri="{FF2B5EF4-FFF2-40B4-BE49-F238E27FC236}">
                <a16:creationId xmlns:a16="http://schemas.microsoft.com/office/drawing/2014/main" id="{9DDFBE4D-4A66-400A-A0B5-E5162D57B26A}"/>
              </a:ext>
            </a:extLst>
          </p:cNvPr>
          <p:cNvSpPr>
            <a:spLocks xmlns:a="http://schemas.openxmlformats.org/drawingml/2006/main" noGrp="1"/>
          </p:cNvSpPr>
          <p:nvPr/>
        </p:nvSpPr>
        <p:spPr>
          <a:xfrm xmlns:a="http://schemas.openxmlformats.org/drawingml/2006/main">
            <a:off x="9239250" y="6438900"/>
            <a:ext cx="2400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Project_management_system</a:t>
            </a:r>
          </a:p>
        </p:txBody>
      </p:sp>
    </p:spTree>
    <p:extLst>
      <p:ext uri="{BB962C8B-B14F-4D97-AF65-F5344CB8AC3E}">
        <p14:creationId xmlns:p14="http://schemas.microsoft.com/office/powerpoint/2010/main" val="159135637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9FA542-9DE6-49AD-BBD3-B2843DC140B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2" name="">
            <a:extLst xmlns:a="http://schemas.openxmlformats.org/drawingml/2006/main">
              <a:ext uri="{FF2B5EF4-FFF2-40B4-BE49-F238E27FC236}">
                <a16:creationId xmlns:a16="http://schemas.microsoft.com/office/drawing/2014/main" id="{923DD082-E25D-4872-909D-FBA5608B594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prstDash val="solid"/>
          </a:ln>
        </p:spPr>
      </p:sp>
      <p:sp>
        <p:nvSpPr>
          <p:cNvPr id="3" name="">
            <a:extLst xmlns:a="http://schemas.openxmlformats.org/drawingml/2006/main">
              <a:ext uri="{FF2B5EF4-FFF2-40B4-BE49-F238E27FC236}">
                <a16:creationId xmlns:a16="http://schemas.microsoft.com/office/drawing/2014/main" id="{86C4837D-2BF7-499F-95F1-E57B44C92E6E}"/>
              </a:ext>
            </a:extLst>
          </p:cNvPr>
          <p:cNvSpPr>
            <a:spLocks xmlns:a="http://schemas.openxmlformats.org/drawingml/2006/main" noGrp="1"/>
          </p:cNvSpPr>
          <p:nvPr/>
        </p:nvSpPr>
        <p:spPr>
          <a:xfrm xmlns:a="http://schemas.openxmlformats.org/drawingml/2006/main">
            <a:off x="0" y="0"/>
            <a:ext cx="12192000" cy="12192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4" name="">
            <a:extLst xmlns:a="http://schemas.openxmlformats.org/drawingml/2006/main">
              <a:ext uri="{FF2B5EF4-FFF2-40B4-BE49-F238E27FC236}">
                <a16:creationId xmlns:a16="http://schemas.microsoft.com/office/drawing/2014/main" id="{1E59E396-7EE8-4687-B6F6-9FA46ACC28E1}"/>
              </a:ext>
            </a:extLst>
          </p:cNvPr>
          <p:cNvSpPr>
            <a:spLocks xmlns:a="http://schemas.openxmlformats.org/drawingml/2006/main" noGrp="1"/>
          </p:cNvSpPr>
          <p:nvPr/>
        </p:nvSpPr>
        <p:spPr>
          <a:xfrm xmlns:a="http://schemas.openxmlformats.org/drawingml/2006/main">
            <a:off x="552450" y="514350"/>
            <a:ext cx="438150" cy="38100"/>
          </a:xfrm>
          <a:prstGeom xmlns:a="http://schemas.openxmlformats.org/drawingml/2006/main" prst="rect">
            <a:avLst/>
          </a:prstGeom>
          <a:solidFill xmlns:a="http://schemas.openxmlformats.org/drawingml/2006/main">
            <a:srgbClr val="0F766E"/>
          </a:solidFill>
          <a:ln xmlns:a="http://schemas.openxmlformats.org/drawingml/2006/main" w="0">
            <a:prstDash val="solid"/>
          </a:ln>
        </p:spPr>
      </p:sp>
      <p:sp>
        <p:nvSpPr>
          <p:cNvPr id="5" name="kicker-2-label">
            <a:extLst xmlns:a="http://schemas.openxmlformats.org/drawingml/2006/main">
              <a:ext uri="{FF2B5EF4-FFF2-40B4-BE49-F238E27FC236}">
                <a16:creationId xmlns:a16="http://schemas.microsoft.com/office/drawing/2014/main" id="{0D00C2F7-3755-43C8-8186-1F0535CBC23E}"/>
              </a:ext>
            </a:extLst>
          </p:cNvPr>
          <p:cNvSpPr>
            <a:spLocks xmlns:a="http://schemas.openxmlformats.org/drawingml/2006/main" noGrp="1"/>
          </p:cNvSpPr>
          <p:nvPr/>
        </p:nvSpPr>
        <p:spPr>
          <a:xfrm xmlns:a="http://schemas.openxmlformats.org/drawingml/2006/main">
            <a:off x="1104900" y="428625"/>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825" b="1">
                <a:solidFill>
                  <a:srgbClr val="0F766E"/>
                </a:solidFill>
                <a:latin typeface="Avenir Next"/>
                <a:ea typeface="Avenir Next"/>
                <a:cs typeface="Avenir Next"/>
              </a:defRPr>
            </a:pPr>
            <a:r>
              <a:rPr sz="825" b="1">
                <a:solidFill>
                  <a:srgbClr val="0F766E"/>
                </a:solidFill>
                <a:latin typeface="Avenir Next"/>
                <a:ea typeface="Avenir Next"/>
                <a:cs typeface="Avenir Next"/>
              </a:rPr>
              <a:t>MENTAL MODEL</a:t>
            </a:r>
          </a:p>
        </p:txBody>
      </p:sp>
      <p:sp>
        <p:nvSpPr>
          <p:cNvPr id="6" name="">
            <a:extLst xmlns:a="http://schemas.openxmlformats.org/drawingml/2006/main">
              <a:ext uri="{FF2B5EF4-FFF2-40B4-BE49-F238E27FC236}">
                <a16:creationId xmlns:a16="http://schemas.microsoft.com/office/drawing/2014/main" id="{362CB340-4542-4E86-A06E-D13220FE4460}"/>
              </a:ext>
            </a:extLst>
          </p:cNvPr>
          <p:cNvSpPr>
            <a:spLocks xmlns:a="http://schemas.openxmlformats.org/drawingml/2006/main" noGrp="1"/>
          </p:cNvSpPr>
          <p:nvPr/>
        </p:nvSpPr>
        <p:spPr>
          <a:xfrm xmlns:a="http://schemas.openxmlformats.org/drawingml/2006/main">
            <a:off x="11049000" y="428625"/>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57084"/>
                </a:solidFill>
                <a:latin typeface="Avenir Next"/>
                <a:ea typeface="Avenir Next"/>
                <a:cs typeface="Avenir Next"/>
              </a:defRPr>
            </a:pPr>
            <a:r>
              <a:rPr sz="825" b="1">
                <a:solidFill>
                  <a:srgbClr val="657084"/>
                </a:solidFill>
                <a:latin typeface="Avenir Next"/>
                <a:ea typeface="Avenir Next"/>
                <a:cs typeface="Avenir Next"/>
              </a:rPr>
              <a:t>02</a:t>
            </a:r>
          </a:p>
        </p:txBody>
      </p:sp>
      <p:sp>
        <p:nvSpPr>
          <p:cNvPr id="7" name="">
            <a:extLst xmlns:a="http://schemas.openxmlformats.org/drawingml/2006/main">
              <a:ext uri="{FF2B5EF4-FFF2-40B4-BE49-F238E27FC236}">
                <a16:creationId xmlns:a16="http://schemas.microsoft.com/office/drawing/2014/main" id="{F60F562D-5737-4A2C-A5C3-44130938D2B4}"/>
              </a:ext>
            </a:extLst>
          </p:cNvPr>
          <p:cNvSpPr>
            <a:spLocks xmlns:a="http://schemas.openxmlformats.org/drawingml/2006/main" noGrp="1"/>
          </p:cNvSpPr>
          <p:nvPr/>
        </p:nvSpPr>
        <p:spPr>
          <a:xfrm xmlns:a="http://schemas.openxmlformats.org/drawingml/2006/main">
            <a:off x="552450" y="876300"/>
            <a:ext cx="8858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D2430"/>
                </a:solidFill>
                <a:latin typeface="Georgia"/>
                <a:ea typeface="Georgia"/>
                <a:cs typeface="Georgia"/>
              </a:defRPr>
            </a:pPr>
            <a:r>
              <a:rPr sz="2550" b="1">
                <a:solidFill>
                  <a:srgbClr val="1D2430"/>
                </a:solidFill>
                <a:latin typeface="Georgia"/>
                <a:ea typeface="Georgia"/>
                <a:cs typeface="Georgia"/>
              </a:rPr>
              <a:t>The spaces differ by lifespan, not by topic.</a:t>
            </a:r>
          </a:p>
        </p:txBody>
      </p:sp>
      <p:sp>
        <p:nvSpPr>
          <p:cNvPr id="8" name="">
            <a:extLst xmlns:a="http://schemas.openxmlformats.org/drawingml/2006/main">
              <a:ext uri="{FF2B5EF4-FFF2-40B4-BE49-F238E27FC236}">
                <a16:creationId xmlns:a16="http://schemas.microsoft.com/office/drawing/2014/main" id="{7E091D95-7219-4909-81CF-B4BDDBA88B90}"/>
              </a:ext>
            </a:extLst>
          </p:cNvPr>
          <p:cNvSpPr>
            <a:spLocks xmlns:a="http://schemas.openxmlformats.org/drawingml/2006/main" noGrp="1"/>
          </p:cNvSpPr>
          <p:nvPr/>
        </p:nvSpPr>
        <p:spPr>
          <a:xfrm xmlns:a="http://schemas.openxmlformats.org/drawingml/2006/main">
            <a:off x="666750" y="2324100"/>
            <a:ext cx="3286125" cy="2857500"/>
          </a:xfrm>
          <a:prstGeom xmlns:a="http://schemas.openxmlformats.org/drawingml/2006/main" prst="roundRect">
            <a:avLst>
              <a:gd name="adj" fmla="val 2667"/>
            </a:avLst>
          </a:prstGeom>
          <a:solidFill xmlns:a="http://schemas.openxmlformats.org/drawingml/2006/main">
            <a:srgbClr val="DFF5F1"/>
          </a:solidFill>
          <a:ln xmlns:a="http://schemas.openxmlformats.org/drawingml/2006/main" w="0">
            <a:prstDash val="solid"/>
          </a:ln>
        </p:spPr>
      </p:sp>
      <p:sp>
        <p:nvSpPr>
          <p:cNvPr id="9" name="">
            <a:extLst xmlns:a="http://schemas.openxmlformats.org/drawingml/2006/main">
              <a:ext uri="{FF2B5EF4-FFF2-40B4-BE49-F238E27FC236}">
                <a16:creationId xmlns:a16="http://schemas.microsoft.com/office/drawing/2014/main" id="{EC1D9828-9978-4D13-9630-D5A51550ED68}"/>
              </a:ext>
            </a:extLst>
          </p:cNvPr>
          <p:cNvSpPr>
            <a:spLocks xmlns:a="http://schemas.openxmlformats.org/drawingml/2006/main" noGrp="1"/>
          </p:cNvSpPr>
          <p:nvPr/>
        </p:nvSpPr>
        <p:spPr>
          <a:xfrm xmlns:a="http://schemas.openxmlformats.org/drawingml/2006/main">
            <a:off x="895350" y="2533650"/>
            <a:ext cx="28289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D2430"/>
                </a:solidFill>
                <a:latin typeface="Georgia"/>
                <a:ea typeface="Georgia"/>
                <a:cs typeface="Georgia"/>
              </a:defRPr>
            </a:pPr>
            <a:r>
              <a:rPr sz="1800" b="1">
                <a:solidFill>
                  <a:srgbClr val="1D2430"/>
                </a:solidFill>
                <a:latin typeface="Georgia"/>
                <a:ea typeface="Georgia"/>
                <a:cs typeface="Georgia"/>
              </a:rPr>
              <a:t>Library</a:t>
            </a:r>
          </a:p>
        </p:txBody>
      </p:sp>
      <p:sp>
        <p:nvSpPr>
          <p:cNvPr id="10" name="">
            <a:extLst xmlns:a="http://schemas.openxmlformats.org/drawingml/2006/main">
              <a:ext uri="{FF2B5EF4-FFF2-40B4-BE49-F238E27FC236}">
                <a16:creationId xmlns:a16="http://schemas.microsoft.com/office/drawing/2014/main" id="{49CD4260-CAA0-463D-B86E-7AC7ED258761}"/>
              </a:ext>
            </a:extLst>
          </p:cNvPr>
          <p:cNvSpPr>
            <a:spLocks xmlns:a="http://schemas.openxmlformats.org/drawingml/2006/main" noGrp="1"/>
          </p:cNvSpPr>
          <p:nvPr/>
        </p:nvSpPr>
        <p:spPr>
          <a:xfrm xmlns:a="http://schemas.openxmlformats.org/drawingml/2006/main">
            <a:off x="895350" y="2990850"/>
            <a:ext cx="28289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657084"/>
                </a:solidFill>
                <a:latin typeface="Avenir Next"/>
                <a:ea typeface="Avenir Next"/>
                <a:cs typeface="Avenir Next"/>
              </a:defRPr>
            </a:pPr>
            <a:r>
              <a:rPr sz="1088" b="0">
                <a:solidFill>
                  <a:srgbClr val="657084"/>
                </a:solidFill>
                <a:latin typeface="Avenir Next"/>
                <a:ea typeface="Avenir Next"/>
                <a:cs typeface="Avenir Next"/>
              </a:rPr>
              <a:t>Durable knowledge that should remain useful even if every current project disappears.</a:t>
            </a:r>
          </a:p>
        </p:txBody>
      </p:sp>
      <p:sp>
        <p:nvSpPr>
          <p:cNvPr id="11" name="">
            <a:extLst xmlns:a="http://schemas.openxmlformats.org/drawingml/2006/main">
              <a:ext uri="{FF2B5EF4-FFF2-40B4-BE49-F238E27FC236}">
                <a16:creationId xmlns:a16="http://schemas.microsoft.com/office/drawing/2014/main" id="{C0EA78D1-858E-4942-BC35-AC8FF22A9CCB}"/>
              </a:ext>
            </a:extLst>
          </p:cNvPr>
          <p:cNvSpPr>
            <a:spLocks xmlns:a="http://schemas.openxmlformats.org/drawingml/2006/main" noGrp="1"/>
          </p:cNvSpPr>
          <p:nvPr/>
        </p:nvSpPr>
        <p:spPr>
          <a:xfrm xmlns:a="http://schemas.openxmlformats.org/drawingml/2006/main">
            <a:off x="895350" y="4267200"/>
            <a:ext cx="2828925"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D2430"/>
                </a:solidFill>
                <a:latin typeface="IBM Plex Mono"/>
                <a:ea typeface="IBM Plex Mono"/>
                <a:cs typeface="IBM Plex Mono"/>
              </a:defRPr>
            </a:pPr>
            <a:r>
              <a:rPr sz="938" b="0">
                <a:solidFill>
                  <a:srgbClr val="1D2430"/>
                </a:solidFill>
                <a:latin typeface="IBM Plex Mono"/>
                <a:ea typeface="IBM Plex Mono"/>
                <a:cs typeface="IBM Plex Mono"/>
              </a:rPr>
              <a:t>papers/</a:t>
            </a:r>
          </a:p>
          <a:p xmlns:a="http://schemas.openxmlformats.org/drawingml/2006/main">
            <a:pPr algn="l">
              <a:defRPr sz="938" b="0">
                <a:solidFill>
                  <a:srgbClr val="1D2430"/>
                </a:solidFill>
                <a:latin typeface="IBM Plex Mono"/>
                <a:ea typeface="IBM Plex Mono"/>
                <a:cs typeface="IBM Plex Mono"/>
              </a:defRPr>
            </a:pPr>
            <a:r>
              <a:rPr sz="938" b="0">
                <a:solidFill>
                  <a:srgbClr val="1D2430"/>
                </a:solidFill>
                <a:latin typeface="IBM Plex Mono"/>
                <a:ea typeface="IBM Plex Mono"/>
                <a:cs typeface="IBM Plex Mono"/>
              </a:rPr>
              <a:t>sources/</a:t>
            </a:r>
          </a:p>
          <a:p xmlns:a="http://schemas.openxmlformats.org/drawingml/2006/main">
            <a:pPr algn="l">
              <a:defRPr sz="938" b="0">
                <a:solidFill>
                  <a:srgbClr val="1D2430"/>
                </a:solidFill>
                <a:latin typeface="IBM Plex Mono"/>
                <a:ea typeface="IBM Plex Mono"/>
                <a:cs typeface="IBM Plex Mono"/>
              </a:defRPr>
            </a:pPr>
            <a:r>
              <a:rPr sz="938" b="0">
                <a:solidFill>
                  <a:srgbClr val="1D2430"/>
                </a:solidFill>
                <a:latin typeface="IBM Plex Mono"/>
                <a:ea typeface="IBM Plex Mono"/>
                <a:cs typeface="IBM Plex Mono"/>
              </a:rPr>
              <a:t>wiki/</a:t>
            </a:r>
          </a:p>
          <a:p xmlns:a="http://schemas.openxmlformats.org/drawingml/2006/main">
            <a:pPr algn="l">
              <a:defRPr sz="938" b="0">
                <a:solidFill>
                  <a:srgbClr val="1D2430"/>
                </a:solidFill>
                <a:latin typeface="IBM Plex Mono"/>
                <a:ea typeface="IBM Plex Mono"/>
                <a:cs typeface="IBM Plex Mono"/>
              </a:defRPr>
            </a:pPr>
            <a:r>
              <a:rPr sz="938" b="0">
                <a:solidFill>
                  <a:srgbClr val="1D2430"/>
                </a:solidFill>
                <a:latin typeface="IBM Plex Mono"/>
                <a:ea typeface="IBM Plex Mono"/>
                <a:cs typeface="IBM Plex Mono"/>
              </a:rPr>
              <a:t>wiki/overviews/</a:t>
            </a:r>
          </a:p>
        </p:txBody>
      </p:sp>
      <p:sp>
        <p:nvSpPr>
          <p:cNvPr id="12" name="">
            <a:extLst xmlns:a="http://schemas.openxmlformats.org/drawingml/2006/main">
              <a:ext uri="{FF2B5EF4-FFF2-40B4-BE49-F238E27FC236}">
                <a16:creationId xmlns:a16="http://schemas.microsoft.com/office/drawing/2014/main" id="{223B0A4E-01AF-4B6F-9C6C-8A59532349F8}"/>
              </a:ext>
            </a:extLst>
          </p:cNvPr>
          <p:cNvSpPr>
            <a:spLocks xmlns:a="http://schemas.openxmlformats.org/drawingml/2006/main" noGrp="1"/>
          </p:cNvSpPr>
          <p:nvPr/>
        </p:nvSpPr>
        <p:spPr>
          <a:xfrm xmlns:a="http://schemas.openxmlformats.org/drawingml/2006/main">
            <a:off x="4457700" y="2324100"/>
            <a:ext cx="3286125" cy="2857500"/>
          </a:xfrm>
          <a:prstGeom xmlns:a="http://schemas.openxmlformats.org/drawingml/2006/main" prst="roundRect">
            <a:avLst>
              <a:gd name="adj" fmla="val 2667"/>
            </a:avLst>
          </a:prstGeom>
          <a:solidFill xmlns:a="http://schemas.openxmlformats.org/drawingml/2006/main">
            <a:srgbClr val="FFF3D4"/>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DC71934E-EF7A-4FF3-AC23-2D6A33059F7E}"/>
              </a:ext>
            </a:extLst>
          </p:cNvPr>
          <p:cNvSpPr>
            <a:spLocks xmlns:a="http://schemas.openxmlformats.org/drawingml/2006/main" noGrp="1"/>
          </p:cNvSpPr>
          <p:nvPr/>
        </p:nvSpPr>
        <p:spPr>
          <a:xfrm xmlns:a="http://schemas.openxmlformats.org/drawingml/2006/main">
            <a:off x="4686300" y="2533650"/>
            <a:ext cx="28289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D2430"/>
                </a:solidFill>
                <a:latin typeface="Georgia"/>
                <a:ea typeface="Georgia"/>
                <a:cs typeface="Georgia"/>
              </a:defRPr>
            </a:pPr>
            <a:r>
              <a:rPr sz="1800" b="1">
                <a:solidFill>
                  <a:srgbClr val="1D2430"/>
                </a:solidFill>
                <a:latin typeface="Georgia"/>
                <a:ea typeface="Georgia"/>
                <a:cs typeface="Georgia"/>
              </a:rPr>
              <a:t>Exploration</a:t>
            </a:r>
          </a:p>
        </p:txBody>
      </p:sp>
      <p:sp>
        <p:nvSpPr>
          <p:cNvPr id="14" name="">
            <a:extLst xmlns:a="http://schemas.openxmlformats.org/drawingml/2006/main">
              <a:ext uri="{FF2B5EF4-FFF2-40B4-BE49-F238E27FC236}">
                <a16:creationId xmlns:a16="http://schemas.microsoft.com/office/drawing/2014/main" id="{9DEF9B89-6EA4-46E8-A212-8382BD2218FA}"/>
              </a:ext>
            </a:extLst>
          </p:cNvPr>
          <p:cNvSpPr>
            <a:spLocks xmlns:a="http://schemas.openxmlformats.org/drawingml/2006/main" noGrp="1"/>
          </p:cNvSpPr>
          <p:nvPr/>
        </p:nvSpPr>
        <p:spPr>
          <a:xfrm xmlns:a="http://schemas.openxmlformats.org/drawingml/2006/main">
            <a:off x="4686300" y="2990850"/>
            <a:ext cx="28289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657084"/>
                </a:solidFill>
                <a:latin typeface="Avenir Next"/>
                <a:ea typeface="Avenir Next"/>
                <a:cs typeface="Avenir Next"/>
              </a:defRPr>
            </a:pPr>
            <a:r>
              <a:rPr sz="1088" b="0">
                <a:solidFill>
                  <a:srgbClr val="657084"/>
                </a:solidFill>
                <a:latin typeface="Avenir Next"/>
                <a:ea typeface="Avenir Next"/>
                <a:cs typeface="Avenir Next"/>
              </a:rPr>
              <a:t>Open-ended thinking, evolving idea summaries, early literature leads, and temporary PDFs.</a:t>
            </a:r>
          </a:p>
        </p:txBody>
      </p:sp>
      <p:sp>
        <p:nvSpPr>
          <p:cNvPr id="15" name="">
            <a:extLst xmlns:a="http://schemas.openxmlformats.org/drawingml/2006/main">
              <a:ext uri="{FF2B5EF4-FFF2-40B4-BE49-F238E27FC236}">
                <a16:creationId xmlns:a16="http://schemas.microsoft.com/office/drawing/2014/main" id="{FFE98847-531E-4933-849D-0DE79F32C1CC}"/>
              </a:ext>
            </a:extLst>
          </p:cNvPr>
          <p:cNvSpPr>
            <a:spLocks xmlns:a="http://schemas.openxmlformats.org/drawingml/2006/main" noGrp="1"/>
          </p:cNvSpPr>
          <p:nvPr/>
        </p:nvSpPr>
        <p:spPr>
          <a:xfrm xmlns:a="http://schemas.openxmlformats.org/drawingml/2006/main">
            <a:off x="4686300" y="4267200"/>
            <a:ext cx="2828925"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D2430"/>
                </a:solidFill>
                <a:latin typeface="IBM Plex Mono"/>
                <a:ea typeface="IBM Plex Mono"/>
                <a:cs typeface="IBM Plex Mono"/>
              </a:defRPr>
            </a:pPr>
            <a:r>
              <a:rPr sz="938" b="0">
                <a:solidFill>
                  <a:srgbClr val="1D2430"/>
                </a:solidFill>
                <a:latin typeface="IBM Plex Mono"/>
                <a:ea typeface="IBM Plex Mono"/>
                <a:cs typeface="IBM Plex Mono"/>
              </a:rPr>
              <a:t>idea-notes/</a:t>
            </a:r>
          </a:p>
          <a:p xmlns:a="http://schemas.openxmlformats.org/drawingml/2006/main">
            <a:pPr algn="l">
              <a:defRPr sz="938" b="0">
                <a:solidFill>
                  <a:srgbClr val="1D2430"/>
                </a:solidFill>
                <a:latin typeface="IBM Plex Mono"/>
                <a:ea typeface="IBM Plex Mono"/>
                <a:cs typeface="IBM Plex Mono"/>
              </a:defRPr>
            </a:pPr>
            <a:r>
              <a:rPr sz="938" b="0">
                <a:solidFill>
                  <a:srgbClr val="1D2430"/>
                </a:solidFill>
                <a:latin typeface="IBM Plex Mono"/>
                <a:ea typeface="IBM Plex Mono"/>
                <a:cs typeface="IBM Plex Mono"/>
              </a:rPr>
              <a:t>ideas/</a:t>
            </a:r>
          </a:p>
          <a:p xmlns:a="http://schemas.openxmlformats.org/drawingml/2006/main">
            <a:pPr algn="l">
              <a:defRPr sz="938" b="0">
                <a:solidFill>
                  <a:srgbClr val="1D2430"/>
                </a:solidFill>
                <a:latin typeface="IBM Plex Mono"/>
                <a:ea typeface="IBM Plex Mono"/>
                <a:cs typeface="IBM Plex Mono"/>
              </a:defRPr>
            </a:pPr>
            <a:r>
              <a:rPr sz="938" b="0">
                <a:solidFill>
                  <a:srgbClr val="1D2430"/>
                </a:solidFill>
                <a:latin typeface="IBM Plex Mono"/>
                <a:ea typeface="IBM Plex Mono"/>
                <a:cs typeface="IBM Plex Mono"/>
              </a:rPr>
              <a:t>active/{slug}/</a:t>
            </a:r>
          </a:p>
          <a:p xmlns:a="http://schemas.openxmlformats.org/drawingml/2006/main">
            <a:pPr algn="l">
              <a:defRPr sz="938" b="0">
                <a:solidFill>
                  <a:srgbClr val="1D2430"/>
                </a:solidFill>
                <a:latin typeface="IBM Plex Mono"/>
                <a:ea typeface="IBM Plex Mono"/>
                <a:cs typeface="IBM Plex Mono"/>
              </a:defRPr>
            </a:pPr>
            <a:r>
              <a:rPr sz="938" b="0">
                <a:solidFill>
                  <a:srgbClr val="1D2430"/>
                </a:solidFill>
                <a:latin typeface="IBM Plex Mono"/>
                <a:ea typeface="IBM Plex Mono"/>
                <a:cs typeface="IBM Plex Mono"/>
              </a:rPr>
              <a:t>active/{slug}/_pdfs/</a:t>
            </a:r>
          </a:p>
        </p:txBody>
      </p:sp>
      <p:sp>
        <p:nvSpPr>
          <p:cNvPr id="16" name="">
            <a:extLst xmlns:a="http://schemas.openxmlformats.org/drawingml/2006/main">
              <a:ext uri="{FF2B5EF4-FFF2-40B4-BE49-F238E27FC236}">
                <a16:creationId xmlns:a16="http://schemas.microsoft.com/office/drawing/2014/main" id="{B92EAD4C-4C9E-407A-88E4-8B85271A4842}"/>
              </a:ext>
            </a:extLst>
          </p:cNvPr>
          <p:cNvSpPr>
            <a:spLocks xmlns:a="http://schemas.openxmlformats.org/drawingml/2006/main" noGrp="1"/>
          </p:cNvSpPr>
          <p:nvPr/>
        </p:nvSpPr>
        <p:spPr>
          <a:xfrm xmlns:a="http://schemas.openxmlformats.org/drawingml/2006/main">
            <a:off x="8248650" y="2324100"/>
            <a:ext cx="3286125" cy="2857500"/>
          </a:xfrm>
          <a:prstGeom xmlns:a="http://schemas.openxmlformats.org/drawingml/2006/main" prst="roundRect">
            <a:avLst>
              <a:gd name="adj" fmla="val 2667"/>
            </a:avLst>
          </a:prstGeom>
          <a:solidFill xmlns:a="http://schemas.openxmlformats.org/drawingml/2006/main">
            <a:srgbClr val="E7EEFC"/>
          </a:solidFill>
          <a:ln xmlns:a="http://schemas.openxmlformats.org/drawingml/2006/main" w="0">
            <a:prstDash val="solid"/>
          </a:ln>
        </p:spPr>
      </p:sp>
      <p:sp>
        <p:nvSpPr>
          <p:cNvPr id="17" name="">
            <a:extLst xmlns:a="http://schemas.openxmlformats.org/drawingml/2006/main">
              <a:ext uri="{FF2B5EF4-FFF2-40B4-BE49-F238E27FC236}">
                <a16:creationId xmlns:a16="http://schemas.microsoft.com/office/drawing/2014/main" id="{3BB7A18B-66F6-43EF-81AD-FEC0C6A37FF0}"/>
              </a:ext>
            </a:extLst>
          </p:cNvPr>
          <p:cNvSpPr>
            <a:spLocks xmlns:a="http://schemas.openxmlformats.org/drawingml/2006/main" noGrp="1"/>
          </p:cNvSpPr>
          <p:nvPr/>
        </p:nvSpPr>
        <p:spPr>
          <a:xfrm xmlns:a="http://schemas.openxmlformats.org/drawingml/2006/main">
            <a:off x="8477250" y="2533650"/>
            <a:ext cx="2828925"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D2430"/>
                </a:solidFill>
                <a:latin typeface="Georgia"/>
                <a:ea typeface="Georgia"/>
                <a:cs typeface="Georgia"/>
              </a:defRPr>
            </a:pPr>
            <a:r>
              <a:rPr sz="1800" b="1">
                <a:solidFill>
                  <a:srgbClr val="1D2430"/>
                </a:solidFill>
                <a:latin typeface="Georgia"/>
                <a:ea typeface="Georgia"/>
                <a:cs typeface="Georgia"/>
              </a:rPr>
              <a:t>Project</a:t>
            </a:r>
          </a:p>
        </p:txBody>
      </p:sp>
      <p:sp>
        <p:nvSpPr>
          <p:cNvPr id="18" name="">
            <a:extLst xmlns:a="http://schemas.openxmlformats.org/drawingml/2006/main">
              <a:ext uri="{FF2B5EF4-FFF2-40B4-BE49-F238E27FC236}">
                <a16:creationId xmlns:a16="http://schemas.microsoft.com/office/drawing/2014/main" id="{1B24F6E0-0FBE-42FD-B72D-B9849957932D}"/>
              </a:ext>
            </a:extLst>
          </p:cNvPr>
          <p:cNvSpPr>
            <a:spLocks xmlns:a="http://schemas.openxmlformats.org/drawingml/2006/main" noGrp="1"/>
          </p:cNvSpPr>
          <p:nvPr/>
        </p:nvSpPr>
        <p:spPr>
          <a:xfrm xmlns:a="http://schemas.openxmlformats.org/drawingml/2006/main">
            <a:off x="8477250" y="2990850"/>
            <a:ext cx="2828925"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657084"/>
                </a:solidFill>
                <a:latin typeface="Avenir Next"/>
                <a:ea typeface="Avenir Next"/>
                <a:cs typeface="Avenir Next"/>
              </a:defRPr>
            </a:pPr>
            <a:r>
              <a:rPr sz="1088" b="0">
                <a:solidFill>
                  <a:srgbClr val="657084"/>
                </a:solidFill>
                <a:latin typeface="Avenir Next"/>
                <a:ea typeface="Avenir Next"/>
                <a:cs typeface="Avenir Next"/>
              </a:rPr>
              <a:t>A workspace for a concrete deliverable: grant, review, manuscript, discussion, or journal club.</a:t>
            </a:r>
          </a:p>
        </p:txBody>
      </p:sp>
      <p:sp>
        <p:nvSpPr>
          <p:cNvPr id="19" name="">
            <a:extLst xmlns:a="http://schemas.openxmlformats.org/drawingml/2006/main">
              <a:ext uri="{FF2B5EF4-FFF2-40B4-BE49-F238E27FC236}">
                <a16:creationId xmlns:a16="http://schemas.microsoft.com/office/drawing/2014/main" id="{66246438-57AE-4207-B84D-9CAE89F34076}"/>
              </a:ext>
            </a:extLst>
          </p:cNvPr>
          <p:cNvSpPr>
            <a:spLocks xmlns:a="http://schemas.openxmlformats.org/drawingml/2006/main" noGrp="1"/>
          </p:cNvSpPr>
          <p:nvPr/>
        </p:nvSpPr>
        <p:spPr>
          <a:xfrm xmlns:a="http://schemas.openxmlformats.org/drawingml/2006/main">
            <a:off x="8477250" y="4267200"/>
            <a:ext cx="2828925"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D2430"/>
                </a:solidFill>
                <a:latin typeface="IBM Plex Mono"/>
                <a:ea typeface="IBM Plex Mono"/>
                <a:cs typeface="IBM Plex Mono"/>
              </a:defRPr>
            </a:pPr>
            <a:r>
              <a:rPr sz="938" b="0">
                <a:solidFill>
                  <a:srgbClr val="1D2430"/>
                </a:solidFill>
                <a:latin typeface="IBM Plex Mono"/>
                <a:ea typeface="IBM Plex Mono"/>
                <a:cs typeface="IBM Plex Mono"/>
              </a:rPr>
              <a:t>Project_Brief.md</a:t>
            </a:r>
          </a:p>
          <a:p xmlns:a="http://schemas.openxmlformats.org/drawingml/2006/main">
            <a:pPr algn="l">
              <a:defRPr sz="938" b="0">
                <a:solidFill>
                  <a:srgbClr val="1D2430"/>
                </a:solidFill>
                <a:latin typeface="IBM Plex Mono"/>
                <a:ea typeface="IBM Plex Mono"/>
                <a:cs typeface="IBM Plex Mono"/>
              </a:defRPr>
            </a:pPr>
            <a:r>
              <a:rPr sz="938" b="0">
                <a:solidFill>
                  <a:srgbClr val="1D2430"/>
                </a:solidFill>
                <a:latin typeface="IBM Plex Mono"/>
                <a:ea typeface="IBM Plex Mono"/>
                <a:cs typeface="IBM Plex Mono"/>
              </a:rPr>
              <a:t>candidates/</a:t>
            </a:r>
          </a:p>
          <a:p xmlns:a="http://schemas.openxmlformats.org/drawingml/2006/main">
            <a:pPr algn="l">
              <a:defRPr sz="938" b="0">
                <a:solidFill>
                  <a:srgbClr val="1D2430"/>
                </a:solidFill>
                <a:latin typeface="IBM Plex Mono"/>
                <a:ea typeface="IBM Plex Mono"/>
                <a:cs typeface="IBM Plex Mono"/>
              </a:defRPr>
            </a:pPr>
            <a:r>
              <a:rPr sz="938" b="0">
                <a:solidFill>
                  <a:srgbClr val="1D2430"/>
                </a:solidFill>
                <a:latin typeface="IBM Plex Mono"/>
                <a:ea typeface="IBM Plex Mono"/>
                <a:cs typeface="IBM Plex Mono"/>
              </a:rPr>
              <a:t>triage-reports/</a:t>
            </a:r>
          </a:p>
          <a:p xmlns:a="http://schemas.openxmlformats.org/drawingml/2006/main">
            <a:pPr algn="l">
              <a:defRPr sz="938" b="0">
                <a:solidFill>
                  <a:srgbClr val="1D2430"/>
                </a:solidFill>
                <a:latin typeface="IBM Plex Mono"/>
                <a:ea typeface="IBM Plex Mono"/>
                <a:cs typeface="IBM Plex Mono"/>
              </a:defRPr>
            </a:pPr>
            <a:r>
              <a:rPr sz="938" b="0">
                <a:solidFill>
                  <a:srgbClr val="1D2430"/>
                </a:solidFill>
                <a:latin typeface="IBM Plex Mono"/>
                <a:ea typeface="IBM Plex Mono"/>
                <a:cs typeface="IBM Plex Mono"/>
              </a:rPr>
              <a:t>drafts/</a:t>
            </a:r>
          </a:p>
        </p:txBody>
      </p:sp>
      <p:sp>
        <p:nvSpPr>
          <p:cNvPr id="20" name="">
            <a:extLst xmlns:a="http://schemas.openxmlformats.org/drawingml/2006/main">
              <a:ext uri="{FF2B5EF4-FFF2-40B4-BE49-F238E27FC236}">
                <a16:creationId xmlns:a16="http://schemas.microsoft.com/office/drawing/2014/main" id="{0DA7379C-F8F0-43B3-A21C-9EA591F9F284}"/>
              </a:ext>
            </a:extLst>
          </p:cNvPr>
          <p:cNvSpPr>
            <a:spLocks xmlns:a="http://schemas.openxmlformats.org/drawingml/2006/main" noGrp="1"/>
          </p:cNvSpPr>
          <p:nvPr/>
        </p:nvSpPr>
        <p:spPr>
          <a:xfrm xmlns:a="http://schemas.openxmlformats.org/drawingml/2006/main">
            <a:off x="952500" y="5657850"/>
            <a:ext cx="10287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63" b="0">
                <a:solidFill>
                  <a:srgbClr val="657084"/>
                </a:solidFill>
                <a:latin typeface="Avenir Next"/>
                <a:ea typeface="Avenir Next"/>
                <a:cs typeface="Avenir Next"/>
              </a:defRPr>
            </a:pPr>
            <a:r>
              <a:rPr sz="1163" b="0">
                <a:solidFill>
                  <a:srgbClr val="657084"/>
                </a:solidFill>
                <a:latin typeface="Avenir Next"/>
                <a:ea typeface="Avenir Next"/>
                <a:cs typeface="Avenir Next"/>
              </a:rPr>
              <a:t>Same paper, different state: a PubMed hit is not library knowledge; a PDF in _pdfs/ is not corpus; a source summary and wiki page are library memory.</a:t>
            </a:r>
          </a:p>
        </p:txBody>
      </p:sp>
      <p:sp>
        <p:nvSpPr>
          <p:cNvPr id="21" name="">
            <a:extLst xmlns:a="http://schemas.openxmlformats.org/drawingml/2006/main">
              <a:ext uri="{FF2B5EF4-FFF2-40B4-BE49-F238E27FC236}">
                <a16:creationId xmlns:a16="http://schemas.microsoft.com/office/drawing/2014/main" id="{45771608-C690-4B67-8935-2DAB39D7FAFF}"/>
              </a:ext>
            </a:extLst>
          </p:cNvPr>
          <p:cNvSpPr>
            <a:spLocks xmlns:a="http://schemas.openxmlformats.org/drawingml/2006/main" noGrp="1"/>
          </p:cNvSpPr>
          <p:nvPr/>
        </p:nvSpPr>
        <p:spPr>
          <a:xfrm xmlns:a="http://schemas.openxmlformats.org/drawingml/2006/main">
            <a:off x="552450" y="6305550"/>
            <a:ext cx="11087100" cy="9525"/>
          </a:xfrm>
          <a:prstGeom xmlns:a="http://schemas.openxmlformats.org/drawingml/2006/main" prst="rect">
            <a:avLst/>
          </a:prstGeom>
          <a:solidFill xmlns:a="http://schemas.openxmlformats.org/drawingml/2006/main">
            <a:srgbClr val="D8DEE8"/>
          </a:solidFill>
          <a:ln xmlns:a="http://schemas.openxmlformats.org/drawingml/2006/main" w="0">
            <a:prstDash val="solid"/>
          </a:ln>
        </p:spPr>
      </p:sp>
      <p:sp>
        <p:nvSpPr>
          <p:cNvPr id="22" name="">
            <a:extLst xmlns:a="http://schemas.openxmlformats.org/drawingml/2006/main">
              <a:ext uri="{FF2B5EF4-FFF2-40B4-BE49-F238E27FC236}">
                <a16:creationId xmlns:a16="http://schemas.microsoft.com/office/drawing/2014/main" id="{21289704-E673-4EC4-8310-BF4182A76B3F}"/>
              </a:ext>
            </a:extLst>
          </p:cNvPr>
          <p:cNvSpPr>
            <a:spLocks xmlns:a="http://schemas.openxmlformats.org/drawingml/2006/main" noGrp="1"/>
          </p:cNvSpPr>
          <p:nvPr/>
        </p:nvSpPr>
        <p:spPr>
          <a:xfrm xmlns:a="http://schemas.openxmlformats.org/drawingml/2006/main">
            <a:off x="552450" y="6438900"/>
            <a:ext cx="666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Use location to signal epistemic status.</a:t>
            </a:r>
          </a:p>
        </p:txBody>
      </p:sp>
      <p:sp>
        <p:nvSpPr>
          <p:cNvPr id="23" name="">
            <a:extLst xmlns:a="http://schemas.openxmlformats.org/drawingml/2006/main">
              <a:ext uri="{FF2B5EF4-FFF2-40B4-BE49-F238E27FC236}">
                <a16:creationId xmlns:a16="http://schemas.microsoft.com/office/drawing/2014/main" id="{C7AE21E1-6F5C-4A04-A686-B1EA3E850372}"/>
              </a:ext>
            </a:extLst>
          </p:cNvPr>
          <p:cNvSpPr>
            <a:spLocks xmlns:a="http://schemas.openxmlformats.org/drawingml/2006/main" noGrp="1"/>
          </p:cNvSpPr>
          <p:nvPr/>
        </p:nvSpPr>
        <p:spPr>
          <a:xfrm xmlns:a="http://schemas.openxmlformats.org/drawingml/2006/main">
            <a:off x="9239250" y="6438900"/>
            <a:ext cx="2400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Project_management_system</a:t>
            </a:r>
          </a:p>
        </p:txBody>
      </p:sp>
    </p:spTree>
    <p:extLst>
      <p:ext uri="{BB962C8B-B14F-4D97-AF65-F5344CB8AC3E}">
        <p14:creationId xmlns:p14="http://schemas.microsoft.com/office/powerpoint/2010/main" val="204681882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DD5257C-28B0-467D-B073-7EF1CD8B94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2" name="">
            <a:extLst xmlns:a="http://schemas.openxmlformats.org/drawingml/2006/main">
              <a:ext uri="{FF2B5EF4-FFF2-40B4-BE49-F238E27FC236}">
                <a16:creationId xmlns:a16="http://schemas.microsoft.com/office/drawing/2014/main" id="{55EA44EE-607C-4597-9493-24859695D8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prstDash val="solid"/>
          </a:ln>
        </p:spPr>
      </p:sp>
      <p:sp>
        <p:nvSpPr>
          <p:cNvPr id="3" name="">
            <a:extLst xmlns:a="http://schemas.openxmlformats.org/drawingml/2006/main">
              <a:ext uri="{FF2B5EF4-FFF2-40B4-BE49-F238E27FC236}">
                <a16:creationId xmlns:a16="http://schemas.microsoft.com/office/drawing/2014/main" id="{C6CF6D7D-02F4-41EA-916C-5804E12BD3F2}"/>
              </a:ext>
            </a:extLst>
          </p:cNvPr>
          <p:cNvSpPr>
            <a:spLocks xmlns:a="http://schemas.openxmlformats.org/drawingml/2006/main" noGrp="1"/>
          </p:cNvSpPr>
          <p:nvPr/>
        </p:nvSpPr>
        <p:spPr>
          <a:xfrm xmlns:a="http://schemas.openxmlformats.org/drawingml/2006/main">
            <a:off x="0" y="0"/>
            <a:ext cx="12192000" cy="12192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4" name="">
            <a:extLst xmlns:a="http://schemas.openxmlformats.org/drawingml/2006/main">
              <a:ext uri="{FF2B5EF4-FFF2-40B4-BE49-F238E27FC236}">
                <a16:creationId xmlns:a16="http://schemas.microsoft.com/office/drawing/2014/main" id="{B9BDE01C-6A56-4E63-AF53-7EC4849C8E2C}"/>
              </a:ext>
            </a:extLst>
          </p:cNvPr>
          <p:cNvSpPr>
            <a:spLocks xmlns:a="http://schemas.openxmlformats.org/drawingml/2006/main" noGrp="1"/>
          </p:cNvSpPr>
          <p:nvPr/>
        </p:nvSpPr>
        <p:spPr>
          <a:xfrm xmlns:a="http://schemas.openxmlformats.org/drawingml/2006/main">
            <a:off x="552450" y="514350"/>
            <a:ext cx="438150" cy="38100"/>
          </a:xfrm>
          <a:prstGeom xmlns:a="http://schemas.openxmlformats.org/drawingml/2006/main" prst="rect">
            <a:avLst/>
          </a:prstGeom>
          <a:solidFill xmlns:a="http://schemas.openxmlformats.org/drawingml/2006/main">
            <a:srgbClr val="0F766E"/>
          </a:solidFill>
          <a:ln xmlns:a="http://schemas.openxmlformats.org/drawingml/2006/main" w="0">
            <a:prstDash val="solid"/>
          </a:ln>
        </p:spPr>
      </p:sp>
      <p:sp>
        <p:nvSpPr>
          <p:cNvPr id="5" name="kicker-3-label">
            <a:extLst xmlns:a="http://schemas.openxmlformats.org/drawingml/2006/main">
              <a:ext uri="{FF2B5EF4-FFF2-40B4-BE49-F238E27FC236}">
                <a16:creationId xmlns:a16="http://schemas.microsoft.com/office/drawing/2014/main" id="{6394648C-6BAD-42F2-9F38-C5F3B02DED0B}"/>
              </a:ext>
            </a:extLst>
          </p:cNvPr>
          <p:cNvSpPr>
            <a:spLocks xmlns:a="http://schemas.openxmlformats.org/drawingml/2006/main" noGrp="1"/>
          </p:cNvSpPr>
          <p:nvPr/>
        </p:nvSpPr>
        <p:spPr>
          <a:xfrm xmlns:a="http://schemas.openxmlformats.org/drawingml/2006/main">
            <a:off x="1104900" y="428625"/>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825" b="1">
                <a:solidFill>
                  <a:srgbClr val="0F766E"/>
                </a:solidFill>
                <a:latin typeface="Avenir Next"/>
                <a:ea typeface="Avenir Next"/>
                <a:cs typeface="Avenir Next"/>
              </a:defRPr>
            </a:pPr>
            <a:r>
              <a:rPr sz="825" b="1">
                <a:solidFill>
                  <a:srgbClr val="0F766E"/>
                </a:solidFill>
                <a:latin typeface="Avenir Next"/>
                <a:ea typeface="Avenir Next"/>
                <a:cs typeface="Avenir Next"/>
              </a:rPr>
              <a:t>LLM-WIKI CORE</a:t>
            </a:r>
          </a:p>
        </p:txBody>
      </p:sp>
      <p:sp>
        <p:nvSpPr>
          <p:cNvPr id="6" name="">
            <a:extLst xmlns:a="http://schemas.openxmlformats.org/drawingml/2006/main">
              <a:ext uri="{FF2B5EF4-FFF2-40B4-BE49-F238E27FC236}">
                <a16:creationId xmlns:a16="http://schemas.microsoft.com/office/drawing/2014/main" id="{128DA331-62F3-4E88-8E1A-8D74AE78DD04}"/>
              </a:ext>
            </a:extLst>
          </p:cNvPr>
          <p:cNvSpPr>
            <a:spLocks xmlns:a="http://schemas.openxmlformats.org/drawingml/2006/main" noGrp="1"/>
          </p:cNvSpPr>
          <p:nvPr/>
        </p:nvSpPr>
        <p:spPr>
          <a:xfrm xmlns:a="http://schemas.openxmlformats.org/drawingml/2006/main">
            <a:off x="11049000" y="428625"/>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57084"/>
                </a:solidFill>
                <a:latin typeface="Avenir Next"/>
                <a:ea typeface="Avenir Next"/>
                <a:cs typeface="Avenir Next"/>
              </a:defRPr>
            </a:pPr>
            <a:r>
              <a:rPr sz="825" b="1">
                <a:solidFill>
                  <a:srgbClr val="657084"/>
                </a:solidFill>
                <a:latin typeface="Avenir Next"/>
                <a:ea typeface="Avenir Next"/>
                <a:cs typeface="Avenir Next"/>
              </a:rPr>
              <a:t>03</a:t>
            </a:r>
          </a:p>
        </p:txBody>
      </p:sp>
      <p:sp>
        <p:nvSpPr>
          <p:cNvPr id="7" name="">
            <a:extLst xmlns:a="http://schemas.openxmlformats.org/drawingml/2006/main">
              <a:ext uri="{FF2B5EF4-FFF2-40B4-BE49-F238E27FC236}">
                <a16:creationId xmlns:a16="http://schemas.microsoft.com/office/drawing/2014/main" id="{E8DC93E0-C6B0-4CD8-A644-92434B2FCA08}"/>
              </a:ext>
            </a:extLst>
          </p:cNvPr>
          <p:cNvSpPr>
            <a:spLocks xmlns:a="http://schemas.openxmlformats.org/drawingml/2006/main" noGrp="1"/>
          </p:cNvSpPr>
          <p:nvPr/>
        </p:nvSpPr>
        <p:spPr>
          <a:xfrm xmlns:a="http://schemas.openxmlformats.org/drawingml/2006/main">
            <a:off x="552450" y="876300"/>
            <a:ext cx="8858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D2430"/>
                </a:solidFill>
                <a:latin typeface="Georgia"/>
                <a:ea typeface="Georgia"/>
                <a:cs typeface="Georgia"/>
              </a:defRPr>
            </a:pPr>
            <a:r>
              <a:rPr sz="2550" b="1">
                <a:solidFill>
                  <a:srgbClr val="1D2430"/>
                </a:solidFill>
                <a:latin typeface="Georgia"/>
                <a:ea typeface="Georgia"/>
                <a:cs typeface="Georgia"/>
              </a:rPr>
              <a:t>The wiki is a library pipeline, not a brainstorming notebook.</a:t>
            </a:r>
          </a:p>
        </p:txBody>
      </p:sp>
      <p:sp>
        <p:nvSpPr>
          <p:cNvPr id="8" name="">
            <a:extLst xmlns:a="http://schemas.openxmlformats.org/drawingml/2006/main">
              <a:ext uri="{FF2B5EF4-FFF2-40B4-BE49-F238E27FC236}">
                <a16:creationId xmlns:a16="http://schemas.microsoft.com/office/drawing/2014/main" id="{BF789FEA-CA32-4710-B97B-7D0EE6B21C9A}"/>
              </a:ext>
            </a:extLst>
          </p:cNvPr>
          <p:cNvSpPr>
            <a:spLocks xmlns:a="http://schemas.openxmlformats.org/drawingml/2006/main" noGrp="1"/>
          </p:cNvSpPr>
          <p:nvPr/>
        </p:nvSpPr>
        <p:spPr>
          <a:xfrm xmlns:a="http://schemas.openxmlformats.org/drawingml/2006/main">
            <a:off x="704850" y="2343150"/>
            <a:ext cx="2114550" cy="1314450"/>
          </a:xfrm>
          <a:prstGeom xmlns:a="http://schemas.openxmlformats.org/drawingml/2006/main" prst="roundRect">
            <a:avLst>
              <a:gd name="adj" fmla="val 5797"/>
            </a:avLst>
          </a:prstGeom>
          <a:solidFill xmlns:a="http://schemas.openxmlformats.org/drawingml/2006/main">
            <a:srgbClr val="DFF5F1"/>
          </a:solidFill>
          <a:ln xmlns:a="http://schemas.openxmlformats.org/drawingml/2006/main" w="0">
            <a:prstDash val="solid"/>
          </a:ln>
        </p:spPr>
      </p:sp>
      <p:sp>
        <p:nvSpPr>
          <p:cNvPr id="9" name="">
            <a:extLst xmlns:a="http://schemas.openxmlformats.org/drawingml/2006/main">
              <a:ext uri="{FF2B5EF4-FFF2-40B4-BE49-F238E27FC236}">
                <a16:creationId xmlns:a16="http://schemas.microsoft.com/office/drawing/2014/main" id="{801CD0A8-9CAC-4C3B-BC85-5EC39233C573}"/>
              </a:ext>
            </a:extLst>
          </p:cNvPr>
          <p:cNvSpPr>
            <a:spLocks xmlns:a="http://schemas.openxmlformats.org/drawingml/2006/main" noGrp="1"/>
          </p:cNvSpPr>
          <p:nvPr/>
        </p:nvSpPr>
        <p:spPr>
          <a:xfrm xmlns:a="http://schemas.openxmlformats.org/drawingml/2006/main">
            <a:off x="876300" y="2514600"/>
            <a:ext cx="381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766E"/>
                </a:solidFill>
                <a:latin typeface="Georgia"/>
                <a:ea typeface="Georgia"/>
                <a:cs typeface="Georgia"/>
              </a:defRPr>
            </a:pPr>
            <a:r>
              <a:rPr sz="2100" b="1">
                <a:solidFill>
                  <a:srgbClr val="0F766E"/>
                </a:solidFill>
                <a:latin typeface="Georgia"/>
                <a:ea typeface="Georgia"/>
                <a:cs typeface="Georgia"/>
              </a:rPr>
              <a:t>1</a:t>
            </a:r>
          </a:p>
        </p:txBody>
      </p:sp>
      <p:sp>
        <p:nvSpPr>
          <p:cNvPr id="10" name="">
            <a:extLst xmlns:a="http://schemas.openxmlformats.org/drawingml/2006/main">
              <a:ext uri="{FF2B5EF4-FFF2-40B4-BE49-F238E27FC236}">
                <a16:creationId xmlns:a16="http://schemas.microsoft.com/office/drawing/2014/main" id="{3AB01523-F47C-42BD-997A-A9267B47DF5A}"/>
              </a:ext>
            </a:extLst>
          </p:cNvPr>
          <p:cNvSpPr>
            <a:spLocks xmlns:a="http://schemas.openxmlformats.org/drawingml/2006/main" noGrp="1"/>
          </p:cNvSpPr>
          <p:nvPr/>
        </p:nvSpPr>
        <p:spPr>
          <a:xfrm xmlns:a="http://schemas.openxmlformats.org/drawingml/2006/main">
            <a:off x="1352550" y="2552700"/>
            <a:ext cx="1219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D2430"/>
                </a:solidFill>
                <a:latin typeface="Avenir Next"/>
                <a:ea typeface="Avenir Next"/>
                <a:cs typeface="Avenir Next"/>
              </a:defRPr>
            </a:pPr>
            <a:r>
              <a:rPr sz="1125" b="1">
                <a:solidFill>
                  <a:srgbClr val="1D2430"/>
                </a:solidFill>
                <a:latin typeface="Avenir Next"/>
                <a:ea typeface="Avenir Next"/>
                <a:cs typeface="Avenir Next"/>
              </a:rPr>
              <a:t>PDF selected</a:t>
            </a:r>
          </a:p>
        </p:txBody>
      </p:sp>
      <p:sp>
        <p:nvSpPr>
          <p:cNvPr id="11" name="">
            <a:extLst xmlns:a="http://schemas.openxmlformats.org/drawingml/2006/main">
              <a:ext uri="{FF2B5EF4-FFF2-40B4-BE49-F238E27FC236}">
                <a16:creationId xmlns:a16="http://schemas.microsoft.com/office/drawing/2014/main" id="{3EA316E3-2A1B-4CA6-B332-26835F26B97B}"/>
              </a:ext>
            </a:extLst>
          </p:cNvPr>
          <p:cNvSpPr>
            <a:spLocks xmlns:a="http://schemas.openxmlformats.org/drawingml/2006/main" noGrp="1"/>
          </p:cNvSpPr>
          <p:nvPr/>
        </p:nvSpPr>
        <p:spPr>
          <a:xfrm xmlns:a="http://schemas.openxmlformats.org/drawingml/2006/main">
            <a:off x="876300" y="3009900"/>
            <a:ext cx="17716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84"/>
                </a:solidFill>
                <a:latin typeface="Avenir Next"/>
                <a:ea typeface="Avenir Next"/>
                <a:cs typeface="Avenir Next"/>
              </a:defRPr>
            </a:pPr>
            <a:r>
              <a:rPr sz="863" b="0">
                <a:solidFill>
                  <a:srgbClr val="657084"/>
                </a:solidFill>
                <a:latin typeface="Avenir Next"/>
                <a:ea typeface="Avenir Next"/>
                <a:cs typeface="Avenir Next"/>
              </a:rPr>
              <a:t>A human chooses a paper worth preserving.</a:t>
            </a:r>
          </a:p>
        </p:txBody>
      </p:sp>
      <p:sp>
        <p:nvSpPr>
          <p:cNvPr id="12" name="">
            <a:extLst xmlns:a="http://schemas.openxmlformats.org/drawingml/2006/main">
              <a:ext uri="{FF2B5EF4-FFF2-40B4-BE49-F238E27FC236}">
                <a16:creationId xmlns:a16="http://schemas.microsoft.com/office/drawing/2014/main" id="{4DBA414A-BF52-485A-B93E-1826A82794A3}"/>
              </a:ext>
            </a:extLst>
          </p:cNvPr>
          <p:cNvSpPr>
            <a:spLocks xmlns:a="http://schemas.openxmlformats.org/drawingml/2006/main" noGrp="1"/>
          </p:cNvSpPr>
          <p:nvPr/>
        </p:nvSpPr>
        <p:spPr>
          <a:xfrm xmlns:a="http://schemas.openxmlformats.org/drawingml/2006/main">
            <a:off x="3181350" y="2343150"/>
            <a:ext cx="2114550" cy="1314450"/>
          </a:xfrm>
          <a:prstGeom xmlns:a="http://schemas.openxmlformats.org/drawingml/2006/main" prst="roundRect">
            <a:avLst>
              <a:gd name="adj" fmla="val 5797"/>
            </a:avLst>
          </a:prstGeom>
          <a:solidFill xmlns:a="http://schemas.openxmlformats.org/drawingml/2006/main">
            <a:srgbClr val="DFF5F1"/>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9D8AC6A3-00CA-430C-A0BD-41B62A8D1CF4}"/>
              </a:ext>
            </a:extLst>
          </p:cNvPr>
          <p:cNvSpPr>
            <a:spLocks xmlns:a="http://schemas.openxmlformats.org/drawingml/2006/main" noGrp="1"/>
          </p:cNvSpPr>
          <p:nvPr/>
        </p:nvSpPr>
        <p:spPr>
          <a:xfrm xmlns:a="http://schemas.openxmlformats.org/drawingml/2006/main">
            <a:off x="3352800" y="2514600"/>
            <a:ext cx="381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766E"/>
                </a:solidFill>
                <a:latin typeface="Georgia"/>
                <a:ea typeface="Georgia"/>
                <a:cs typeface="Georgia"/>
              </a:defRPr>
            </a:pPr>
            <a:r>
              <a:rPr sz="2100" b="1">
                <a:solidFill>
                  <a:srgbClr val="0F766E"/>
                </a:solidFill>
                <a:latin typeface="Georgia"/>
                <a:ea typeface="Georgia"/>
                <a:cs typeface="Georgia"/>
              </a:rPr>
              <a:t>2</a:t>
            </a:r>
          </a:p>
        </p:txBody>
      </p:sp>
      <p:sp>
        <p:nvSpPr>
          <p:cNvPr id="14" name="">
            <a:extLst xmlns:a="http://schemas.openxmlformats.org/drawingml/2006/main">
              <a:ext uri="{FF2B5EF4-FFF2-40B4-BE49-F238E27FC236}">
                <a16:creationId xmlns:a16="http://schemas.microsoft.com/office/drawing/2014/main" id="{FCFFAC47-FB52-4D7D-BFC5-C3E1CD4BC051}"/>
              </a:ext>
            </a:extLst>
          </p:cNvPr>
          <p:cNvSpPr>
            <a:spLocks xmlns:a="http://schemas.openxmlformats.org/drawingml/2006/main" noGrp="1"/>
          </p:cNvSpPr>
          <p:nvPr/>
        </p:nvSpPr>
        <p:spPr>
          <a:xfrm xmlns:a="http://schemas.openxmlformats.org/drawingml/2006/main">
            <a:off x="3829050" y="2552700"/>
            <a:ext cx="1219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D2430"/>
                </a:solidFill>
                <a:latin typeface="Avenir Next"/>
                <a:ea typeface="Avenir Next"/>
                <a:cs typeface="Avenir Next"/>
              </a:defRPr>
            </a:pPr>
            <a:r>
              <a:rPr sz="1125" b="1">
                <a:solidFill>
                  <a:srgbClr val="1D2430"/>
                </a:solidFill>
                <a:latin typeface="Avenir Next"/>
                <a:ea typeface="Avenir Next"/>
                <a:cs typeface="Avenir Next"/>
              </a:rPr>
              <a:t>Source summary</a:t>
            </a:r>
          </a:p>
        </p:txBody>
      </p:sp>
      <p:sp>
        <p:nvSpPr>
          <p:cNvPr id="15" name="">
            <a:extLst xmlns:a="http://schemas.openxmlformats.org/drawingml/2006/main">
              <a:ext uri="{FF2B5EF4-FFF2-40B4-BE49-F238E27FC236}">
                <a16:creationId xmlns:a16="http://schemas.microsoft.com/office/drawing/2014/main" id="{BD6602F7-7ADC-4FAB-A8CB-23DBACA79031}"/>
              </a:ext>
            </a:extLst>
          </p:cNvPr>
          <p:cNvSpPr>
            <a:spLocks xmlns:a="http://schemas.openxmlformats.org/drawingml/2006/main" noGrp="1"/>
          </p:cNvSpPr>
          <p:nvPr/>
        </p:nvSpPr>
        <p:spPr>
          <a:xfrm xmlns:a="http://schemas.openxmlformats.org/drawingml/2006/main">
            <a:off x="3352800" y="3009900"/>
            <a:ext cx="17716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84"/>
                </a:solidFill>
                <a:latin typeface="Avenir Next"/>
                <a:ea typeface="Avenir Next"/>
                <a:cs typeface="Avenir Next"/>
              </a:defRPr>
            </a:pPr>
            <a:r>
              <a:rPr sz="863" b="0">
                <a:solidFill>
                  <a:srgbClr val="657084"/>
                </a:solidFill>
                <a:latin typeface="Avenir Next"/>
                <a:ea typeface="Avenir Next"/>
                <a:cs typeface="Avenir Next"/>
              </a:rPr>
              <a:t>Ingester creates citation-truth frontmatter and structured notes.</a:t>
            </a:r>
          </a:p>
        </p:txBody>
      </p:sp>
      <p:sp>
        <p:nvSpPr>
          <p:cNvPr id="16" name="">
            <a:extLst xmlns:a="http://schemas.openxmlformats.org/drawingml/2006/main">
              <a:ext uri="{FF2B5EF4-FFF2-40B4-BE49-F238E27FC236}">
                <a16:creationId xmlns:a16="http://schemas.microsoft.com/office/drawing/2014/main" id="{98FF6A2D-5946-4FDE-8222-B643D88B4B23}"/>
              </a:ext>
            </a:extLst>
          </p:cNvPr>
          <p:cNvSpPr>
            <a:spLocks xmlns:a="http://schemas.openxmlformats.org/drawingml/2006/main" noGrp="1"/>
          </p:cNvSpPr>
          <p:nvPr/>
        </p:nvSpPr>
        <p:spPr>
          <a:xfrm xmlns:a="http://schemas.openxmlformats.org/drawingml/2006/main">
            <a:off x="5657850" y="2343150"/>
            <a:ext cx="2114550" cy="1314450"/>
          </a:xfrm>
          <a:prstGeom xmlns:a="http://schemas.openxmlformats.org/drawingml/2006/main" prst="roundRect">
            <a:avLst>
              <a:gd name="adj" fmla="val 5797"/>
            </a:avLst>
          </a:prstGeom>
          <a:solidFill xmlns:a="http://schemas.openxmlformats.org/drawingml/2006/main">
            <a:srgbClr val="DFF5F1"/>
          </a:solidFill>
          <a:ln xmlns:a="http://schemas.openxmlformats.org/drawingml/2006/main" w="0">
            <a:prstDash val="solid"/>
          </a:ln>
        </p:spPr>
      </p:sp>
      <p:sp>
        <p:nvSpPr>
          <p:cNvPr id="17" name="">
            <a:extLst xmlns:a="http://schemas.openxmlformats.org/drawingml/2006/main">
              <a:ext uri="{FF2B5EF4-FFF2-40B4-BE49-F238E27FC236}">
                <a16:creationId xmlns:a16="http://schemas.microsoft.com/office/drawing/2014/main" id="{5D832CD1-66AB-41CA-972F-1CEA62AFEE89}"/>
              </a:ext>
            </a:extLst>
          </p:cNvPr>
          <p:cNvSpPr>
            <a:spLocks xmlns:a="http://schemas.openxmlformats.org/drawingml/2006/main" noGrp="1"/>
          </p:cNvSpPr>
          <p:nvPr/>
        </p:nvSpPr>
        <p:spPr>
          <a:xfrm xmlns:a="http://schemas.openxmlformats.org/drawingml/2006/main">
            <a:off x="5829300" y="2514600"/>
            <a:ext cx="381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766E"/>
                </a:solidFill>
                <a:latin typeface="Georgia"/>
                <a:ea typeface="Georgia"/>
                <a:cs typeface="Georgia"/>
              </a:defRPr>
            </a:pPr>
            <a:r>
              <a:rPr sz="2100" b="1">
                <a:solidFill>
                  <a:srgbClr val="0F766E"/>
                </a:solidFill>
                <a:latin typeface="Georgia"/>
                <a:ea typeface="Georgia"/>
                <a:cs typeface="Georgia"/>
              </a:rPr>
              <a:t>3</a:t>
            </a:r>
          </a:p>
        </p:txBody>
      </p:sp>
      <p:sp>
        <p:nvSpPr>
          <p:cNvPr id="18" name="">
            <a:extLst xmlns:a="http://schemas.openxmlformats.org/drawingml/2006/main">
              <a:ext uri="{FF2B5EF4-FFF2-40B4-BE49-F238E27FC236}">
                <a16:creationId xmlns:a16="http://schemas.microsoft.com/office/drawing/2014/main" id="{145837D9-D579-4D7F-8146-F2C1297D30E2}"/>
              </a:ext>
            </a:extLst>
          </p:cNvPr>
          <p:cNvSpPr>
            <a:spLocks xmlns:a="http://schemas.openxmlformats.org/drawingml/2006/main" noGrp="1"/>
          </p:cNvSpPr>
          <p:nvPr/>
        </p:nvSpPr>
        <p:spPr>
          <a:xfrm xmlns:a="http://schemas.openxmlformats.org/drawingml/2006/main">
            <a:off x="6305550" y="2552700"/>
            <a:ext cx="1219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D2430"/>
                </a:solidFill>
                <a:latin typeface="Avenir Next"/>
                <a:ea typeface="Avenir Next"/>
                <a:cs typeface="Avenir Next"/>
              </a:defRPr>
            </a:pPr>
            <a:r>
              <a:rPr sz="1125" b="1">
                <a:solidFill>
                  <a:srgbClr val="1D2430"/>
                </a:solidFill>
                <a:latin typeface="Avenir Next"/>
                <a:ea typeface="Avenir Next"/>
                <a:cs typeface="Avenir Next"/>
              </a:rPr>
              <a:t>Wiki page</a:t>
            </a:r>
          </a:p>
        </p:txBody>
      </p:sp>
      <p:sp>
        <p:nvSpPr>
          <p:cNvPr id="19" name="">
            <a:extLst xmlns:a="http://schemas.openxmlformats.org/drawingml/2006/main">
              <a:ext uri="{FF2B5EF4-FFF2-40B4-BE49-F238E27FC236}">
                <a16:creationId xmlns:a16="http://schemas.microsoft.com/office/drawing/2014/main" id="{E56F287D-CF20-43AB-8921-25C8D8FF6349}"/>
              </a:ext>
            </a:extLst>
          </p:cNvPr>
          <p:cNvSpPr>
            <a:spLocks xmlns:a="http://schemas.openxmlformats.org/drawingml/2006/main" noGrp="1"/>
          </p:cNvSpPr>
          <p:nvPr/>
        </p:nvSpPr>
        <p:spPr>
          <a:xfrm xmlns:a="http://schemas.openxmlformats.org/drawingml/2006/main">
            <a:off x="5829300" y="3009900"/>
            <a:ext cx="17716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84"/>
                </a:solidFill>
                <a:latin typeface="Avenir Next"/>
                <a:ea typeface="Avenir Next"/>
                <a:cs typeface="Avenir Next"/>
              </a:defRPr>
            </a:pPr>
            <a:r>
              <a:rPr sz="863" b="0">
                <a:solidFill>
                  <a:srgbClr val="657084"/>
                </a:solidFill>
                <a:latin typeface="Avenir Next"/>
                <a:ea typeface="Avenir Next"/>
                <a:cs typeface="Avenir Next"/>
              </a:rPr>
              <a:t>A cross-linked, readable page joins the knowledge base.</a:t>
            </a:r>
          </a:p>
        </p:txBody>
      </p:sp>
      <p:sp>
        <p:nvSpPr>
          <p:cNvPr id="20" name="">
            <a:extLst xmlns:a="http://schemas.openxmlformats.org/drawingml/2006/main">
              <a:ext uri="{FF2B5EF4-FFF2-40B4-BE49-F238E27FC236}">
                <a16:creationId xmlns:a16="http://schemas.microsoft.com/office/drawing/2014/main" id="{D37E5AFB-AD93-461F-82F0-5D3FA36CC720}"/>
              </a:ext>
            </a:extLst>
          </p:cNvPr>
          <p:cNvSpPr>
            <a:spLocks xmlns:a="http://schemas.openxmlformats.org/drawingml/2006/main" noGrp="1"/>
          </p:cNvSpPr>
          <p:nvPr/>
        </p:nvSpPr>
        <p:spPr>
          <a:xfrm xmlns:a="http://schemas.openxmlformats.org/drawingml/2006/main">
            <a:off x="8134350" y="2343150"/>
            <a:ext cx="2114550" cy="1314450"/>
          </a:xfrm>
          <a:prstGeom xmlns:a="http://schemas.openxmlformats.org/drawingml/2006/main" prst="roundRect">
            <a:avLst>
              <a:gd name="adj" fmla="val 5797"/>
            </a:avLst>
          </a:prstGeom>
          <a:solidFill xmlns:a="http://schemas.openxmlformats.org/drawingml/2006/main">
            <a:srgbClr val="DFF5F1"/>
          </a:solidFill>
          <a:ln xmlns:a="http://schemas.openxmlformats.org/drawingml/2006/main" w="0">
            <a:prstDash val="solid"/>
          </a:ln>
        </p:spPr>
      </p:sp>
      <p:sp>
        <p:nvSpPr>
          <p:cNvPr id="21" name="">
            <a:extLst xmlns:a="http://schemas.openxmlformats.org/drawingml/2006/main">
              <a:ext uri="{FF2B5EF4-FFF2-40B4-BE49-F238E27FC236}">
                <a16:creationId xmlns:a16="http://schemas.microsoft.com/office/drawing/2014/main" id="{4698060F-B677-41ED-83A9-287B9825CED0}"/>
              </a:ext>
            </a:extLst>
          </p:cNvPr>
          <p:cNvSpPr>
            <a:spLocks xmlns:a="http://schemas.openxmlformats.org/drawingml/2006/main" noGrp="1"/>
          </p:cNvSpPr>
          <p:nvPr/>
        </p:nvSpPr>
        <p:spPr>
          <a:xfrm xmlns:a="http://schemas.openxmlformats.org/drawingml/2006/main">
            <a:off x="8305800" y="2514600"/>
            <a:ext cx="381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F766E"/>
                </a:solidFill>
                <a:latin typeface="Georgia"/>
                <a:ea typeface="Georgia"/>
                <a:cs typeface="Georgia"/>
              </a:defRPr>
            </a:pPr>
            <a:r>
              <a:rPr sz="2100" b="1">
                <a:solidFill>
                  <a:srgbClr val="0F766E"/>
                </a:solidFill>
                <a:latin typeface="Georgia"/>
                <a:ea typeface="Georgia"/>
                <a:cs typeface="Georgia"/>
              </a:rPr>
              <a:t>4</a:t>
            </a:r>
          </a:p>
        </p:txBody>
      </p:sp>
      <p:sp>
        <p:nvSpPr>
          <p:cNvPr id="22" name="">
            <a:extLst xmlns:a="http://schemas.openxmlformats.org/drawingml/2006/main">
              <a:ext uri="{FF2B5EF4-FFF2-40B4-BE49-F238E27FC236}">
                <a16:creationId xmlns:a16="http://schemas.microsoft.com/office/drawing/2014/main" id="{B2CAAE0E-4E2D-40E0-BC09-6828190309A2}"/>
              </a:ext>
            </a:extLst>
          </p:cNvPr>
          <p:cNvSpPr>
            <a:spLocks xmlns:a="http://schemas.openxmlformats.org/drawingml/2006/main" noGrp="1"/>
          </p:cNvSpPr>
          <p:nvPr/>
        </p:nvSpPr>
        <p:spPr>
          <a:xfrm xmlns:a="http://schemas.openxmlformats.org/drawingml/2006/main">
            <a:off x="8782050" y="2552700"/>
            <a:ext cx="1219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D2430"/>
                </a:solidFill>
                <a:latin typeface="Avenir Next"/>
                <a:ea typeface="Avenir Next"/>
                <a:cs typeface="Avenir Next"/>
              </a:defRPr>
            </a:pPr>
            <a:r>
              <a:rPr sz="1125" b="1">
                <a:solidFill>
                  <a:srgbClr val="1D2430"/>
                </a:solidFill>
                <a:latin typeface="Avenir Next"/>
                <a:ea typeface="Avenir Next"/>
                <a:cs typeface="Avenir Next"/>
              </a:rPr>
              <a:t>Overview</a:t>
            </a:r>
          </a:p>
        </p:txBody>
      </p:sp>
      <p:sp>
        <p:nvSpPr>
          <p:cNvPr id="23" name="">
            <a:extLst xmlns:a="http://schemas.openxmlformats.org/drawingml/2006/main">
              <a:ext uri="{FF2B5EF4-FFF2-40B4-BE49-F238E27FC236}">
                <a16:creationId xmlns:a16="http://schemas.microsoft.com/office/drawing/2014/main" id="{5CF52C03-FFFA-408F-8669-9B52BF5A6249}"/>
              </a:ext>
            </a:extLst>
          </p:cNvPr>
          <p:cNvSpPr>
            <a:spLocks xmlns:a="http://schemas.openxmlformats.org/drawingml/2006/main" noGrp="1"/>
          </p:cNvSpPr>
          <p:nvPr/>
        </p:nvSpPr>
        <p:spPr>
          <a:xfrm xmlns:a="http://schemas.openxmlformats.org/drawingml/2006/main">
            <a:off x="8305800" y="3009900"/>
            <a:ext cx="17716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84"/>
                </a:solidFill>
                <a:latin typeface="Avenir Next"/>
                <a:ea typeface="Avenir Next"/>
                <a:cs typeface="Avenir Next"/>
              </a:defRPr>
            </a:pPr>
            <a:r>
              <a:rPr sz="863" b="0">
                <a:solidFill>
                  <a:srgbClr val="657084"/>
                </a:solidFill>
                <a:latin typeface="Avenir Next"/>
                <a:ea typeface="Avenir Next"/>
                <a:cs typeface="Avenir Next"/>
              </a:rPr>
              <a:t>Multiple papers become durable synthesis.</a:t>
            </a:r>
          </a:p>
        </p:txBody>
      </p:sp>
      <p:sp>
        <p:nvSpPr>
          <p:cNvPr id="24" name="">
            <a:extLst xmlns:a="http://schemas.openxmlformats.org/drawingml/2006/main">
              <a:ext uri="{FF2B5EF4-FFF2-40B4-BE49-F238E27FC236}">
                <a16:creationId xmlns:a16="http://schemas.microsoft.com/office/drawing/2014/main" id="{09A0A3FA-DDCB-4118-BB60-F1BF7FD71209}"/>
              </a:ext>
            </a:extLst>
          </p:cNvPr>
          <p:cNvSpPr>
            <a:spLocks xmlns:a="http://schemas.openxmlformats.org/drawingml/2006/main" noGrp="1"/>
          </p:cNvSpPr>
          <p:nvPr/>
        </p:nvSpPr>
        <p:spPr>
          <a:xfrm xmlns:a="http://schemas.openxmlformats.org/drawingml/2006/main">
            <a:off x="1752600" y="4362450"/>
            <a:ext cx="8382000" cy="28575"/>
          </a:xfrm>
          <a:prstGeom xmlns:a="http://schemas.openxmlformats.org/drawingml/2006/main" prst="rect">
            <a:avLst/>
          </a:prstGeom>
          <a:solidFill xmlns:a="http://schemas.openxmlformats.org/drawingml/2006/main">
            <a:srgbClr val="0F766E"/>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C2D5BE72-EDB2-4238-8C2B-F4E9B741AA9A}"/>
              </a:ext>
            </a:extLst>
          </p:cNvPr>
          <p:cNvSpPr>
            <a:spLocks xmlns:a="http://schemas.openxmlformats.org/drawingml/2006/main" noGrp="1"/>
          </p:cNvSpPr>
          <p:nvPr/>
        </p:nvSpPr>
        <p:spPr>
          <a:xfrm xmlns:a="http://schemas.openxmlformats.org/drawingml/2006/main">
            <a:off x="1428750" y="4953000"/>
            <a:ext cx="2286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766E"/>
                </a:solidFill>
                <a:latin typeface="Avenir Next"/>
                <a:ea typeface="Avenir Next"/>
                <a:cs typeface="Avenir Next"/>
              </a:defRPr>
            </a:pPr>
            <a:r>
              <a:rPr sz="1200" b="1">
                <a:solidFill>
                  <a:srgbClr val="0F766E"/>
                </a:solidFill>
                <a:latin typeface="Avenir Next"/>
                <a:ea typeface="Avenir Next"/>
                <a:cs typeface="Avenir Next"/>
              </a:rPr>
              <a:t>What belongs here</a:t>
            </a:r>
          </a:p>
        </p:txBody>
      </p:sp>
      <p:sp>
        <p:nvSpPr>
          <p:cNvPr id="26" name="">
            <a:extLst xmlns:a="http://schemas.openxmlformats.org/drawingml/2006/main">
              <a:ext uri="{FF2B5EF4-FFF2-40B4-BE49-F238E27FC236}">
                <a16:creationId xmlns:a16="http://schemas.microsoft.com/office/drawing/2014/main" id="{282D7B02-BFE0-4F65-B928-99CC384E6B11}"/>
              </a:ext>
            </a:extLst>
          </p:cNvPr>
          <p:cNvSpPr>
            <a:spLocks xmlns:a="http://schemas.openxmlformats.org/drawingml/2006/main" noGrp="1"/>
          </p:cNvSpPr>
          <p:nvPr/>
        </p:nvSpPr>
        <p:spPr>
          <a:xfrm xmlns:a="http://schemas.openxmlformats.org/drawingml/2006/main">
            <a:off x="1428750" y="5257800"/>
            <a:ext cx="4191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57084"/>
                </a:solidFill>
                <a:latin typeface="Avenir Next"/>
                <a:ea typeface="Avenir Next"/>
                <a:cs typeface="Avenir Next"/>
              </a:defRPr>
            </a:pPr>
            <a:r>
              <a:rPr sz="1050" b="0">
                <a:solidFill>
                  <a:srgbClr val="657084"/>
                </a:solidFill>
                <a:latin typeface="Avenir Next"/>
                <a:ea typeface="Avenir Next"/>
                <a:cs typeface="Avenir Next"/>
              </a:rPr>
              <a:t>Paper facts, methods, results, limitations, conceptual links, and cross-paper syntheses.</a:t>
            </a:r>
          </a:p>
        </p:txBody>
      </p:sp>
      <p:sp>
        <p:nvSpPr>
          <p:cNvPr id="27" name="">
            <a:extLst xmlns:a="http://schemas.openxmlformats.org/drawingml/2006/main">
              <a:ext uri="{FF2B5EF4-FFF2-40B4-BE49-F238E27FC236}">
                <a16:creationId xmlns:a16="http://schemas.microsoft.com/office/drawing/2014/main" id="{FD9C6444-D9B2-4C94-A5C8-05FB7D982CE7}"/>
              </a:ext>
            </a:extLst>
          </p:cNvPr>
          <p:cNvSpPr>
            <a:spLocks xmlns:a="http://schemas.openxmlformats.org/drawingml/2006/main" noGrp="1"/>
          </p:cNvSpPr>
          <p:nvPr/>
        </p:nvSpPr>
        <p:spPr>
          <a:xfrm xmlns:a="http://schemas.openxmlformats.org/drawingml/2006/main">
            <a:off x="6572250" y="4953000"/>
            <a:ext cx="2286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B42318"/>
                </a:solidFill>
                <a:latin typeface="Avenir Next"/>
                <a:ea typeface="Avenir Next"/>
                <a:cs typeface="Avenir Next"/>
              </a:defRPr>
            </a:pPr>
            <a:r>
              <a:rPr sz="1200" b="1">
                <a:solidFill>
                  <a:srgbClr val="B42318"/>
                </a:solidFill>
                <a:latin typeface="Avenir Next"/>
                <a:ea typeface="Avenir Next"/>
                <a:cs typeface="Avenir Next"/>
              </a:rPr>
              <a:t>What stays out</a:t>
            </a:r>
          </a:p>
        </p:txBody>
      </p:sp>
      <p:sp>
        <p:nvSpPr>
          <p:cNvPr id="28" name="">
            <a:extLst xmlns:a="http://schemas.openxmlformats.org/drawingml/2006/main">
              <a:ext uri="{FF2B5EF4-FFF2-40B4-BE49-F238E27FC236}">
                <a16:creationId xmlns:a16="http://schemas.microsoft.com/office/drawing/2014/main" id="{09AFE57A-7328-4E31-A279-11E688E1A1BC}"/>
              </a:ext>
            </a:extLst>
          </p:cNvPr>
          <p:cNvSpPr>
            <a:spLocks xmlns:a="http://schemas.openxmlformats.org/drawingml/2006/main" noGrp="1"/>
          </p:cNvSpPr>
          <p:nvPr/>
        </p:nvSpPr>
        <p:spPr>
          <a:xfrm xmlns:a="http://schemas.openxmlformats.org/drawingml/2006/main">
            <a:off x="6572250" y="5257800"/>
            <a:ext cx="4095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57084"/>
                </a:solidFill>
                <a:latin typeface="Avenir Next"/>
                <a:ea typeface="Avenir Next"/>
                <a:cs typeface="Avenir Next"/>
              </a:defRPr>
            </a:pPr>
            <a:r>
              <a:rPr sz="1050" b="0">
                <a:solidFill>
                  <a:srgbClr val="657084"/>
                </a:solidFill>
                <a:latin typeface="Avenir Next"/>
                <a:ea typeface="Avenir Next"/>
                <a:cs typeface="Avenir Next"/>
              </a:rPr>
              <a:t>Draft-specific arguments, unreviewed hunches, triage opinions, and project strategy.</a:t>
            </a:r>
          </a:p>
        </p:txBody>
      </p:sp>
      <p:sp>
        <p:nvSpPr>
          <p:cNvPr id="29" name="">
            <a:extLst xmlns:a="http://schemas.openxmlformats.org/drawingml/2006/main">
              <a:ext uri="{FF2B5EF4-FFF2-40B4-BE49-F238E27FC236}">
                <a16:creationId xmlns:a16="http://schemas.microsoft.com/office/drawing/2014/main" id="{4428980C-EF35-42A0-B293-957058938DB5}"/>
              </a:ext>
            </a:extLst>
          </p:cNvPr>
          <p:cNvSpPr>
            <a:spLocks xmlns:a="http://schemas.openxmlformats.org/drawingml/2006/main" noGrp="1"/>
          </p:cNvSpPr>
          <p:nvPr/>
        </p:nvSpPr>
        <p:spPr>
          <a:xfrm xmlns:a="http://schemas.openxmlformats.org/drawingml/2006/main">
            <a:off x="552450" y="6305550"/>
            <a:ext cx="11087100" cy="9525"/>
          </a:xfrm>
          <a:prstGeom xmlns:a="http://schemas.openxmlformats.org/drawingml/2006/main" prst="rect">
            <a:avLst/>
          </a:prstGeom>
          <a:solidFill xmlns:a="http://schemas.openxmlformats.org/drawingml/2006/main">
            <a:srgbClr val="D8DEE8"/>
          </a:solidFill>
          <a:ln xmlns:a="http://schemas.openxmlformats.org/drawingml/2006/main" w="0">
            <a:prstDash val="solid"/>
          </a:ln>
        </p:spPr>
      </p:sp>
      <p:sp>
        <p:nvSpPr>
          <p:cNvPr id="30" name="">
            <a:extLst xmlns:a="http://schemas.openxmlformats.org/drawingml/2006/main">
              <a:ext uri="{FF2B5EF4-FFF2-40B4-BE49-F238E27FC236}">
                <a16:creationId xmlns:a16="http://schemas.microsoft.com/office/drawing/2014/main" id="{2E82C43E-BF5A-4CA8-8D44-5C850D80C022}"/>
              </a:ext>
            </a:extLst>
          </p:cNvPr>
          <p:cNvSpPr>
            <a:spLocks xmlns:a="http://schemas.openxmlformats.org/drawingml/2006/main" noGrp="1"/>
          </p:cNvSpPr>
          <p:nvPr/>
        </p:nvSpPr>
        <p:spPr>
          <a:xfrm xmlns:a="http://schemas.openxmlformats.org/drawingml/2006/main">
            <a:off x="552450" y="6438900"/>
            <a:ext cx="666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Library outputs should survive project turnover.</a:t>
            </a:r>
          </a:p>
        </p:txBody>
      </p:sp>
      <p:sp>
        <p:nvSpPr>
          <p:cNvPr id="31" name="">
            <a:extLst xmlns:a="http://schemas.openxmlformats.org/drawingml/2006/main">
              <a:ext uri="{FF2B5EF4-FFF2-40B4-BE49-F238E27FC236}">
                <a16:creationId xmlns:a16="http://schemas.microsoft.com/office/drawing/2014/main" id="{F9D598CD-8F94-4F6B-AA77-25EEF7451775}"/>
              </a:ext>
            </a:extLst>
          </p:cNvPr>
          <p:cNvSpPr>
            <a:spLocks xmlns:a="http://schemas.openxmlformats.org/drawingml/2006/main" noGrp="1"/>
          </p:cNvSpPr>
          <p:nvPr/>
        </p:nvSpPr>
        <p:spPr>
          <a:xfrm xmlns:a="http://schemas.openxmlformats.org/drawingml/2006/main">
            <a:off x="9239250" y="6438900"/>
            <a:ext cx="2400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Project_management_system</a:t>
            </a:r>
          </a:p>
        </p:txBody>
      </p:sp>
    </p:spTree>
    <p:extLst>
      <p:ext uri="{BB962C8B-B14F-4D97-AF65-F5344CB8AC3E}">
        <p14:creationId xmlns:p14="http://schemas.microsoft.com/office/powerpoint/2010/main" val="1767866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7D0764F-B38A-48C7-A374-FA71EC46B3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2" name="">
            <a:extLst xmlns:a="http://schemas.openxmlformats.org/drawingml/2006/main">
              <a:ext uri="{FF2B5EF4-FFF2-40B4-BE49-F238E27FC236}">
                <a16:creationId xmlns:a16="http://schemas.microsoft.com/office/drawing/2014/main" id="{37033E37-4A70-4E9B-87F0-958264FD6E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prstDash val="solid"/>
          </a:ln>
        </p:spPr>
      </p:sp>
      <p:sp>
        <p:nvSpPr>
          <p:cNvPr id="3" name="">
            <a:extLst xmlns:a="http://schemas.openxmlformats.org/drawingml/2006/main">
              <a:ext uri="{FF2B5EF4-FFF2-40B4-BE49-F238E27FC236}">
                <a16:creationId xmlns:a16="http://schemas.microsoft.com/office/drawing/2014/main" id="{5B26DF45-F357-45DE-9304-02277B41BB36}"/>
              </a:ext>
            </a:extLst>
          </p:cNvPr>
          <p:cNvSpPr>
            <a:spLocks xmlns:a="http://schemas.openxmlformats.org/drawingml/2006/main" noGrp="1"/>
          </p:cNvSpPr>
          <p:nvPr/>
        </p:nvSpPr>
        <p:spPr>
          <a:xfrm xmlns:a="http://schemas.openxmlformats.org/drawingml/2006/main">
            <a:off x="0" y="0"/>
            <a:ext cx="12192000" cy="12192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4" name="">
            <a:extLst xmlns:a="http://schemas.openxmlformats.org/drawingml/2006/main">
              <a:ext uri="{FF2B5EF4-FFF2-40B4-BE49-F238E27FC236}">
                <a16:creationId xmlns:a16="http://schemas.microsoft.com/office/drawing/2014/main" id="{01F1C3B1-2491-4747-AB3B-923FDA318634}"/>
              </a:ext>
            </a:extLst>
          </p:cNvPr>
          <p:cNvSpPr>
            <a:spLocks xmlns:a="http://schemas.openxmlformats.org/drawingml/2006/main" noGrp="1"/>
          </p:cNvSpPr>
          <p:nvPr/>
        </p:nvSpPr>
        <p:spPr>
          <a:xfrm xmlns:a="http://schemas.openxmlformats.org/drawingml/2006/main">
            <a:off x="552450" y="514350"/>
            <a:ext cx="438150" cy="38100"/>
          </a:xfrm>
          <a:prstGeom xmlns:a="http://schemas.openxmlformats.org/drawingml/2006/main" prst="rect">
            <a:avLst/>
          </a:prstGeom>
          <a:solidFill xmlns:a="http://schemas.openxmlformats.org/drawingml/2006/main">
            <a:srgbClr val="0F766E"/>
          </a:solidFill>
          <a:ln xmlns:a="http://schemas.openxmlformats.org/drawingml/2006/main" w="0">
            <a:prstDash val="solid"/>
          </a:ln>
        </p:spPr>
      </p:sp>
      <p:sp>
        <p:nvSpPr>
          <p:cNvPr id="5" name="kicker-4-label">
            <a:extLst xmlns:a="http://schemas.openxmlformats.org/drawingml/2006/main">
              <a:ext uri="{FF2B5EF4-FFF2-40B4-BE49-F238E27FC236}">
                <a16:creationId xmlns:a16="http://schemas.microsoft.com/office/drawing/2014/main" id="{759A3EDB-6E94-4EC1-8AE5-07C0FCAFAEEC}"/>
              </a:ext>
            </a:extLst>
          </p:cNvPr>
          <p:cNvSpPr>
            <a:spLocks xmlns:a="http://schemas.openxmlformats.org/drawingml/2006/main" noGrp="1"/>
          </p:cNvSpPr>
          <p:nvPr/>
        </p:nvSpPr>
        <p:spPr>
          <a:xfrm xmlns:a="http://schemas.openxmlformats.org/drawingml/2006/main">
            <a:off x="1104900" y="428625"/>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825" b="1">
                <a:solidFill>
                  <a:srgbClr val="0F766E"/>
                </a:solidFill>
                <a:latin typeface="Avenir Next"/>
                <a:ea typeface="Avenir Next"/>
                <a:cs typeface="Avenir Next"/>
              </a:defRPr>
            </a:pPr>
            <a:r>
              <a:rPr sz="825" b="1">
                <a:solidFill>
                  <a:srgbClr val="0F766E"/>
                </a:solidFill>
                <a:latin typeface="Avenir Next"/>
                <a:ea typeface="Avenir Next"/>
                <a:cs typeface="Avenir Next"/>
              </a:rPr>
              <a:t>IDEA / EXPLORATION</a:t>
            </a:r>
          </a:p>
        </p:txBody>
      </p:sp>
      <p:sp>
        <p:nvSpPr>
          <p:cNvPr id="6" name="">
            <a:extLst xmlns:a="http://schemas.openxmlformats.org/drawingml/2006/main">
              <a:ext uri="{FF2B5EF4-FFF2-40B4-BE49-F238E27FC236}">
                <a16:creationId xmlns:a16="http://schemas.microsoft.com/office/drawing/2014/main" id="{F72E6093-833F-4171-88FA-4EB377606002}"/>
              </a:ext>
            </a:extLst>
          </p:cNvPr>
          <p:cNvSpPr>
            <a:spLocks xmlns:a="http://schemas.openxmlformats.org/drawingml/2006/main" noGrp="1"/>
          </p:cNvSpPr>
          <p:nvPr/>
        </p:nvSpPr>
        <p:spPr>
          <a:xfrm xmlns:a="http://schemas.openxmlformats.org/drawingml/2006/main">
            <a:off x="11049000" y="428625"/>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57084"/>
                </a:solidFill>
                <a:latin typeface="Avenir Next"/>
                <a:ea typeface="Avenir Next"/>
                <a:cs typeface="Avenir Next"/>
              </a:defRPr>
            </a:pPr>
            <a:r>
              <a:rPr sz="825" b="1">
                <a:solidFill>
                  <a:srgbClr val="657084"/>
                </a:solidFill>
                <a:latin typeface="Avenir Next"/>
                <a:ea typeface="Avenir Next"/>
                <a:cs typeface="Avenir Next"/>
              </a:rPr>
              <a:t>04</a:t>
            </a:r>
          </a:p>
        </p:txBody>
      </p:sp>
      <p:sp>
        <p:nvSpPr>
          <p:cNvPr id="7" name="">
            <a:extLst xmlns:a="http://schemas.openxmlformats.org/drawingml/2006/main">
              <a:ext uri="{FF2B5EF4-FFF2-40B4-BE49-F238E27FC236}">
                <a16:creationId xmlns:a16="http://schemas.microsoft.com/office/drawing/2014/main" id="{FCA421F6-EB11-460B-9600-63B36D30ADC0}"/>
              </a:ext>
            </a:extLst>
          </p:cNvPr>
          <p:cNvSpPr>
            <a:spLocks xmlns:a="http://schemas.openxmlformats.org/drawingml/2006/main" noGrp="1"/>
          </p:cNvSpPr>
          <p:nvPr/>
        </p:nvSpPr>
        <p:spPr>
          <a:xfrm xmlns:a="http://schemas.openxmlformats.org/drawingml/2006/main">
            <a:off x="552450" y="876300"/>
            <a:ext cx="8858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D2430"/>
                </a:solidFill>
                <a:latin typeface="Georgia"/>
                <a:ea typeface="Georgia"/>
                <a:cs typeface="Georgia"/>
              </a:defRPr>
            </a:pPr>
            <a:r>
              <a:rPr sz="2550" b="1">
                <a:solidFill>
                  <a:srgbClr val="1D2430"/>
                </a:solidFill>
                <a:latin typeface="Georgia"/>
                <a:ea typeface="Georgia"/>
                <a:cs typeface="Georgia"/>
              </a:rPr>
              <a:t>Exploration is the incubator between conversation and commitment.</a:t>
            </a:r>
          </a:p>
        </p:txBody>
      </p:sp>
      <p:sp>
        <p:nvSpPr>
          <p:cNvPr id="8" name="">
            <a:extLst xmlns:a="http://schemas.openxmlformats.org/drawingml/2006/main">
              <a:ext uri="{FF2B5EF4-FFF2-40B4-BE49-F238E27FC236}">
                <a16:creationId xmlns:a16="http://schemas.microsoft.com/office/drawing/2014/main" id="{27A4A116-FF77-4BD7-AF2B-8C20A260E5E0}"/>
              </a:ext>
            </a:extLst>
          </p:cNvPr>
          <p:cNvSpPr>
            <a:spLocks xmlns:a="http://schemas.openxmlformats.org/drawingml/2006/main" noGrp="1"/>
          </p:cNvSpPr>
          <p:nvPr/>
        </p:nvSpPr>
        <p:spPr>
          <a:xfrm xmlns:a="http://schemas.openxmlformats.org/drawingml/2006/main">
            <a:off x="781050" y="2286000"/>
            <a:ext cx="2114550" cy="1314450"/>
          </a:xfrm>
          <a:prstGeom xmlns:a="http://schemas.openxmlformats.org/drawingml/2006/main" prst="roundRect">
            <a:avLst>
              <a:gd name="adj" fmla="val 5797"/>
            </a:avLst>
          </a:prstGeom>
          <a:solidFill xmlns:a="http://schemas.openxmlformats.org/drawingml/2006/main">
            <a:srgbClr val="FFF3D4"/>
          </a:solidFill>
          <a:ln xmlns:a="http://schemas.openxmlformats.org/drawingml/2006/main" w="0">
            <a:prstDash val="solid"/>
          </a:ln>
        </p:spPr>
      </p:sp>
      <p:sp>
        <p:nvSpPr>
          <p:cNvPr id="9" name="">
            <a:extLst xmlns:a="http://schemas.openxmlformats.org/drawingml/2006/main">
              <a:ext uri="{FF2B5EF4-FFF2-40B4-BE49-F238E27FC236}">
                <a16:creationId xmlns:a16="http://schemas.microsoft.com/office/drawing/2014/main" id="{E3B39664-F548-42C0-98AE-B29071A9717C}"/>
              </a:ext>
            </a:extLst>
          </p:cNvPr>
          <p:cNvSpPr>
            <a:spLocks xmlns:a="http://schemas.openxmlformats.org/drawingml/2006/main" noGrp="1"/>
          </p:cNvSpPr>
          <p:nvPr/>
        </p:nvSpPr>
        <p:spPr>
          <a:xfrm xmlns:a="http://schemas.openxmlformats.org/drawingml/2006/main">
            <a:off x="952500" y="2457450"/>
            <a:ext cx="381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B45309"/>
                </a:solidFill>
                <a:latin typeface="Georgia"/>
                <a:ea typeface="Georgia"/>
                <a:cs typeface="Georgia"/>
              </a:defRPr>
            </a:pPr>
            <a:r>
              <a:rPr sz="2100" b="1">
                <a:solidFill>
                  <a:srgbClr val="B45309"/>
                </a:solidFill>
                <a:latin typeface="Georgia"/>
                <a:ea typeface="Georgia"/>
                <a:cs typeface="Georgia"/>
              </a:rPr>
              <a:t>A</a:t>
            </a:r>
          </a:p>
        </p:txBody>
      </p:sp>
      <p:sp>
        <p:nvSpPr>
          <p:cNvPr id="10" name="">
            <a:extLst xmlns:a="http://schemas.openxmlformats.org/drawingml/2006/main">
              <a:ext uri="{FF2B5EF4-FFF2-40B4-BE49-F238E27FC236}">
                <a16:creationId xmlns:a16="http://schemas.microsoft.com/office/drawing/2014/main" id="{F213532E-B40C-4AA8-AC68-07B05637D067}"/>
              </a:ext>
            </a:extLst>
          </p:cNvPr>
          <p:cNvSpPr>
            <a:spLocks xmlns:a="http://schemas.openxmlformats.org/drawingml/2006/main" noGrp="1"/>
          </p:cNvSpPr>
          <p:nvPr/>
        </p:nvSpPr>
        <p:spPr>
          <a:xfrm xmlns:a="http://schemas.openxmlformats.org/drawingml/2006/main">
            <a:off x="1428750" y="2495550"/>
            <a:ext cx="1219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D2430"/>
                </a:solidFill>
                <a:latin typeface="Avenir Next"/>
                <a:ea typeface="Avenir Next"/>
                <a:cs typeface="Avenir Next"/>
              </a:defRPr>
            </a:pPr>
            <a:r>
              <a:rPr sz="1125" b="1">
                <a:solidFill>
                  <a:srgbClr val="1D2430"/>
                </a:solidFill>
                <a:latin typeface="Avenir Next"/>
                <a:ea typeface="Avenir Next"/>
                <a:cs typeface="Avenir Next"/>
              </a:rPr>
              <a:t>Idea note</a:t>
            </a:r>
          </a:p>
        </p:txBody>
      </p:sp>
      <p:sp>
        <p:nvSpPr>
          <p:cNvPr id="11" name="">
            <a:extLst xmlns:a="http://schemas.openxmlformats.org/drawingml/2006/main">
              <a:ext uri="{FF2B5EF4-FFF2-40B4-BE49-F238E27FC236}">
                <a16:creationId xmlns:a16="http://schemas.microsoft.com/office/drawing/2014/main" id="{7F2247DF-22EE-44A4-A5E8-68FF3317CC12}"/>
              </a:ext>
            </a:extLst>
          </p:cNvPr>
          <p:cNvSpPr>
            <a:spLocks xmlns:a="http://schemas.openxmlformats.org/drawingml/2006/main" noGrp="1"/>
          </p:cNvSpPr>
          <p:nvPr/>
        </p:nvSpPr>
        <p:spPr>
          <a:xfrm xmlns:a="http://schemas.openxmlformats.org/drawingml/2006/main">
            <a:off x="952500" y="2952750"/>
            <a:ext cx="17716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84"/>
                </a:solidFill>
                <a:latin typeface="Avenir Next"/>
                <a:ea typeface="Avenir Next"/>
                <a:cs typeface="Avenir Next"/>
              </a:defRPr>
            </a:pPr>
            <a:r>
              <a:rPr sz="863" b="0">
                <a:solidFill>
                  <a:srgbClr val="657084"/>
                </a:solidFill>
                <a:latin typeface="Avenir Next"/>
                <a:ea typeface="Avenir Next"/>
                <a:cs typeface="Avenir Next"/>
              </a:rPr>
              <a:t>Evolving summary of a discussion. No transcript dump.</a:t>
            </a:r>
          </a:p>
        </p:txBody>
      </p:sp>
      <p:sp>
        <p:nvSpPr>
          <p:cNvPr id="12" name="">
            <a:extLst xmlns:a="http://schemas.openxmlformats.org/drawingml/2006/main">
              <a:ext uri="{FF2B5EF4-FFF2-40B4-BE49-F238E27FC236}">
                <a16:creationId xmlns:a16="http://schemas.microsoft.com/office/drawing/2014/main" id="{11CB0E80-DF80-49AB-BF3E-AD90457515D6}"/>
              </a:ext>
            </a:extLst>
          </p:cNvPr>
          <p:cNvSpPr>
            <a:spLocks xmlns:a="http://schemas.openxmlformats.org/drawingml/2006/main" noGrp="1"/>
          </p:cNvSpPr>
          <p:nvPr/>
        </p:nvSpPr>
        <p:spPr>
          <a:xfrm xmlns:a="http://schemas.openxmlformats.org/drawingml/2006/main">
            <a:off x="3352800" y="2286000"/>
            <a:ext cx="2114550" cy="1314450"/>
          </a:xfrm>
          <a:prstGeom xmlns:a="http://schemas.openxmlformats.org/drawingml/2006/main" prst="roundRect">
            <a:avLst>
              <a:gd name="adj" fmla="val 5797"/>
            </a:avLst>
          </a:prstGeom>
          <a:solidFill xmlns:a="http://schemas.openxmlformats.org/drawingml/2006/main">
            <a:srgbClr val="FFF3D4"/>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E2E6C118-26C3-46A4-B550-73CEF01E3675}"/>
              </a:ext>
            </a:extLst>
          </p:cNvPr>
          <p:cNvSpPr>
            <a:spLocks xmlns:a="http://schemas.openxmlformats.org/drawingml/2006/main" noGrp="1"/>
          </p:cNvSpPr>
          <p:nvPr/>
        </p:nvSpPr>
        <p:spPr>
          <a:xfrm xmlns:a="http://schemas.openxmlformats.org/drawingml/2006/main">
            <a:off x="3524250" y="2457450"/>
            <a:ext cx="381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B45309"/>
                </a:solidFill>
                <a:latin typeface="Georgia"/>
                <a:ea typeface="Georgia"/>
                <a:cs typeface="Georgia"/>
              </a:defRPr>
            </a:pPr>
            <a:r>
              <a:rPr sz="2100" b="1">
                <a:solidFill>
                  <a:srgbClr val="B45309"/>
                </a:solidFill>
                <a:latin typeface="Georgia"/>
                <a:ea typeface="Georgia"/>
                <a:cs typeface="Georgia"/>
              </a:rPr>
              <a:t>B</a:t>
            </a:r>
          </a:p>
        </p:txBody>
      </p:sp>
      <p:sp>
        <p:nvSpPr>
          <p:cNvPr id="14" name="">
            <a:extLst xmlns:a="http://schemas.openxmlformats.org/drawingml/2006/main">
              <a:ext uri="{FF2B5EF4-FFF2-40B4-BE49-F238E27FC236}">
                <a16:creationId xmlns:a16="http://schemas.microsoft.com/office/drawing/2014/main" id="{089E168B-803D-49F6-91FF-23FF0D2C3B4C}"/>
              </a:ext>
            </a:extLst>
          </p:cNvPr>
          <p:cNvSpPr>
            <a:spLocks xmlns:a="http://schemas.openxmlformats.org/drawingml/2006/main" noGrp="1"/>
          </p:cNvSpPr>
          <p:nvPr/>
        </p:nvSpPr>
        <p:spPr>
          <a:xfrm xmlns:a="http://schemas.openxmlformats.org/drawingml/2006/main">
            <a:off x="4000500" y="2495550"/>
            <a:ext cx="1219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D2430"/>
                </a:solidFill>
                <a:latin typeface="Avenir Next"/>
                <a:ea typeface="Avenir Next"/>
                <a:cs typeface="Avenir Next"/>
              </a:defRPr>
            </a:pPr>
            <a:r>
              <a:rPr sz="1125" b="1">
                <a:solidFill>
                  <a:srgbClr val="1D2430"/>
                </a:solidFill>
                <a:latin typeface="Avenir Next"/>
                <a:ea typeface="Avenir Next"/>
                <a:cs typeface="Avenir Next"/>
              </a:rPr>
              <a:t>Exploration brief</a:t>
            </a:r>
          </a:p>
        </p:txBody>
      </p:sp>
      <p:sp>
        <p:nvSpPr>
          <p:cNvPr id="15" name="">
            <a:extLst xmlns:a="http://schemas.openxmlformats.org/drawingml/2006/main">
              <a:ext uri="{FF2B5EF4-FFF2-40B4-BE49-F238E27FC236}">
                <a16:creationId xmlns:a16="http://schemas.microsoft.com/office/drawing/2014/main" id="{B2242B5D-CAA9-4E7B-B79F-E789827816F4}"/>
              </a:ext>
            </a:extLst>
          </p:cNvPr>
          <p:cNvSpPr>
            <a:spLocks xmlns:a="http://schemas.openxmlformats.org/drawingml/2006/main" noGrp="1"/>
          </p:cNvSpPr>
          <p:nvPr/>
        </p:nvSpPr>
        <p:spPr>
          <a:xfrm xmlns:a="http://schemas.openxmlformats.org/drawingml/2006/main">
            <a:off x="3524250" y="2952750"/>
            <a:ext cx="17716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84"/>
                </a:solidFill>
                <a:latin typeface="Avenir Next"/>
                <a:ea typeface="Avenir Next"/>
                <a:cs typeface="Avenir Next"/>
              </a:defRPr>
            </a:pPr>
            <a:r>
              <a:rPr sz="863" b="0">
                <a:solidFill>
                  <a:srgbClr val="657084"/>
                </a:solidFill>
                <a:latin typeface="Avenir Next"/>
                <a:ea typeface="Avenir Next"/>
                <a:cs typeface="Avenir Next"/>
              </a:rPr>
              <a:t>Focused question, search scope, seed ideas, and promote criteria.</a:t>
            </a:r>
          </a:p>
        </p:txBody>
      </p:sp>
      <p:sp>
        <p:nvSpPr>
          <p:cNvPr id="16" name="">
            <a:extLst xmlns:a="http://schemas.openxmlformats.org/drawingml/2006/main">
              <a:ext uri="{FF2B5EF4-FFF2-40B4-BE49-F238E27FC236}">
                <a16:creationId xmlns:a16="http://schemas.microsoft.com/office/drawing/2014/main" id="{ABF429CE-C73A-4346-BB4E-6858D1D7B891}"/>
              </a:ext>
            </a:extLst>
          </p:cNvPr>
          <p:cNvSpPr>
            <a:spLocks xmlns:a="http://schemas.openxmlformats.org/drawingml/2006/main" noGrp="1"/>
          </p:cNvSpPr>
          <p:nvPr/>
        </p:nvSpPr>
        <p:spPr>
          <a:xfrm xmlns:a="http://schemas.openxmlformats.org/drawingml/2006/main">
            <a:off x="5924550" y="2286000"/>
            <a:ext cx="2114550" cy="1314450"/>
          </a:xfrm>
          <a:prstGeom xmlns:a="http://schemas.openxmlformats.org/drawingml/2006/main" prst="roundRect">
            <a:avLst>
              <a:gd name="adj" fmla="val 5797"/>
            </a:avLst>
          </a:prstGeom>
          <a:solidFill xmlns:a="http://schemas.openxmlformats.org/drawingml/2006/main">
            <a:srgbClr val="FFF3D4"/>
          </a:solidFill>
          <a:ln xmlns:a="http://schemas.openxmlformats.org/drawingml/2006/main" w="0">
            <a:prstDash val="solid"/>
          </a:ln>
        </p:spPr>
      </p:sp>
      <p:sp>
        <p:nvSpPr>
          <p:cNvPr id="17" name="">
            <a:extLst xmlns:a="http://schemas.openxmlformats.org/drawingml/2006/main">
              <a:ext uri="{FF2B5EF4-FFF2-40B4-BE49-F238E27FC236}">
                <a16:creationId xmlns:a16="http://schemas.microsoft.com/office/drawing/2014/main" id="{F09081C1-313E-4527-93D6-1E99222A5ED6}"/>
              </a:ext>
            </a:extLst>
          </p:cNvPr>
          <p:cNvSpPr>
            <a:spLocks xmlns:a="http://schemas.openxmlformats.org/drawingml/2006/main" noGrp="1"/>
          </p:cNvSpPr>
          <p:nvPr/>
        </p:nvSpPr>
        <p:spPr>
          <a:xfrm xmlns:a="http://schemas.openxmlformats.org/drawingml/2006/main">
            <a:off x="6096000" y="2457450"/>
            <a:ext cx="381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B45309"/>
                </a:solidFill>
                <a:latin typeface="Georgia"/>
                <a:ea typeface="Georgia"/>
                <a:cs typeface="Georgia"/>
              </a:defRPr>
            </a:pPr>
            <a:r>
              <a:rPr sz="2100" b="1">
                <a:solidFill>
                  <a:srgbClr val="B45309"/>
                </a:solidFill>
                <a:latin typeface="Georgia"/>
                <a:ea typeface="Georgia"/>
                <a:cs typeface="Georgia"/>
              </a:rPr>
              <a:t>C</a:t>
            </a:r>
          </a:p>
        </p:txBody>
      </p:sp>
      <p:sp>
        <p:nvSpPr>
          <p:cNvPr id="18" name="">
            <a:extLst xmlns:a="http://schemas.openxmlformats.org/drawingml/2006/main">
              <a:ext uri="{FF2B5EF4-FFF2-40B4-BE49-F238E27FC236}">
                <a16:creationId xmlns:a16="http://schemas.microsoft.com/office/drawing/2014/main" id="{D33BA167-0EDC-4CF4-83C8-DD144AF80AED}"/>
              </a:ext>
            </a:extLst>
          </p:cNvPr>
          <p:cNvSpPr>
            <a:spLocks xmlns:a="http://schemas.openxmlformats.org/drawingml/2006/main" noGrp="1"/>
          </p:cNvSpPr>
          <p:nvPr/>
        </p:nvSpPr>
        <p:spPr>
          <a:xfrm xmlns:a="http://schemas.openxmlformats.org/drawingml/2006/main">
            <a:off x="6572250" y="2495550"/>
            <a:ext cx="1219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D2430"/>
                </a:solidFill>
                <a:latin typeface="Avenir Next"/>
                <a:ea typeface="Avenir Next"/>
                <a:cs typeface="Avenir Next"/>
              </a:defRPr>
            </a:pPr>
            <a:r>
              <a:rPr sz="1125" b="1">
                <a:solidFill>
                  <a:srgbClr val="1D2430"/>
                </a:solidFill>
                <a:latin typeface="Avenir Next"/>
                <a:ea typeface="Avenir Next"/>
                <a:cs typeface="Avenir Next"/>
              </a:rPr>
              <a:t>Skeptic review</a:t>
            </a:r>
          </a:p>
        </p:txBody>
      </p:sp>
      <p:sp>
        <p:nvSpPr>
          <p:cNvPr id="19" name="">
            <a:extLst xmlns:a="http://schemas.openxmlformats.org/drawingml/2006/main">
              <a:ext uri="{FF2B5EF4-FFF2-40B4-BE49-F238E27FC236}">
                <a16:creationId xmlns:a16="http://schemas.microsoft.com/office/drawing/2014/main" id="{946C1C1D-21A2-4FB6-8903-271C2CCF7111}"/>
              </a:ext>
            </a:extLst>
          </p:cNvPr>
          <p:cNvSpPr>
            <a:spLocks xmlns:a="http://schemas.openxmlformats.org/drawingml/2006/main" noGrp="1"/>
          </p:cNvSpPr>
          <p:nvPr/>
        </p:nvSpPr>
        <p:spPr>
          <a:xfrm xmlns:a="http://schemas.openxmlformats.org/drawingml/2006/main">
            <a:off x="6096000" y="2952750"/>
            <a:ext cx="17716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84"/>
                </a:solidFill>
                <a:latin typeface="Avenir Next"/>
                <a:ea typeface="Avenir Next"/>
                <a:cs typeface="Avenir Next"/>
              </a:defRPr>
            </a:pPr>
            <a:r>
              <a:rPr sz="863" b="0">
                <a:solidFill>
                  <a:srgbClr val="657084"/>
                </a:solidFill>
                <a:latin typeface="Avenir Next"/>
                <a:ea typeface="Avenir Next"/>
                <a:cs typeface="Avenir Next"/>
              </a:rPr>
              <a:t>Checks whether this is actually worth scouting.</a:t>
            </a:r>
          </a:p>
        </p:txBody>
      </p:sp>
      <p:sp>
        <p:nvSpPr>
          <p:cNvPr id="20" name="">
            <a:extLst xmlns:a="http://schemas.openxmlformats.org/drawingml/2006/main">
              <a:ext uri="{FF2B5EF4-FFF2-40B4-BE49-F238E27FC236}">
                <a16:creationId xmlns:a16="http://schemas.microsoft.com/office/drawing/2014/main" id="{95E7F97B-525B-4DEC-8A6D-8424FE9ACED5}"/>
              </a:ext>
            </a:extLst>
          </p:cNvPr>
          <p:cNvSpPr>
            <a:spLocks xmlns:a="http://schemas.openxmlformats.org/drawingml/2006/main" noGrp="1"/>
          </p:cNvSpPr>
          <p:nvPr/>
        </p:nvSpPr>
        <p:spPr>
          <a:xfrm xmlns:a="http://schemas.openxmlformats.org/drawingml/2006/main">
            <a:off x="8496300" y="2286000"/>
            <a:ext cx="2114550" cy="1314450"/>
          </a:xfrm>
          <a:prstGeom xmlns:a="http://schemas.openxmlformats.org/drawingml/2006/main" prst="roundRect">
            <a:avLst>
              <a:gd name="adj" fmla="val 5797"/>
            </a:avLst>
          </a:prstGeom>
          <a:solidFill xmlns:a="http://schemas.openxmlformats.org/drawingml/2006/main">
            <a:srgbClr val="FFF3D4"/>
          </a:solidFill>
          <a:ln xmlns:a="http://schemas.openxmlformats.org/drawingml/2006/main" w="0">
            <a:prstDash val="solid"/>
          </a:ln>
        </p:spPr>
      </p:sp>
      <p:sp>
        <p:nvSpPr>
          <p:cNvPr id="21" name="">
            <a:extLst xmlns:a="http://schemas.openxmlformats.org/drawingml/2006/main">
              <a:ext uri="{FF2B5EF4-FFF2-40B4-BE49-F238E27FC236}">
                <a16:creationId xmlns:a16="http://schemas.microsoft.com/office/drawing/2014/main" id="{73F51D55-A129-4C45-B01F-43E1A02C9623}"/>
              </a:ext>
            </a:extLst>
          </p:cNvPr>
          <p:cNvSpPr>
            <a:spLocks xmlns:a="http://schemas.openxmlformats.org/drawingml/2006/main" noGrp="1"/>
          </p:cNvSpPr>
          <p:nvPr/>
        </p:nvSpPr>
        <p:spPr>
          <a:xfrm xmlns:a="http://schemas.openxmlformats.org/drawingml/2006/main">
            <a:off x="8667750" y="2457450"/>
            <a:ext cx="381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B45309"/>
                </a:solidFill>
                <a:latin typeface="Georgia"/>
                <a:ea typeface="Georgia"/>
                <a:cs typeface="Georgia"/>
              </a:defRPr>
            </a:pPr>
            <a:r>
              <a:rPr sz="2100" b="1">
                <a:solidFill>
                  <a:srgbClr val="B45309"/>
                </a:solidFill>
                <a:latin typeface="Georgia"/>
                <a:ea typeface="Georgia"/>
                <a:cs typeface="Georgia"/>
              </a:rPr>
              <a:t>D</a:t>
            </a:r>
          </a:p>
        </p:txBody>
      </p:sp>
      <p:sp>
        <p:nvSpPr>
          <p:cNvPr id="22" name="">
            <a:extLst xmlns:a="http://schemas.openxmlformats.org/drawingml/2006/main">
              <a:ext uri="{FF2B5EF4-FFF2-40B4-BE49-F238E27FC236}">
                <a16:creationId xmlns:a16="http://schemas.microsoft.com/office/drawing/2014/main" id="{9274781E-B416-46B3-ACBC-84816E209324}"/>
              </a:ext>
            </a:extLst>
          </p:cNvPr>
          <p:cNvSpPr>
            <a:spLocks xmlns:a="http://schemas.openxmlformats.org/drawingml/2006/main" noGrp="1"/>
          </p:cNvSpPr>
          <p:nvPr/>
        </p:nvSpPr>
        <p:spPr>
          <a:xfrm xmlns:a="http://schemas.openxmlformats.org/drawingml/2006/main">
            <a:off x="9144000" y="2495550"/>
            <a:ext cx="1219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D2430"/>
                </a:solidFill>
                <a:latin typeface="Avenir Next"/>
                <a:ea typeface="Avenir Next"/>
                <a:cs typeface="Avenir Next"/>
              </a:defRPr>
            </a:pPr>
            <a:r>
              <a:rPr sz="1125" b="1">
                <a:solidFill>
                  <a:srgbClr val="1D2430"/>
                </a:solidFill>
                <a:latin typeface="Avenir Next"/>
                <a:ea typeface="Avenir Next"/>
                <a:cs typeface="Avenir Next"/>
              </a:rPr>
              <a:t>Active exploration</a:t>
            </a:r>
          </a:p>
        </p:txBody>
      </p:sp>
      <p:sp>
        <p:nvSpPr>
          <p:cNvPr id="23" name="">
            <a:extLst xmlns:a="http://schemas.openxmlformats.org/drawingml/2006/main">
              <a:ext uri="{FF2B5EF4-FFF2-40B4-BE49-F238E27FC236}">
                <a16:creationId xmlns:a16="http://schemas.microsoft.com/office/drawing/2014/main" id="{678AC2C8-9A62-4C67-906C-EE3B33105844}"/>
              </a:ext>
            </a:extLst>
          </p:cNvPr>
          <p:cNvSpPr>
            <a:spLocks xmlns:a="http://schemas.openxmlformats.org/drawingml/2006/main" noGrp="1"/>
          </p:cNvSpPr>
          <p:nvPr/>
        </p:nvSpPr>
        <p:spPr>
          <a:xfrm xmlns:a="http://schemas.openxmlformats.org/drawingml/2006/main">
            <a:off x="8667750" y="2952750"/>
            <a:ext cx="17716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57084"/>
                </a:solidFill>
                <a:latin typeface="Avenir Next"/>
                <a:ea typeface="Avenir Next"/>
                <a:cs typeface="Avenir Next"/>
              </a:defRPr>
            </a:pPr>
            <a:r>
              <a:rPr sz="863" b="0">
                <a:solidFill>
                  <a:srgbClr val="657084"/>
                </a:solidFill>
                <a:latin typeface="Avenir Next"/>
                <a:ea typeface="Avenir Next"/>
                <a:cs typeface="Avenir Next"/>
              </a:rPr>
              <a:t>Candidates, paper briefs, notes, and temporary PDFs.</a:t>
            </a:r>
          </a:p>
        </p:txBody>
      </p:sp>
      <p:sp>
        <p:nvSpPr>
          <p:cNvPr id="24" name="">
            <a:extLst xmlns:a="http://schemas.openxmlformats.org/drawingml/2006/main">
              <a:ext uri="{FF2B5EF4-FFF2-40B4-BE49-F238E27FC236}">
                <a16:creationId xmlns:a16="http://schemas.microsoft.com/office/drawing/2014/main" id="{1B3EEAE0-112F-4E6C-ABE4-BCDAD4F12780}"/>
              </a:ext>
            </a:extLst>
          </p:cNvPr>
          <p:cNvSpPr>
            <a:spLocks xmlns:a="http://schemas.openxmlformats.org/drawingml/2006/main" noGrp="1"/>
          </p:cNvSpPr>
          <p:nvPr/>
        </p:nvSpPr>
        <p:spPr>
          <a:xfrm xmlns:a="http://schemas.openxmlformats.org/drawingml/2006/main">
            <a:off x="1619250" y="4876800"/>
            <a:ext cx="8953500" cy="723900"/>
          </a:xfrm>
          <a:prstGeom xmlns:a="http://schemas.openxmlformats.org/drawingml/2006/main" prst="roundRect">
            <a:avLst>
              <a:gd name="adj" fmla="val 10526"/>
            </a:avLst>
          </a:prstGeom>
          <a:solidFill xmlns:a="http://schemas.openxmlformats.org/drawingml/2006/main">
            <a:srgbClr val="FFFDF7"/>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B9AB80BE-0E31-4D63-8A03-D0AC056D1263}"/>
              </a:ext>
            </a:extLst>
          </p:cNvPr>
          <p:cNvSpPr>
            <a:spLocks xmlns:a="http://schemas.openxmlformats.org/drawingml/2006/main" noGrp="1"/>
          </p:cNvSpPr>
          <p:nvPr/>
        </p:nvSpPr>
        <p:spPr>
          <a:xfrm xmlns:a="http://schemas.openxmlformats.org/drawingml/2006/main">
            <a:off x="1866900" y="5067300"/>
            <a:ext cx="1714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B45309"/>
                </a:solidFill>
                <a:latin typeface="Avenir Next"/>
                <a:ea typeface="Avenir Next"/>
                <a:cs typeface="Avenir Next"/>
              </a:defRPr>
            </a:pPr>
            <a:r>
              <a:rPr sz="1200" b="1">
                <a:solidFill>
                  <a:srgbClr val="B45309"/>
                </a:solidFill>
                <a:latin typeface="Avenir Next"/>
                <a:ea typeface="Avenir Next"/>
                <a:cs typeface="Avenir Next"/>
              </a:rPr>
              <a:t>Promotion threshold</a:t>
            </a:r>
          </a:p>
        </p:txBody>
      </p:sp>
      <p:sp>
        <p:nvSpPr>
          <p:cNvPr id="26" name="">
            <a:extLst xmlns:a="http://schemas.openxmlformats.org/drawingml/2006/main">
              <a:ext uri="{FF2B5EF4-FFF2-40B4-BE49-F238E27FC236}">
                <a16:creationId xmlns:a16="http://schemas.microsoft.com/office/drawing/2014/main" id="{B8775047-F009-4AB7-9038-08A2C8E0774C}"/>
              </a:ext>
            </a:extLst>
          </p:cNvPr>
          <p:cNvSpPr>
            <a:spLocks xmlns:a="http://schemas.openxmlformats.org/drawingml/2006/main" noGrp="1"/>
          </p:cNvSpPr>
          <p:nvPr/>
        </p:nvSpPr>
        <p:spPr>
          <a:xfrm xmlns:a="http://schemas.openxmlformats.org/drawingml/2006/main">
            <a:off x="3752850" y="5067300"/>
            <a:ext cx="628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57084"/>
                </a:solidFill>
                <a:latin typeface="Avenir Next"/>
                <a:ea typeface="Avenir Next"/>
                <a:cs typeface="Avenir Next"/>
              </a:defRPr>
            </a:pPr>
            <a:r>
              <a:rPr sz="1125" b="0">
                <a:solidFill>
                  <a:srgbClr val="657084"/>
                </a:solidFill>
                <a:latin typeface="Avenir Next"/>
                <a:ea typeface="Avenir Next"/>
                <a:cs typeface="Avenir Next"/>
              </a:rPr>
              <a:t>A folder is created only when the idea is scout-ready. Until then, keep it light as a single evolving note.</a:t>
            </a:r>
          </a:p>
        </p:txBody>
      </p:sp>
      <p:sp>
        <p:nvSpPr>
          <p:cNvPr id="27" name="">
            <a:extLst xmlns:a="http://schemas.openxmlformats.org/drawingml/2006/main">
              <a:ext uri="{FF2B5EF4-FFF2-40B4-BE49-F238E27FC236}">
                <a16:creationId xmlns:a16="http://schemas.microsoft.com/office/drawing/2014/main" id="{61B944A4-8596-42AC-B2D4-1D77DD1DD345}"/>
              </a:ext>
            </a:extLst>
          </p:cNvPr>
          <p:cNvSpPr>
            <a:spLocks xmlns:a="http://schemas.openxmlformats.org/drawingml/2006/main" noGrp="1"/>
          </p:cNvSpPr>
          <p:nvPr/>
        </p:nvSpPr>
        <p:spPr>
          <a:xfrm xmlns:a="http://schemas.openxmlformats.org/drawingml/2006/main">
            <a:off x="552450" y="6305550"/>
            <a:ext cx="11087100" cy="9525"/>
          </a:xfrm>
          <a:prstGeom xmlns:a="http://schemas.openxmlformats.org/drawingml/2006/main" prst="rect">
            <a:avLst/>
          </a:prstGeom>
          <a:solidFill xmlns:a="http://schemas.openxmlformats.org/drawingml/2006/main">
            <a:srgbClr val="D8DEE8"/>
          </a:solidFill>
          <a:ln xmlns:a="http://schemas.openxmlformats.org/drawingml/2006/main" w="0">
            <a:prstDash val="solid"/>
          </a:ln>
        </p:spPr>
      </p:sp>
      <p:sp>
        <p:nvSpPr>
          <p:cNvPr id="28" name="">
            <a:extLst xmlns:a="http://schemas.openxmlformats.org/drawingml/2006/main">
              <a:ext uri="{FF2B5EF4-FFF2-40B4-BE49-F238E27FC236}">
                <a16:creationId xmlns:a16="http://schemas.microsoft.com/office/drawing/2014/main" id="{42CBF543-1B88-4F0C-B3CE-45DDEE46BD39}"/>
              </a:ext>
            </a:extLst>
          </p:cNvPr>
          <p:cNvSpPr>
            <a:spLocks xmlns:a="http://schemas.openxmlformats.org/drawingml/2006/main" noGrp="1"/>
          </p:cNvSpPr>
          <p:nvPr/>
        </p:nvSpPr>
        <p:spPr>
          <a:xfrm xmlns:a="http://schemas.openxmlformats.org/drawingml/2006/main">
            <a:off x="552450" y="6438900"/>
            <a:ext cx="666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Exploration protects the wiki from unfiltered thinking and protects projects from premature commitment.</a:t>
            </a:r>
          </a:p>
        </p:txBody>
      </p:sp>
      <p:sp>
        <p:nvSpPr>
          <p:cNvPr id="29" name="">
            <a:extLst xmlns:a="http://schemas.openxmlformats.org/drawingml/2006/main">
              <a:ext uri="{FF2B5EF4-FFF2-40B4-BE49-F238E27FC236}">
                <a16:creationId xmlns:a16="http://schemas.microsoft.com/office/drawing/2014/main" id="{622BA95E-AD7A-4C5B-9769-349E90FB3373}"/>
              </a:ext>
            </a:extLst>
          </p:cNvPr>
          <p:cNvSpPr>
            <a:spLocks xmlns:a="http://schemas.openxmlformats.org/drawingml/2006/main" noGrp="1"/>
          </p:cNvSpPr>
          <p:nvPr/>
        </p:nvSpPr>
        <p:spPr>
          <a:xfrm xmlns:a="http://schemas.openxmlformats.org/drawingml/2006/main">
            <a:off x="9239250" y="6438900"/>
            <a:ext cx="2400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Project_management_system</a:t>
            </a:r>
          </a:p>
        </p:txBody>
      </p:sp>
    </p:spTree>
    <p:extLst>
      <p:ext uri="{BB962C8B-B14F-4D97-AF65-F5344CB8AC3E}">
        <p14:creationId xmlns:p14="http://schemas.microsoft.com/office/powerpoint/2010/main" val="158920865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DE4E24-4572-491E-8B04-52F4AEB0751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2" name="">
            <a:extLst xmlns:a="http://schemas.openxmlformats.org/drawingml/2006/main">
              <a:ext uri="{FF2B5EF4-FFF2-40B4-BE49-F238E27FC236}">
                <a16:creationId xmlns:a16="http://schemas.microsoft.com/office/drawing/2014/main" id="{627B8098-ADC1-4714-843D-829DF495E13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prstDash val="solid"/>
          </a:ln>
        </p:spPr>
      </p:sp>
      <p:sp>
        <p:nvSpPr>
          <p:cNvPr id="3" name="">
            <a:extLst xmlns:a="http://schemas.openxmlformats.org/drawingml/2006/main">
              <a:ext uri="{FF2B5EF4-FFF2-40B4-BE49-F238E27FC236}">
                <a16:creationId xmlns:a16="http://schemas.microsoft.com/office/drawing/2014/main" id="{524C6660-F07E-4A78-B316-8631073CDB26}"/>
              </a:ext>
            </a:extLst>
          </p:cNvPr>
          <p:cNvSpPr>
            <a:spLocks xmlns:a="http://schemas.openxmlformats.org/drawingml/2006/main" noGrp="1"/>
          </p:cNvSpPr>
          <p:nvPr/>
        </p:nvSpPr>
        <p:spPr>
          <a:xfrm xmlns:a="http://schemas.openxmlformats.org/drawingml/2006/main">
            <a:off x="0" y="0"/>
            <a:ext cx="12192000" cy="12192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4" name="">
            <a:extLst xmlns:a="http://schemas.openxmlformats.org/drawingml/2006/main">
              <a:ext uri="{FF2B5EF4-FFF2-40B4-BE49-F238E27FC236}">
                <a16:creationId xmlns:a16="http://schemas.microsoft.com/office/drawing/2014/main" id="{F8612783-9602-46A1-9BE5-90A53FA37C85}"/>
              </a:ext>
            </a:extLst>
          </p:cNvPr>
          <p:cNvSpPr>
            <a:spLocks xmlns:a="http://schemas.openxmlformats.org/drawingml/2006/main" noGrp="1"/>
          </p:cNvSpPr>
          <p:nvPr/>
        </p:nvSpPr>
        <p:spPr>
          <a:xfrm xmlns:a="http://schemas.openxmlformats.org/drawingml/2006/main">
            <a:off x="552450" y="514350"/>
            <a:ext cx="438150" cy="38100"/>
          </a:xfrm>
          <a:prstGeom xmlns:a="http://schemas.openxmlformats.org/drawingml/2006/main" prst="rect">
            <a:avLst/>
          </a:prstGeom>
          <a:solidFill xmlns:a="http://schemas.openxmlformats.org/drawingml/2006/main">
            <a:srgbClr val="0F766E"/>
          </a:solidFill>
          <a:ln xmlns:a="http://schemas.openxmlformats.org/drawingml/2006/main" w="0">
            <a:prstDash val="solid"/>
          </a:ln>
        </p:spPr>
      </p:sp>
      <p:sp>
        <p:nvSpPr>
          <p:cNvPr id="5" name="kicker-5-label">
            <a:extLst xmlns:a="http://schemas.openxmlformats.org/drawingml/2006/main">
              <a:ext uri="{FF2B5EF4-FFF2-40B4-BE49-F238E27FC236}">
                <a16:creationId xmlns:a16="http://schemas.microsoft.com/office/drawing/2014/main" id="{A08E48EF-4CCE-42F7-A065-6B709AD53B39}"/>
              </a:ext>
            </a:extLst>
          </p:cNvPr>
          <p:cNvSpPr>
            <a:spLocks xmlns:a="http://schemas.openxmlformats.org/drawingml/2006/main" noGrp="1"/>
          </p:cNvSpPr>
          <p:nvPr/>
        </p:nvSpPr>
        <p:spPr>
          <a:xfrm xmlns:a="http://schemas.openxmlformats.org/drawingml/2006/main">
            <a:off x="1104900" y="428625"/>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825" b="1">
                <a:solidFill>
                  <a:srgbClr val="0F766E"/>
                </a:solidFill>
                <a:latin typeface="Avenir Next"/>
                <a:ea typeface="Avenir Next"/>
                <a:cs typeface="Avenir Next"/>
              </a:defRPr>
            </a:pPr>
            <a:r>
              <a:rPr sz="825" b="1">
                <a:solidFill>
                  <a:srgbClr val="0F766E"/>
                </a:solidFill>
                <a:latin typeface="Avenir Next"/>
                <a:ea typeface="Avenir Next"/>
                <a:cs typeface="Avenir Next"/>
              </a:rPr>
              <a:t>PROJECT WORKSPACE</a:t>
            </a:r>
          </a:p>
        </p:txBody>
      </p:sp>
      <p:sp>
        <p:nvSpPr>
          <p:cNvPr id="6" name="">
            <a:extLst xmlns:a="http://schemas.openxmlformats.org/drawingml/2006/main">
              <a:ext uri="{FF2B5EF4-FFF2-40B4-BE49-F238E27FC236}">
                <a16:creationId xmlns:a16="http://schemas.microsoft.com/office/drawing/2014/main" id="{E50295B2-33E8-49F4-8B51-EAD3B8E5004C}"/>
              </a:ext>
            </a:extLst>
          </p:cNvPr>
          <p:cNvSpPr>
            <a:spLocks xmlns:a="http://schemas.openxmlformats.org/drawingml/2006/main" noGrp="1"/>
          </p:cNvSpPr>
          <p:nvPr/>
        </p:nvSpPr>
        <p:spPr>
          <a:xfrm xmlns:a="http://schemas.openxmlformats.org/drawingml/2006/main">
            <a:off x="11049000" y="428625"/>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57084"/>
                </a:solidFill>
                <a:latin typeface="Avenir Next"/>
                <a:ea typeface="Avenir Next"/>
                <a:cs typeface="Avenir Next"/>
              </a:defRPr>
            </a:pPr>
            <a:r>
              <a:rPr sz="825" b="1">
                <a:solidFill>
                  <a:srgbClr val="657084"/>
                </a:solidFill>
                <a:latin typeface="Avenir Next"/>
                <a:ea typeface="Avenir Next"/>
                <a:cs typeface="Avenir Next"/>
              </a:rPr>
              <a:t>05</a:t>
            </a:r>
          </a:p>
        </p:txBody>
      </p:sp>
      <p:sp>
        <p:nvSpPr>
          <p:cNvPr id="7" name="">
            <a:extLst xmlns:a="http://schemas.openxmlformats.org/drawingml/2006/main">
              <a:ext uri="{FF2B5EF4-FFF2-40B4-BE49-F238E27FC236}">
                <a16:creationId xmlns:a16="http://schemas.microsoft.com/office/drawing/2014/main" id="{DAF84498-EF1A-4F1B-8971-63901EA46E5A}"/>
              </a:ext>
            </a:extLst>
          </p:cNvPr>
          <p:cNvSpPr>
            <a:spLocks xmlns:a="http://schemas.openxmlformats.org/drawingml/2006/main" noGrp="1"/>
          </p:cNvSpPr>
          <p:nvPr/>
        </p:nvSpPr>
        <p:spPr>
          <a:xfrm xmlns:a="http://schemas.openxmlformats.org/drawingml/2006/main">
            <a:off x="552450" y="876300"/>
            <a:ext cx="8858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D2430"/>
                </a:solidFill>
                <a:latin typeface="Georgia"/>
                <a:ea typeface="Georgia"/>
                <a:cs typeface="Georgia"/>
              </a:defRPr>
            </a:pPr>
            <a:r>
              <a:rPr sz="2550" b="1">
                <a:solidFill>
                  <a:srgbClr val="1D2430"/>
                </a:solidFill>
                <a:latin typeface="Georgia"/>
                <a:ea typeface="Georgia"/>
                <a:cs typeface="Georgia"/>
              </a:rPr>
              <a:t>Projects are goal-driven; they use the wiki but do not become the wiki.</a:t>
            </a:r>
          </a:p>
        </p:txBody>
      </p:sp>
      <p:sp>
        <p:nvSpPr>
          <p:cNvPr id="8" name="">
            <a:extLst xmlns:a="http://schemas.openxmlformats.org/drawingml/2006/main">
              <a:ext uri="{FF2B5EF4-FFF2-40B4-BE49-F238E27FC236}">
                <a16:creationId xmlns:a16="http://schemas.microsoft.com/office/drawing/2014/main" id="{645E10D0-07B6-4A79-A646-A96361511769}"/>
              </a:ext>
            </a:extLst>
          </p:cNvPr>
          <p:cNvSpPr>
            <a:spLocks xmlns:a="http://schemas.openxmlformats.org/drawingml/2006/main" noGrp="1"/>
          </p:cNvSpPr>
          <p:nvPr/>
        </p:nvSpPr>
        <p:spPr>
          <a:xfrm xmlns:a="http://schemas.openxmlformats.org/drawingml/2006/main">
            <a:off x="914400" y="2076450"/>
            <a:ext cx="10363200" cy="590550"/>
          </a:xfrm>
          <a:prstGeom xmlns:a="http://schemas.openxmlformats.org/drawingml/2006/main" prst="roundRect">
            <a:avLst>
              <a:gd name="adj" fmla="val 12903"/>
            </a:avLst>
          </a:prstGeom>
          <a:solidFill xmlns:a="http://schemas.openxmlformats.org/drawingml/2006/main">
            <a:srgbClr val="E7EEFC"/>
          </a:solidFill>
          <a:ln xmlns:a="http://schemas.openxmlformats.org/drawingml/2006/main" w="0">
            <a:prstDash val="solid"/>
          </a:ln>
        </p:spPr>
      </p:sp>
      <p:sp>
        <p:nvSpPr>
          <p:cNvPr id="9" name="">
            <a:extLst xmlns:a="http://schemas.openxmlformats.org/drawingml/2006/main">
              <a:ext uri="{FF2B5EF4-FFF2-40B4-BE49-F238E27FC236}">
                <a16:creationId xmlns:a16="http://schemas.microsoft.com/office/drawing/2014/main" id="{350D287C-516A-44A2-8E96-6A786517C23A}"/>
              </a:ext>
            </a:extLst>
          </p:cNvPr>
          <p:cNvSpPr>
            <a:spLocks xmlns:a="http://schemas.openxmlformats.org/drawingml/2006/main" noGrp="1"/>
          </p:cNvSpPr>
          <p:nvPr/>
        </p:nvSpPr>
        <p:spPr>
          <a:xfrm xmlns:a="http://schemas.openxmlformats.org/drawingml/2006/main">
            <a:off x="1181100" y="2238375"/>
            <a:ext cx="2476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563EB"/>
                </a:solidFill>
                <a:latin typeface="Avenir Next"/>
                <a:ea typeface="Avenir Next"/>
                <a:cs typeface="Avenir Next"/>
              </a:defRPr>
            </a:pPr>
            <a:r>
              <a:rPr sz="1200" b="1">
                <a:solidFill>
                  <a:srgbClr val="2563EB"/>
                </a:solidFill>
                <a:latin typeface="Avenir Next"/>
                <a:ea typeface="Avenir Next"/>
                <a:cs typeface="Avenir Next"/>
              </a:rPr>
              <a:t>Project_Brief.md</a:t>
            </a:r>
          </a:p>
        </p:txBody>
      </p:sp>
      <p:sp>
        <p:nvSpPr>
          <p:cNvPr id="10" name="">
            <a:extLst xmlns:a="http://schemas.openxmlformats.org/drawingml/2006/main">
              <a:ext uri="{FF2B5EF4-FFF2-40B4-BE49-F238E27FC236}">
                <a16:creationId xmlns:a16="http://schemas.microsoft.com/office/drawing/2014/main" id="{5C824EB2-B2AB-4854-8B94-B9D7ACE5B4DA}"/>
              </a:ext>
            </a:extLst>
          </p:cNvPr>
          <p:cNvSpPr>
            <a:spLocks xmlns:a="http://schemas.openxmlformats.org/drawingml/2006/main" noGrp="1"/>
          </p:cNvSpPr>
          <p:nvPr/>
        </p:nvSpPr>
        <p:spPr>
          <a:xfrm xmlns:a="http://schemas.openxmlformats.org/drawingml/2006/main">
            <a:off x="4000500" y="2238375"/>
            <a:ext cx="666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57084"/>
                </a:solidFill>
                <a:latin typeface="Avenir Next"/>
                <a:ea typeface="Avenir Next"/>
                <a:cs typeface="Avenir Next"/>
              </a:defRPr>
            </a:pPr>
            <a:r>
              <a:rPr sz="1125" b="0">
                <a:solidFill>
                  <a:srgbClr val="657084"/>
                </a:solidFill>
                <a:latin typeface="Avenir Next"/>
                <a:ea typeface="Avenir Next"/>
                <a:cs typeface="Avenir Next"/>
              </a:rPr>
              <a:t>Defines scope, triage criteria, output mode, and position statement.</a:t>
            </a:r>
          </a:p>
        </p:txBody>
      </p:sp>
      <p:sp>
        <p:nvSpPr>
          <p:cNvPr id="11" name="">
            <a:extLst xmlns:a="http://schemas.openxmlformats.org/drawingml/2006/main">
              <a:ext uri="{FF2B5EF4-FFF2-40B4-BE49-F238E27FC236}">
                <a16:creationId xmlns:a16="http://schemas.microsoft.com/office/drawing/2014/main" id="{84701019-55A9-494C-94E5-DE9BA7C0D483}"/>
              </a:ext>
            </a:extLst>
          </p:cNvPr>
          <p:cNvSpPr>
            <a:spLocks xmlns:a="http://schemas.openxmlformats.org/drawingml/2006/main" noGrp="1"/>
          </p:cNvSpPr>
          <p:nvPr/>
        </p:nvSpPr>
        <p:spPr>
          <a:xfrm xmlns:a="http://schemas.openxmlformats.org/drawingml/2006/main">
            <a:off x="914400" y="2895600"/>
            <a:ext cx="10363200" cy="590550"/>
          </a:xfrm>
          <a:prstGeom xmlns:a="http://schemas.openxmlformats.org/drawingml/2006/main" prst="roundRect">
            <a:avLst>
              <a:gd name="adj" fmla="val 12903"/>
            </a:avLst>
          </a:prstGeom>
          <a:solidFill xmlns:a="http://schemas.openxmlformats.org/drawingml/2006/main">
            <a:srgbClr val="F8FAFF"/>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CDDBDDE8-C5BB-4D77-A960-658183B1763C}"/>
              </a:ext>
            </a:extLst>
          </p:cNvPr>
          <p:cNvSpPr>
            <a:spLocks xmlns:a="http://schemas.openxmlformats.org/drawingml/2006/main" noGrp="1"/>
          </p:cNvSpPr>
          <p:nvPr/>
        </p:nvSpPr>
        <p:spPr>
          <a:xfrm xmlns:a="http://schemas.openxmlformats.org/drawingml/2006/main">
            <a:off x="1181100" y="3057525"/>
            <a:ext cx="2476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563EB"/>
                </a:solidFill>
                <a:latin typeface="Avenir Next"/>
                <a:ea typeface="Avenir Next"/>
                <a:cs typeface="Avenir Next"/>
              </a:defRPr>
            </a:pPr>
            <a:r>
              <a:rPr sz="1200" b="1">
                <a:solidFill>
                  <a:srgbClr val="2563EB"/>
                </a:solidFill>
                <a:latin typeface="Avenir Next"/>
                <a:ea typeface="Avenir Next"/>
                <a:cs typeface="Avenir Next"/>
              </a:rPr>
              <a:t>Scout + Triage</a:t>
            </a:r>
          </a:p>
        </p:txBody>
      </p:sp>
      <p:sp>
        <p:nvSpPr>
          <p:cNvPr id="13" name="">
            <a:extLst xmlns:a="http://schemas.openxmlformats.org/drawingml/2006/main">
              <a:ext uri="{FF2B5EF4-FFF2-40B4-BE49-F238E27FC236}">
                <a16:creationId xmlns:a16="http://schemas.microsoft.com/office/drawing/2014/main" id="{1FF961F9-E047-468F-B261-26024881DC20}"/>
              </a:ext>
            </a:extLst>
          </p:cNvPr>
          <p:cNvSpPr>
            <a:spLocks xmlns:a="http://schemas.openxmlformats.org/drawingml/2006/main" noGrp="1"/>
          </p:cNvSpPr>
          <p:nvPr/>
        </p:nvSpPr>
        <p:spPr>
          <a:xfrm xmlns:a="http://schemas.openxmlformats.org/drawingml/2006/main">
            <a:off x="4000500" y="3057525"/>
            <a:ext cx="666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57084"/>
                </a:solidFill>
                <a:latin typeface="Avenir Next"/>
                <a:ea typeface="Avenir Next"/>
                <a:cs typeface="Avenir Next"/>
              </a:defRPr>
            </a:pPr>
            <a:r>
              <a:rPr sz="1125" b="0">
                <a:solidFill>
                  <a:srgbClr val="657084"/>
                </a:solidFill>
                <a:latin typeface="Avenir Next"/>
                <a:ea typeface="Avenir Next"/>
                <a:cs typeface="Avenir Next"/>
              </a:rPr>
              <a:t>Finds and sorts candidates for this deliverable; metadata only.</a:t>
            </a:r>
          </a:p>
        </p:txBody>
      </p:sp>
      <p:sp>
        <p:nvSpPr>
          <p:cNvPr id="14" name="">
            <a:extLst xmlns:a="http://schemas.openxmlformats.org/drawingml/2006/main">
              <a:ext uri="{FF2B5EF4-FFF2-40B4-BE49-F238E27FC236}">
                <a16:creationId xmlns:a16="http://schemas.microsoft.com/office/drawing/2014/main" id="{3629EA29-EEC9-45BE-A839-8173694766F8}"/>
              </a:ext>
            </a:extLst>
          </p:cNvPr>
          <p:cNvSpPr>
            <a:spLocks xmlns:a="http://schemas.openxmlformats.org/drawingml/2006/main" noGrp="1"/>
          </p:cNvSpPr>
          <p:nvPr/>
        </p:nvSpPr>
        <p:spPr>
          <a:xfrm xmlns:a="http://schemas.openxmlformats.org/drawingml/2006/main">
            <a:off x="914400" y="3714750"/>
            <a:ext cx="10363200" cy="590550"/>
          </a:xfrm>
          <a:prstGeom xmlns:a="http://schemas.openxmlformats.org/drawingml/2006/main" prst="roundRect">
            <a:avLst>
              <a:gd name="adj" fmla="val 12903"/>
            </a:avLst>
          </a:prstGeom>
          <a:solidFill xmlns:a="http://schemas.openxmlformats.org/drawingml/2006/main">
            <a:srgbClr val="E7EEFC"/>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B791CB2C-55E8-40A4-8D91-25A7B94B0076}"/>
              </a:ext>
            </a:extLst>
          </p:cNvPr>
          <p:cNvSpPr>
            <a:spLocks xmlns:a="http://schemas.openxmlformats.org/drawingml/2006/main" noGrp="1"/>
          </p:cNvSpPr>
          <p:nvPr/>
        </p:nvSpPr>
        <p:spPr>
          <a:xfrm xmlns:a="http://schemas.openxmlformats.org/drawingml/2006/main">
            <a:off x="1181100" y="3876675"/>
            <a:ext cx="2476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563EB"/>
                </a:solidFill>
                <a:latin typeface="Avenir Next"/>
                <a:ea typeface="Avenir Next"/>
                <a:cs typeface="Avenir Next"/>
              </a:defRPr>
            </a:pPr>
            <a:r>
              <a:rPr sz="1200" b="1">
                <a:solidFill>
                  <a:srgbClr val="2563EB"/>
                </a:solidFill>
                <a:latin typeface="Avenir Next"/>
                <a:ea typeface="Avenir Next"/>
                <a:cs typeface="Avenir Next"/>
              </a:rPr>
              <a:t>Approval Board</a:t>
            </a:r>
          </a:p>
        </p:txBody>
      </p:sp>
      <p:sp>
        <p:nvSpPr>
          <p:cNvPr id="16" name="">
            <a:extLst xmlns:a="http://schemas.openxmlformats.org/drawingml/2006/main">
              <a:ext uri="{FF2B5EF4-FFF2-40B4-BE49-F238E27FC236}">
                <a16:creationId xmlns:a16="http://schemas.microsoft.com/office/drawing/2014/main" id="{91D85BA5-7660-4861-8B71-1B1FF9805DE7}"/>
              </a:ext>
            </a:extLst>
          </p:cNvPr>
          <p:cNvSpPr>
            <a:spLocks xmlns:a="http://schemas.openxmlformats.org/drawingml/2006/main" noGrp="1"/>
          </p:cNvSpPr>
          <p:nvPr/>
        </p:nvSpPr>
        <p:spPr>
          <a:xfrm xmlns:a="http://schemas.openxmlformats.org/drawingml/2006/main">
            <a:off x="4000500" y="3876675"/>
            <a:ext cx="666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57084"/>
                </a:solidFill>
                <a:latin typeface="Avenir Next"/>
                <a:ea typeface="Avenir Next"/>
                <a:cs typeface="Avenir Next"/>
              </a:defRPr>
            </a:pPr>
            <a:r>
              <a:rPr sz="1125" b="0">
                <a:solidFill>
                  <a:srgbClr val="657084"/>
                </a:solidFill>
                <a:latin typeface="Avenir Next"/>
                <a:ea typeface="Avenir Next"/>
                <a:cs typeface="Avenir Next"/>
              </a:rPr>
              <a:t>Human chooses download, wiki-only ingest, or skip.</a:t>
            </a:r>
          </a:p>
        </p:txBody>
      </p:sp>
      <p:sp>
        <p:nvSpPr>
          <p:cNvPr id="17" name="">
            <a:extLst xmlns:a="http://schemas.openxmlformats.org/drawingml/2006/main">
              <a:ext uri="{FF2B5EF4-FFF2-40B4-BE49-F238E27FC236}">
                <a16:creationId xmlns:a16="http://schemas.microsoft.com/office/drawing/2014/main" id="{CB4018A8-4019-4A61-962F-B6218C6DEFB8}"/>
              </a:ext>
            </a:extLst>
          </p:cNvPr>
          <p:cNvSpPr>
            <a:spLocks xmlns:a="http://schemas.openxmlformats.org/drawingml/2006/main" noGrp="1"/>
          </p:cNvSpPr>
          <p:nvPr/>
        </p:nvSpPr>
        <p:spPr>
          <a:xfrm xmlns:a="http://schemas.openxmlformats.org/drawingml/2006/main">
            <a:off x="914400" y="4533900"/>
            <a:ext cx="10363200" cy="590550"/>
          </a:xfrm>
          <a:prstGeom xmlns:a="http://schemas.openxmlformats.org/drawingml/2006/main" prst="roundRect">
            <a:avLst>
              <a:gd name="adj" fmla="val 12903"/>
            </a:avLst>
          </a:prstGeom>
          <a:solidFill xmlns:a="http://schemas.openxmlformats.org/drawingml/2006/main">
            <a:srgbClr val="F8FAFF"/>
          </a:solidFill>
          <a:ln xmlns:a="http://schemas.openxmlformats.org/drawingml/2006/main" w="0">
            <a:prstDash val="solid"/>
          </a:ln>
        </p:spPr>
      </p:sp>
      <p:sp>
        <p:nvSpPr>
          <p:cNvPr id="18" name="">
            <a:extLst xmlns:a="http://schemas.openxmlformats.org/drawingml/2006/main">
              <a:ext uri="{FF2B5EF4-FFF2-40B4-BE49-F238E27FC236}">
                <a16:creationId xmlns:a16="http://schemas.microsoft.com/office/drawing/2014/main" id="{9E5E5363-F958-4FB7-A0EA-698959391235}"/>
              </a:ext>
            </a:extLst>
          </p:cNvPr>
          <p:cNvSpPr>
            <a:spLocks xmlns:a="http://schemas.openxmlformats.org/drawingml/2006/main" noGrp="1"/>
          </p:cNvSpPr>
          <p:nvPr/>
        </p:nvSpPr>
        <p:spPr>
          <a:xfrm xmlns:a="http://schemas.openxmlformats.org/drawingml/2006/main">
            <a:off x="1181100" y="4695825"/>
            <a:ext cx="2476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563EB"/>
                </a:solidFill>
                <a:latin typeface="Avenir Next"/>
                <a:ea typeface="Avenir Next"/>
                <a:cs typeface="Avenir Next"/>
              </a:defRPr>
            </a:pPr>
            <a:r>
              <a:rPr sz="1200" b="1">
                <a:solidFill>
                  <a:srgbClr val="2563EB"/>
                </a:solidFill>
                <a:latin typeface="Avenir Next"/>
                <a:ea typeface="Avenir Next"/>
                <a:cs typeface="Avenir Next"/>
              </a:rPr>
              <a:t>Notes / Drafts / Critiques</a:t>
            </a:r>
          </a:p>
        </p:txBody>
      </p:sp>
      <p:sp>
        <p:nvSpPr>
          <p:cNvPr id="19" name="">
            <a:extLst xmlns:a="http://schemas.openxmlformats.org/drawingml/2006/main">
              <a:ext uri="{FF2B5EF4-FFF2-40B4-BE49-F238E27FC236}">
                <a16:creationId xmlns:a16="http://schemas.microsoft.com/office/drawing/2014/main" id="{269E3189-28A3-4AB7-9FE7-DAF26BBF5604}"/>
              </a:ext>
            </a:extLst>
          </p:cNvPr>
          <p:cNvSpPr>
            <a:spLocks xmlns:a="http://schemas.openxmlformats.org/drawingml/2006/main" noGrp="1"/>
          </p:cNvSpPr>
          <p:nvPr/>
        </p:nvSpPr>
        <p:spPr>
          <a:xfrm xmlns:a="http://schemas.openxmlformats.org/drawingml/2006/main">
            <a:off x="4000500" y="4695825"/>
            <a:ext cx="666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57084"/>
                </a:solidFill>
                <a:latin typeface="Avenir Next"/>
                <a:ea typeface="Avenir Next"/>
                <a:cs typeface="Avenir Next"/>
              </a:defRPr>
            </a:pPr>
            <a:r>
              <a:rPr sz="1125" b="0">
                <a:solidFill>
                  <a:srgbClr val="657084"/>
                </a:solidFill>
                <a:latin typeface="Avenir Next"/>
                <a:ea typeface="Avenir Next"/>
                <a:cs typeface="Avenir Next"/>
              </a:rPr>
              <a:t>Project-specific arguments, strategy, and writing outputs.</a:t>
            </a:r>
          </a:p>
        </p:txBody>
      </p:sp>
      <p:sp>
        <p:nvSpPr>
          <p:cNvPr id="20" name="">
            <a:extLst xmlns:a="http://schemas.openxmlformats.org/drawingml/2006/main">
              <a:ext uri="{FF2B5EF4-FFF2-40B4-BE49-F238E27FC236}">
                <a16:creationId xmlns:a16="http://schemas.microsoft.com/office/drawing/2014/main" id="{CBB843C2-CBD7-4A7A-A78E-E08DCD3DE8F9}"/>
              </a:ext>
            </a:extLst>
          </p:cNvPr>
          <p:cNvSpPr>
            <a:spLocks xmlns:a="http://schemas.openxmlformats.org/drawingml/2006/main" noGrp="1"/>
          </p:cNvSpPr>
          <p:nvPr/>
        </p:nvSpPr>
        <p:spPr>
          <a:xfrm xmlns:a="http://schemas.openxmlformats.org/drawingml/2006/main">
            <a:off x="914400" y="5715000"/>
            <a:ext cx="10363200" cy="19050"/>
          </a:xfrm>
          <a:prstGeom xmlns:a="http://schemas.openxmlformats.org/drawingml/2006/main" prst="rect">
            <a:avLst/>
          </a:prstGeom>
          <a:solidFill xmlns:a="http://schemas.openxmlformats.org/drawingml/2006/main">
            <a:srgbClr val="D8DEE8"/>
          </a:solidFill>
          <a:ln xmlns:a="http://schemas.openxmlformats.org/drawingml/2006/main" w="0">
            <a:prstDash val="solid"/>
          </a:ln>
        </p:spPr>
      </p:sp>
      <p:sp>
        <p:nvSpPr>
          <p:cNvPr id="21" name="">
            <a:extLst xmlns:a="http://schemas.openxmlformats.org/drawingml/2006/main">
              <a:ext uri="{FF2B5EF4-FFF2-40B4-BE49-F238E27FC236}">
                <a16:creationId xmlns:a16="http://schemas.microsoft.com/office/drawing/2014/main" id="{D6D59625-E690-400A-872B-381708C30A2A}"/>
              </a:ext>
            </a:extLst>
          </p:cNvPr>
          <p:cNvSpPr>
            <a:spLocks xmlns:a="http://schemas.openxmlformats.org/drawingml/2006/main" noGrp="1"/>
          </p:cNvSpPr>
          <p:nvPr/>
        </p:nvSpPr>
        <p:spPr>
          <a:xfrm xmlns:a="http://schemas.openxmlformats.org/drawingml/2006/main">
            <a:off x="1390650" y="5924550"/>
            <a:ext cx="9429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63" b="0">
                <a:solidFill>
                  <a:srgbClr val="657084"/>
                </a:solidFill>
                <a:latin typeface="Avenir Next"/>
                <a:ea typeface="Avenir Next"/>
                <a:cs typeface="Avenir Next"/>
              </a:defRPr>
            </a:pPr>
            <a:r>
              <a:rPr sz="1163" b="0">
                <a:solidFill>
                  <a:srgbClr val="657084"/>
                </a:solidFill>
                <a:latin typeface="Avenir Next"/>
                <a:ea typeface="Avenir Next"/>
                <a:cs typeface="Avenir Next"/>
              </a:rPr>
              <a:t>A project can discover papers that later become library knowledge, but only after PDF approval and ingest.</a:t>
            </a:r>
          </a:p>
        </p:txBody>
      </p:sp>
      <p:sp>
        <p:nvSpPr>
          <p:cNvPr id="22" name="">
            <a:extLst xmlns:a="http://schemas.openxmlformats.org/drawingml/2006/main">
              <a:ext uri="{FF2B5EF4-FFF2-40B4-BE49-F238E27FC236}">
                <a16:creationId xmlns:a16="http://schemas.microsoft.com/office/drawing/2014/main" id="{6193469E-CB58-4366-B305-CA6F260F759B}"/>
              </a:ext>
            </a:extLst>
          </p:cNvPr>
          <p:cNvSpPr>
            <a:spLocks xmlns:a="http://schemas.openxmlformats.org/drawingml/2006/main" noGrp="1"/>
          </p:cNvSpPr>
          <p:nvPr/>
        </p:nvSpPr>
        <p:spPr>
          <a:xfrm xmlns:a="http://schemas.openxmlformats.org/drawingml/2006/main">
            <a:off x="552450" y="6305550"/>
            <a:ext cx="11087100" cy="9525"/>
          </a:xfrm>
          <a:prstGeom xmlns:a="http://schemas.openxmlformats.org/drawingml/2006/main" prst="rect">
            <a:avLst/>
          </a:prstGeom>
          <a:solidFill xmlns:a="http://schemas.openxmlformats.org/drawingml/2006/main">
            <a:srgbClr val="D8DEE8"/>
          </a:solidFill>
          <a:ln xmlns:a="http://schemas.openxmlformats.org/drawingml/2006/main" w="0">
            <a:prstDash val="solid"/>
          </a:ln>
        </p:spPr>
      </p:sp>
      <p:sp>
        <p:nvSpPr>
          <p:cNvPr id="23" name="">
            <a:extLst xmlns:a="http://schemas.openxmlformats.org/drawingml/2006/main">
              <a:ext uri="{FF2B5EF4-FFF2-40B4-BE49-F238E27FC236}">
                <a16:creationId xmlns:a16="http://schemas.microsoft.com/office/drawing/2014/main" id="{C7C9DC18-B325-478F-88F0-D06B6BBFF699}"/>
              </a:ext>
            </a:extLst>
          </p:cNvPr>
          <p:cNvSpPr>
            <a:spLocks xmlns:a="http://schemas.openxmlformats.org/drawingml/2006/main" noGrp="1"/>
          </p:cNvSpPr>
          <p:nvPr/>
        </p:nvSpPr>
        <p:spPr>
          <a:xfrm xmlns:a="http://schemas.openxmlformats.org/drawingml/2006/main">
            <a:off x="552450" y="6438900"/>
            <a:ext cx="666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Workspace value is consumed by the deliverable; library value compounds over years.</a:t>
            </a:r>
          </a:p>
        </p:txBody>
      </p:sp>
      <p:sp>
        <p:nvSpPr>
          <p:cNvPr id="24" name="">
            <a:extLst xmlns:a="http://schemas.openxmlformats.org/drawingml/2006/main">
              <a:ext uri="{FF2B5EF4-FFF2-40B4-BE49-F238E27FC236}">
                <a16:creationId xmlns:a16="http://schemas.microsoft.com/office/drawing/2014/main" id="{3657A041-6207-4DD4-B0BF-CB7D5731FC5C}"/>
              </a:ext>
            </a:extLst>
          </p:cNvPr>
          <p:cNvSpPr>
            <a:spLocks xmlns:a="http://schemas.openxmlformats.org/drawingml/2006/main" noGrp="1"/>
          </p:cNvSpPr>
          <p:nvPr/>
        </p:nvSpPr>
        <p:spPr>
          <a:xfrm xmlns:a="http://schemas.openxmlformats.org/drawingml/2006/main">
            <a:off x="9239250" y="6438900"/>
            <a:ext cx="2400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Project_management_system</a:t>
            </a:r>
          </a:p>
        </p:txBody>
      </p:sp>
    </p:spTree>
    <p:extLst>
      <p:ext uri="{BB962C8B-B14F-4D97-AF65-F5344CB8AC3E}">
        <p14:creationId xmlns:p14="http://schemas.microsoft.com/office/powerpoint/2010/main" val="133295849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0EAC09-3549-4AC0-BF5A-A48EEA0819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2" name="">
            <a:extLst xmlns:a="http://schemas.openxmlformats.org/drawingml/2006/main">
              <a:ext uri="{FF2B5EF4-FFF2-40B4-BE49-F238E27FC236}">
                <a16:creationId xmlns:a16="http://schemas.microsoft.com/office/drawing/2014/main" id="{2C3745BD-5E78-4F65-B988-CB1FA93E40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prstDash val="solid"/>
          </a:ln>
        </p:spPr>
      </p:sp>
      <p:sp>
        <p:nvSpPr>
          <p:cNvPr id="3" name="">
            <a:extLst xmlns:a="http://schemas.openxmlformats.org/drawingml/2006/main">
              <a:ext uri="{FF2B5EF4-FFF2-40B4-BE49-F238E27FC236}">
                <a16:creationId xmlns:a16="http://schemas.microsoft.com/office/drawing/2014/main" id="{A1837FA9-02F9-461E-8C73-45382219FFE9}"/>
              </a:ext>
            </a:extLst>
          </p:cNvPr>
          <p:cNvSpPr>
            <a:spLocks xmlns:a="http://schemas.openxmlformats.org/drawingml/2006/main" noGrp="1"/>
          </p:cNvSpPr>
          <p:nvPr/>
        </p:nvSpPr>
        <p:spPr>
          <a:xfrm xmlns:a="http://schemas.openxmlformats.org/drawingml/2006/main">
            <a:off x="0" y="0"/>
            <a:ext cx="12192000" cy="12192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4" name="">
            <a:extLst xmlns:a="http://schemas.openxmlformats.org/drawingml/2006/main">
              <a:ext uri="{FF2B5EF4-FFF2-40B4-BE49-F238E27FC236}">
                <a16:creationId xmlns:a16="http://schemas.microsoft.com/office/drawing/2014/main" id="{7AB0AC8E-87E9-450B-A259-46F4BC614042}"/>
              </a:ext>
            </a:extLst>
          </p:cNvPr>
          <p:cNvSpPr>
            <a:spLocks xmlns:a="http://schemas.openxmlformats.org/drawingml/2006/main" noGrp="1"/>
          </p:cNvSpPr>
          <p:nvPr/>
        </p:nvSpPr>
        <p:spPr>
          <a:xfrm xmlns:a="http://schemas.openxmlformats.org/drawingml/2006/main">
            <a:off x="552450" y="514350"/>
            <a:ext cx="438150" cy="38100"/>
          </a:xfrm>
          <a:prstGeom xmlns:a="http://schemas.openxmlformats.org/drawingml/2006/main" prst="rect">
            <a:avLst/>
          </a:prstGeom>
          <a:solidFill xmlns:a="http://schemas.openxmlformats.org/drawingml/2006/main">
            <a:srgbClr val="0F766E"/>
          </a:solidFill>
          <a:ln xmlns:a="http://schemas.openxmlformats.org/drawingml/2006/main" w="0">
            <a:prstDash val="solid"/>
          </a:ln>
        </p:spPr>
      </p:sp>
      <p:sp>
        <p:nvSpPr>
          <p:cNvPr id="5" name="kicker-6-label">
            <a:extLst xmlns:a="http://schemas.openxmlformats.org/drawingml/2006/main">
              <a:ext uri="{FF2B5EF4-FFF2-40B4-BE49-F238E27FC236}">
                <a16:creationId xmlns:a16="http://schemas.microsoft.com/office/drawing/2014/main" id="{432912C8-C5B6-4A1F-A91B-9E71A3554EC6}"/>
              </a:ext>
            </a:extLst>
          </p:cNvPr>
          <p:cNvSpPr>
            <a:spLocks xmlns:a="http://schemas.openxmlformats.org/drawingml/2006/main" noGrp="1"/>
          </p:cNvSpPr>
          <p:nvPr/>
        </p:nvSpPr>
        <p:spPr>
          <a:xfrm xmlns:a="http://schemas.openxmlformats.org/drawingml/2006/main">
            <a:off x="1104900" y="428625"/>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825" b="1">
                <a:solidFill>
                  <a:srgbClr val="0F766E"/>
                </a:solidFill>
                <a:latin typeface="Avenir Next"/>
                <a:ea typeface="Avenir Next"/>
                <a:cs typeface="Avenir Next"/>
              </a:defRPr>
            </a:pPr>
            <a:r>
              <a:rPr sz="825" b="1">
                <a:solidFill>
                  <a:srgbClr val="0F766E"/>
                </a:solidFill>
                <a:latin typeface="Avenir Next"/>
                <a:ea typeface="Avenir Next"/>
                <a:cs typeface="Avenir Next"/>
              </a:rPr>
              <a:t>PROMOTION GATES</a:t>
            </a:r>
          </a:p>
        </p:txBody>
      </p:sp>
      <p:sp>
        <p:nvSpPr>
          <p:cNvPr id="6" name="">
            <a:extLst xmlns:a="http://schemas.openxmlformats.org/drawingml/2006/main">
              <a:ext uri="{FF2B5EF4-FFF2-40B4-BE49-F238E27FC236}">
                <a16:creationId xmlns:a16="http://schemas.microsoft.com/office/drawing/2014/main" id="{091A9A7A-F170-4260-9418-28101A0F1F19}"/>
              </a:ext>
            </a:extLst>
          </p:cNvPr>
          <p:cNvSpPr>
            <a:spLocks xmlns:a="http://schemas.openxmlformats.org/drawingml/2006/main" noGrp="1"/>
          </p:cNvSpPr>
          <p:nvPr/>
        </p:nvSpPr>
        <p:spPr>
          <a:xfrm xmlns:a="http://schemas.openxmlformats.org/drawingml/2006/main">
            <a:off x="11049000" y="428625"/>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57084"/>
                </a:solidFill>
                <a:latin typeface="Avenir Next"/>
                <a:ea typeface="Avenir Next"/>
                <a:cs typeface="Avenir Next"/>
              </a:defRPr>
            </a:pPr>
            <a:r>
              <a:rPr sz="825" b="1">
                <a:solidFill>
                  <a:srgbClr val="657084"/>
                </a:solidFill>
                <a:latin typeface="Avenir Next"/>
                <a:ea typeface="Avenir Next"/>
                <a:cs typeface="Avenir Next"/>
              </a:rPr>
              <a:t>06</a:t>
            </a:r>
          </a:p>
        </p:txBody>
      </p:sp>
      <p:sp>
        <p:nvSpPr>
          <p:cNvPr id="7" name="">
            <a:extLst xmlns:a="http://schemas.openxmlformats.org/drawingml/2006/main">
              <a:ext uri="{FF2B5EF4-FFF2-40B4-BE49-F238E27FC236}">
                <a16:creationId xmlns:a16="http://schemas.microsoft.com/office/drawing/2014/main" id="{D68D45EB-4DBB-4D09-A706-369B94AF2098}"/>
              </a:ext>
            </a:extLst>
          </p:cNvPr>
          <p:cNvSpPr>
            <a:spLocks xmlns:a="http://schemas.openxmlformats.org/drawingml/2006/main" noGrp="1"/>
          </p:cNvSpPr>
          <p:nvPr/>
        </p:nvSpPr>
        <p:spPr>
          <a:xfrm xmlns:a="http://schemas.openxmlformats.org/drawingml/2006/main">
            <a:off x="552450" y="876300"/>
            <a:ext cx="8858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D2430"/>
                </a:solidFill>
                <a:latin typeface="Georgia"/>
                <a:ea typeface="Georgia"/>
                <a:cs typeface="Georgia"/>
              </a:defRPr>
            </a:pPr>
            <a:r>
              <a:rPr sz="2550" b="1">
                <a:solidFill>
                  <a:srgbClr val="1D2430"/>
                </a:solidFill>
                <a:latin typeface="Georgia"/>
                <a:ea typeface="Georgia"/>
                <a:cs typeface="Georgia"/>
              </a:rPr>
              <a:t>Nothing crosses into the Library accidentally.</a:t>
            </a:r>
          </a:p>
        </p:txBody>
      </p:sp>
      <p:sp>
        <p:nvSpPr>
          <p:cNvPr id="8" name="">
            <a:extLst xmlns:a="http://schemas.openxmlformats.org/drawingml/2006/main">
              <a:ext uri="{FF2B5EF4-FFF2-40B4-BE49-F238E27FC236}">
                <a16:creationId xmlns:a16="http://schemas.microsoft.com/office/drawing/2014/main" id="{2770A0CD-5DAE-4DB6-816F-46135491D9F8}"/>
              </a:ext>
            </a:extLst>
          </p:cNvPr>
          <p:cNvSpPr>
            <a:spLocks xmlns:a="http://schemas.openxmlformats.org/drawingml/2006/main" noGrp="1"/>
          </p:cNvSpPr>
          <p:nvPr/>
        </p:nvSpPr>
        <p:spPr>
          <a:xfrm xmlns:a="http://schemas.openxmlformats.org/drawingml/2006/main">
            <a:off x="857250" y="2266950"/>
            <a:ext cx="4953000" cy="1238250"/>
          </a:xfrm>
          <a:prstGeom xmlns:a="http://schemas.openxmlformats.org/drawingml/2006/main" prst="roundRect">
            <a:avLst>
              <a:gd name="adj" fmla="val 6154"/>
            </a:avLst>
          </a:prstGeom>
          <a:solidFill xmlns:a="http://schemas.openxmlformats.org/drawingml/2006/main">
            <a:srgbClr val="DFF5F1"/>
          </a:solidFill>
          <a:ln xmlns:a="http://schemas.openxmlformats.org/drawingml/2006/main" w="0">
            <a:prstDash val="solid"/>
          </a:ln>
        </p:spPr>
      </p:sp>
      <p:sp>
        <p:nvSpPr>
          <p:cNvPr id="9" name="">
            <a:extLst xmlns:a="http://schemas.openxmlformats.org/drawingml/2006/main">
              <a:ext uri="{FF2B5EF4-FFF2-40B4-BE49-F238E27FC236}">
                <a16:creationId xmlns:a16="http://schemas.microsoft.com/office/drawing/2014/main" id="{79D18233-5BCC-4BC5-8285-775BAFD1E7FF}"/>
              </a:ext>
            </a:extLst>
          </p:cNvPr>
          <p:cNvSpPr>
            <a:spLocks xmlns:a="http://schemas.openxmlformats.org/drawingml/2006/main" noGrp="1"/>
          </p:cNvSpPr>
          <p:nvPr/>
        </p:nvSpPr>
        <p:spPr>
          <a:xfrm xmlns:a="http://schemas.openxmlformats.org/drawingml/2006/main">
            <a:off x="1104900" y="251460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F766E"/>
                </a:solidFill>
                <a:latin typeface="Georgia"/>
                <a:ea typeface="Georgia"/>
                <a:cs typeface="Georgia"/>
              </a:defRPr>
            </a:pPr>
            <a:r>
              <a:rPr sz="1500" b="1">
                <a:solidFill>
                  <a:srgbClr val="0F766E"/>
                </a:solidFill>
                <a:latin typeface="Georgia"/>
                <a:ea typeface="Georgia"/>
                <a:cs typeface="Georgia"/>
              </a:rPr>
              <a:t>PDF gate</a:t>
            </a:r>
          </a:p>
        </p:txBody>
      </p:sp>
      <p:sp>
        <p:nvSpPr>
          <p:cNvPr id="10" name="">
            <a:extLst xmlns:a="http://schemas.openxmlformats.org/drawingml/2006/main">
              <a:ext uri="{FF2B5EF4-FFF2-40B4-BE49-F238E27FC236}">
                <a16:creationId xmlns:a16="http://schemas.microsoft.com/office/drawing/2014/main" id="{01CB7760-F9D5-47D6-9E22-2D9EC5924D6A}"/>
              </a:ext>
            </a:extLst>
          </p:cNvPr>
          <p:cNvSpPr>
            <a:spLocks xmlns:a="http://schemas.openxmlformats.org/drawingml/2006/main" noGrp="1"/>
          </p:cNvSpPr>
          <p:nvPr/>
        </p:nvSpPr>
        <p:spPr>
          <a:xfrm xmlns:a="http://schemas.openxmlformats.org/drawingml/2006/main">
            <a:off x="1104900" y="2914650"/>
            <a:ext cx="4286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selected PDF → papers/inbox/ → Ingester → papers/sources/wiki</a:t>
            </a:r>
          </a:p>
        </p:txBody>
      </p:sp>
      <p:sp>
        <p:nvSpPr>
          <p:cNvPr id="11" name="">
            <a:extLst xmlns:a="http://schemas.openxmlformats.org/drawingml/2006/main">
              <a:ext uri="{FF2B5EF4-FFF2-40B4-BE49-F238E27FC236}">
                <a16:creationId xmlns:a16="http://schemas.microsoft.com/office/drawing/2014/main" id="{E0A5A344-A329-4879-8D7D-F5DB6228F280}"/>
              </a:ext>
            </a:extLst>
          </p:cNvPr>
          <p:cNvSpPr>
            <a:spLocks xmlns:a="http://schemas.openxmlformats.org/drawingml/2006/main" noGrp="1"/>
          </p:cNvSpPr>
          <p:nvPr/>
        </p:nvSpPr>
        <p:spPr>
          <a:xfrm xmlns:a="http://schemas.openxmlformats.org/drawingml/2006/main">
            <a:off x="6381750" y="2266950"/>
            <a:ext cx="4953000" cy="1238250"/>
          </a:xfrm>
          <a:prstGeom xmlns:a="http://schemas.openxmlformats.org/drawingml/2006/main" prst="roundRect">
            <a:avLst>
              <a:gd name="adj" fmla="val 6154"/>
            </a:avLst>
          </a:prstGeom>
          <a:solidFill xmlns:a="http://schemas.openxmlformats.org/drawingml/2006/main">
            <a:srgbClr val="DFF5F1"/>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5751FD9A-6DB8-4CF8-A948-7F2FAD8F0946}"/>
              </a:ext>
            </a:extLst>
          </p:cNvPr>
          <p:cNvSpPr>
            <a:spLocks xmlns:a="http://schemas.openxmlformats.org/drawingml/2006/main" noGrp="1"/>
          </p:cNvSpPr>
          <p:nvPr/>
        </p:nvSpPr>
        <p:spPr>
          <a:xfrm xmlns:a="http://schemas.openxmlformats.org/drawingml/2006/main">
            <a:off x="6629400" y="251460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F766E"/>
                </a:solidFill>
                <a:latin typeface="Georgia"/>
                <a:ea typeface="Georgia"/>
                <a:cs typeface="Georgia"/>
              </a:defRPr>
            </a:pPr>
            <a:r>
              <a:rPr sz="1500" b="1">
                <a:solidFill>
                  <a:srgbClr val="0F766E"/>
                </a:solidFill>
                <a:latin typeface="Georgia"/>
                <a:ea typeface="Georgia"/>
                <a:cs typeface="Georgia"/>
              </a:rPr>
              <a:t>Insight gate</a:t>
            </a:r>
          </a:p>
        </p:txBody>
      </p:sp>
      <p:sp>
        <p:nvSpPr>
          <p:cNvPr id="13" name="">
            <a:extLst xmlns:a="http://schemas.openxmlformats.org/drawingml/2006/main">
              <a:ext uri="{FF2B5EF4-FFF2-40B4-BE49-F238E27FC236}">
                <a16:creationId xmlns:a16="http://schemas.microsoft.com/office/drawing/2014/main" id="{2506BBE6-A586-4F59-842E-D7DE6FD12C44}"/>
              </a:ext>
            </a:extLst>
          </p:cNvPr>
          <p:cNvSpPr>
            <a:spLocks xmlns:a="http://schemas.openxmlformats.org/drawingml/2006/main" noGrp="1"/>
          </p:cNvSpPr>
          <p:nvPr/>
        </p:nvSpPr>
        <p:spPr>
          <a:xfrm xmlns:a="http://schemas.openxmlformats.org/drawingml/2006/main">
            <a:off x="6629400" y="2914650"/>
            <a:ext cx="4286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durable project-independent synthesis → wiki/overviews/</a:t>
            </a:r>
          </a:p>
        </p:txBody>
      </p:sp>
      <p:sp>
        <p:nvSpPr>
          <p:cNvPr id="14" name="">
            <a:extLst xmlns:a="http://schemas.openxmlformats.org/drawingml/2006/main">
              <a:ext uri="{FF2B5EF4-FFF2-40B4-BE49-F238E27FC236}">
                <a16:creationId xmlns:a16="http://schemas.microsoft.com/office/drawing/2014/main" id="{8547BEF6-3189-40F3-92D8-F915DC46E273}"/>
              </a:ext>
            </a:extLst>
          </p:cNvPr>
          <p:cNvSpPr>
            <a:spLocks xmlns:a="http://schemas.openxmlformats.org/drawingml/2006/main" noGrp="1"/>
          </p:cNvSpPr>
          <p:nvPr/>
        </p:nvSpPr>
        <p:spPr>
          <a:xfrm xmlns:a="http://schemas.openxmlformats.org/drawingml/2006/main">
            <a:off x="857250" y="4038600"/>
            <a:ext cx="4953000" cy="1238250"/>
          </a:xfrm>
          <a:prstGeom xmlns:a="http://schemas.openxmlformats.org/drawingml/2006/main" prst="roundRect">
            <a:avLst>
              <a:gd name="adj" fmla="val 6154"/>
            </a:avLst>
          </a:prstGeom>
          <a:solidFill xmlns:a="http://schemas.openxmlformats.org/drawingml/2006/main">
            <a:srgbClr val="E7EEFC"/>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B82B83E0-DB32-426C-B1C0-E7552AFC2193}"/>
              </a:ext>
            </a:extLst>
          </p:cNvPr>
          <p:cNvSpPr>
            <a:spLocks xmlns:a="http://schemas.openxmlformats.org/drawingml/2006/main" noGrp="1"/>
          </p:cNvSpPr>
          <p:nvPr/>
        </p:nvSpPr>
        <p:spPr>
          <a:xfrm xmlns:a="http://schemas.openxmlformats.org/drawingml/2006/main">
            <a:off x="1104900" y="42862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2563EB"/>
                </a:solidFill>
                <a:latin typeface="Georgia"/>
                <a:ea typeface="Georgia"/>
                <a:cs typeface="Georgia"/>
              </a:defRPr>
            </a:pPr>
            <a:r>
              <a:rPr sz="1500" b="1">
                <a:solidFill>
                  <a:srgbClr val="2563EB"/>
                </a:solidFill>
                <a:latin typeface="Georgia"/>
                <a:ea typeface="Georgia"/>
                <a:cs typeface="Georgia"/>
              </a:rPr>
              <a:t>Project gate</a:t>
            </a:r>
          </a:p>
        </p:txBody>
      </p:sp>
      <p:sp>
        <p:nvSpPr>
          <p:cNvPr id="16" name="">
            <a:extLst xmlns:a="http://schemas.openxmlformats.org/drawingml/2006/main">
              <a:ext uri="{FF2B5EF4-FFF2-40B4-BE49-F238E27FC236}">
                <a16:creationId xmlns:a16="http://schemas.microsoft.com/office/drawing/2014/main" id="{1B2EBB13-F176-4357-B48A-D92DF4BE6800}"/>
              </a:ext>
            </a:extLst>
          </p:cNvPr>
          <p:cNvSpPr>
            <a:spLocks xmlns:a="http://schemas.openxmlformats.org/drawingml/2006/main" noGrp="1"/>
          </p:cNvSpPr>
          <p:nvPr/>
        </p:nvSpPr>
        <p:spPr>
          <a:xfrm xmlns:a="http://schemas.openxmlformats.org/drawingml/2006/main">
            <a:off x="1104900" y="4686300"/>
            <a:ext cx="4286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exploration with deliverable → projects/{slug}/Project_Brief.md</a:t>
            </a:r>
          </a:p>
        </p:txBody>
      </p:sp>
      <p:sp>
        <p:nvSpPr>
          <p:cNvPr id="17" name="">
            <a:extLst xmlns:a="http://schemas.openxmlformats.org/drawingml/2006/main">
              <a:ext uri="{FF2B5EF4-FFF2-40B4-BE49-F238E27FC236}">
                <a16:creationId xmlns:a16="http://schemas.microsoft.com/office/drawing/2014/main" id="{4D3E32AE-FF6D-4450-B838-E8466924F9EE}"/>
              </a:ext>
            </a:extLst>
          </p:cNvPr>
          <p:cNvSpPr>
            <a:spLocks xmlns:a="http://schemas.openxmlformats.org/drawingml/2006/main" noGrp="1"/>
          </p:cNvSpPr>
          <p:nvPr/>
        </p:nvSpPr>
        <p:spPr>
          <a:xfrm xmlns:a="http://schemas.openxmlformats.org/drawingml/2006/main">
            <a:off x="6381750" y="4038600"/>
            <a:ext cx="4953000" cy="1238250"/>
          </a:xfrm>
          <a:prstGeom xmlns:a="http://schemas.openxmlformats.org/drawingml/2006/main" prst="roundRect">
            <a:avLst>
              <a:gd name="adj" fmla="val 6154"/>
            </a:avLst>
          </a:prstGeom>
          <a:solidFill xmlns:a="http://schemas.openxmlformats.org/drawingml/2006/main">
            <a:srgbClr val="FFF3D4"/>
          </a:solidFill>
          <a:ln xmlns:a="http://schemas.openxmlformats.org/drawingml/2006/main" w="0">
            <a:prstDash val="solid"/>
          </a:ln>
        </p:spPr>
      </p:sp>
      <p:sp>
        <p:nvSpPr>
          <p:cNvPr id="18" name="">
            <a:extLst xmlns:a="http://schemas.openxmlformats.org/drawingml/2006/main">
              <a:ext uri="{FF2B5EF4-FFF2-40B4-BE49-F238E27FC236}">
                <a16:creationId xmlns:a16="http://schemas.microsoft.com/office/drawing/2014/main" id="{0CCECDEA-7A9C-4BD1-A1EA-EE5843C39E21}"/>
              </a:ext>
            </a:extLst>
          </p:cNvPr>
          <p:cNvSpPr>
            <a:spLocks xmlns:a="http://schemas.openxmlformats.org/drawingml/2006/main" noGrp="1"/>
          </p:cNvSpPr>
          <p:nvPr/>
        </p:nvSpPr>
        <p:spPr>
          <a:xfrm xmlns:a="http://schemas.openxmlformats.org/drawingml/2006/main">
            <a:off x="6629400" y="42862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B45309"/>
                </a:solidFill>
                <a:latin typeface="Georgia"/>
                <a:ea typeface="Georgia"/>
                <a:cs typeface="Georgia"/>
              </a:defRPr>
            </a:pPr>
            <a:r>
              <a:rPr sz="1500" b="1">
                <a:solidFill>
                  <a:srgbClr val="B45309"/>
                </a:solidFill>
                <a:latin typeface="Georgia"/>
                <a:ea typeface="Georgia"/>
                <a:cs typeface="Georgia"/>
              </a:rPr>
              <a:t>Archive gate</a:t>
            </a:r>
          </a:p>
        </p:txBody>
      </p:sp>
      <p:sp>
        <p:nvSpPr>
          <p:cNvPr id="19" name="">
            <a:extLst xmlns:a="http://schemas.openxmlformats.org/drawingml/2006/main">
              <a:ext uri="{FF2B5EF4-FFF2-40B4-BE49-F238E27FC236}">
                <a16:creationId xmlns:a16="http://schemas.microsoft.com/office/drawing/2014/main" id="{DF006DC8-BF3F-4636-A198-DEF3D4C5BD68}"/>
              </a:ext>
            </a:extLst>
          </p:cNvPr>
          <p:cNvSpPr>
            <a:spLocks xmlns:a="http://schemas.openxmlformats.org/drawingml/2006/main" noGrp="1"/>
          </p:cNvSpPr>
          <p:nvPr/>
        </p:nvSpPr>
        <p:spPr>
          <a:xfrm xmlns:a="http://schemas.openxmlformats.org/drawingml/2006/main">
            <a:off x="6629400" y="4686300"/>
            <a:ext cx="4286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weak or stale idea → explorations/archive/</a:t>
            </a:r>
          </a:p>
        </p:txBody>
      </p:sp>
      <p:sp>
        <p:nvSpPr>
          <p:cNvPr id="20" name="">
            <a:extLst xmlns:a="http://schemas.openxmlformats.org/drawingml/2006/main">
              <a:ext uri="{FF2B5EF4-FFF2-40B4-BE49-F238E27FC236}">
                <a16:creationId xmlns:a16="http://schemas.microsoft.com/office/drawing/2014/main" id="{BAF8C233-CF87-4E1E-B413-956121F7A81F}"/>
              </a:ext>
            </a:extLst>
          </p:cNvPr>
          <p:cNvSpPr>
            <a:spLocks xmlns:a="http://schemas.openxmlformats.org/drawingml/2006/main" noGrp="1"/>
          </p:cNvSpPr>
          <p:nvPr/>
        </p:nvSpPr>
        <p:spPr>
          <a:xfrm xmlns:a="http://schemas.openxmlformats.org/drawingml/2006/main">
            <a:off x="1428750" y="5829300"/>
            <a:ext cx="9334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657084"/>
                </a:solidFill>
                <a:latin typeface="Avenir Next"/>
                <a:ea typeface="Avenir Next"/>
                <a:cs typeface="Avenir Next"/>
              </a:defRPr>
            </a:pPr>
            <a:r>
              <a:rPr sz="1200" b="0">
                <a:solidFill>
                  <a:srgbClr val="657084"/>
                </a:solidFill>
                <a:latin typeface="Avenir Next"/>
                <a:ea typeface="Avenir Next"/>
                <a:cs typeface="Avenir Next"/>
              </a:rPr>
              <a:t>This gate logic is what keeps the system clean: messy thinking can exist, but permanent memory stays curated.</a:t>
            </a:r>
          </a:p>
        </p:txBody>
      </p:sp>
      <p:sp>
        <p:nvSpPr>
          <p:cNvPr id="21" name="">
            <a:extLst xmlns:a="http://schemas.openxmlformats.org/drawingml/2006/main">
              <a:ext uri="{FF2B5EF4-FFF2-40B4-BE49-F238E27FC236}">
                <a16:creationId xmlns:a16="http://schemas.microsoft.com/office/drawing/2014/main" id="{4E8C13B2-F92D-471B-AE59-98687EFE367B}"/>
              </a:ext>
            </a:extLst>
          </p:cNvPr>
          <p:cNvSpPr>
            <a:spLocks xmlns:a="http://schemas.openxmlformats.org/drawingml/2006/main" noGrp="1"/>
          </p:cNvSpPr>
          <p:nvPr/>
        </p:nvSpPr>
        <p:spPr>
          <a:xfrm xmlns:a="http://schemas.openxmlformats.org/drawingml/2006/main">
            <a:off x="552450" y="6305550"/>
            <a:ext cx="11087100" cy="9525"/>
          </a:xfrm>
          <a:prstGeom xmlns:a="http://schemas.openxmlformats.org/drawingml/2006/main" prst="rect">
            <a:avLst/>
          </a:prstGeom>
          <a:solidFill xmlns:a="http://schemas.openxmlformats.org/drawingml/2006/main">
            <a:srgbClr val="D8DEE8"/>
          </a:solidFill>
          <a:ln xmlns:a="http://schemas.openxmlformats.org/drawingml/2006/main" w="0">
            <a:prstDash val="solid"/>
          </a:ln>
        </p:spPr>
      </p:sp>
      <p:sp>
        <p:nvSpPr>
          <p:cNvPr id="22" name="">
            <a:extLst xmlns:a="http://schemas.openxmlformats.org/drawingml/2006/main">
              <a:ext uri="{FF2B5EF4-FFF2-40B4-BE49-F238E27FC236}">
                <a16:creationId xmlns:a16="http://schemas.microsoft.com/office/drawing/2014/main" id="{0C90A355-90A2-42B7-8F07-FEE135B7E97C}"/>
              </a:ext>
            </a:extLst>
          </p:cNvPr>
          <p:cNvSpPr>
            <a:spLocks xmlns:a="http://schemas.openxmlformats.org/drawingml/2006/main" noGrp="1"/>
          </p:cNvSpPr>
          <p:nvPr/>
        </p:nvSpPr>
        <p:spPr>
          <a:xfrm xmlns:a="http://schemas.openxmlformats.org/drawingml/2006/main">
            <a:off x="552450" y="6438900"/>
            <a:ext cx="666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Promotion is explicit by design.</a:t>
            </a:r>
          </a:p>
        </p:txBody>
      </p:sp>
      <p:sp>
        <p:nvSpPr>
          <p:cNvPr id="23" name="">
            <a:extLst xmlns:a="http://schemas.openxmlformats.org/drawingml/2006/main">
              <a:ext uri="{FF2B5EF4-FFF2-40B4-BE49-F238E27FC236}">
                <a16:creationId xmlns:a16="http://schemas.microsoft.com/office/drawing/2014/main" id="{EC7F27CF-CFFE-48CA-AFAE-A477614BD789}"/>
              </a:ext>
            </a:extLst>
          </p:cNvPr>
          <p:cNvSpPr>
            <a:spLocks xmlns:a="http://schemas.openxmlformats.org/drawingml/2006/main" noGrp="1"/>
          </p:cNvSpPr>
          <p:nvPr/>
        </p:nvSpPr>
        <p:spPr>
          <a:xfrm xmlns:a="http://schemas.openxmlformats.org/drawingml/2006/main">
            <a:off x="9239250" y="6438900"/>
            <a:ext cx="2400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Project_management_system</a:t>
            </a:r>
          </a:p>
        </p:txBody>
      </p:sp>
    </p:spTree>
    <p:extLst>
      <p:ext uri="{BB962C8B-B14F-4D97-AF65-F5344CB8AC3E}">
        <p14:creationId xmlns:p14="http://schemas.microsoft.com/office/powerpoint/2010/main" val="9756045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1B1BB99-ADB3-4D27-8552-13CA69F38F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2" name="">
            <a:extLst xmlns:a="http://schemas.openxmlformats.org/drawingml/2006/main">
              <a:ext uri="{FF2B5EF4-FFF2-40B4-BE49-F238E27FC236}">
                <a16:creationId xmlns:a16="http://schemas.microsoft.com/office/drawing/2014/main" id="{41F7A56E-F232-4200-83DB-5B9EE2BF14A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prstDash val="solid"/>
          </a:ln>
        </p:spPr>
      </p:sp>
      <p:sp>
        <p:nvSpPr>
          <p:cNvPr id="3" name="">
            <a:extLst xmlns:a="http://schemas.openxmlformats.org/drawingml/2006/main">
              <a:ext uri="{FF2B5EF4-FFF2-40B4-BE49-F238E27FC236}">
                <a16:creationId xmlns:a16="http://schemas.microsoft.com/office/drawing/2014/main" id="{1DCBF108-F752-4A6B-9A46-5579D6631CAC}"/>
              </a:ext>
            </a:extLst>
          </p:cNvPr>
          <p:cNvSpPr>
            <a:spLocks xmlns:a="http://schemas.openxmlformats.org/drawingml/2006/main" noGrp="1"/>
          </p:cNvSpPr>
          <p:nvPr/>
        </p:nvSpPr>
        <p:spPr>
          <a:xfrm xmlns:a="http://schemas.openxmlformats.org/drawingml/2006/main">
            <a:off x="0" y="0"/>
            <a:ext cx="12192000" cy="12192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4" name="">
            <a:extLst xmlns:a="http://schemas.openxmlformats.org/drawingml/2006/main">
              <a:ext uri="{FF2B5EF4-FFF2-40B4-BE49-F238E27FC236}">
                <a16:creationId xmlns:a16="http://schemas.microsoft.com/office/drawing/2014/main" id="{570AF0F4-F159-4BC1-BD8E-C8D607CFDD99}"/>
              </a:ext>
            </a:extLst>
          </p:cNvPr>
          <p:cNvSpPr>
            <a:spLocks xmlns:a="http://schemas.openxmlformats.org/drawingml/2006/main" noGrp="1"/>
          </p:cNvSpPr>
          <p:nvPr/>
        </p:nvSpPr>
        <p:spPr>
          <a:xfrm xmlns:a="http://schemas.openxmlformats.org/drawingml/2006/main">
            <a:off x="552450" y="514350"/>
            <a:ext cx="438150" cy="38100"/>
          </a:xfrm>
          <a:prstGeom xmlns:a="http://schemas.openxmlformats.org/drawingml/2006/main" prst="rect">
            <a:avLst/>
          </a:prstGeom>
          <a:solidFill xmlns:a="http://schemas.openxmlformats.org/drawingml/2006/main">
            <a:srgbClr val="0F766E"/>
          </a:solidFill>
          <a:ln xmlns:a="http://schemas.openxmlformats.org/drawingml/2006/main" w="0">
            <a:prstDash val="solid"/>
          </a:ln>
        </p:spPr>
      </p:sp>
      <p:sp>
        <p:nvSpPr>
          <p:cNvPr id="5" name="kicker-7-label">
            <a:extLst xmlns:a="http://schemas.openxmlformats.org/drawingml/2006/main">
              <a:ext uri="{FF2B5EF4-FFF2-40B4-BE49-F238E27FC236}">
                <a16:creationId xmlns:a16="http://schemas.microsoft.com/office/drawing/2014/main" id="{5E435D60-BE53-4441-9F8A-1B32708AF5AF}"/>
              </a:ext>
            </a:extLst>
          </p:cNvPr>
          <p:cNvSpPr>
            <a:spLocks xmlns:a="http://schemas.openxmlformats.org/drawingml/2006/main" noGrp="1"/>
          </p:cNvSpPr>
          <p:nvPr/>
        </p:nvSpPr>
        <p:spPr>
          <a:xfrm xmlns:a="http://schemas.openxmlformats.org/drawingml/2006/main">
            <a:off x="1104900" y="428625"/>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825" b="1">
                <a:solidFill>
                  <a:srgbClr val="0F766E"/>
                </a:solidFill>
                <a:latin typeface="Avenir Next"/>
                <a:ea typeface="Avenir Next"/>
                <a:cs typeface="Avenir Next"/>
              </a:defRPr>
            </a:pPr>
            <a:r>
              <a:rPr sz="825" b="1">
                <a:solidFill>
                  <a:srgbClr val="0F766E"/>
                </a:solidFill>
                <a:latin typeface="Avenir Next"/>
                <a:ea typeface="Avenir Next"/>
                <a:cs typeface="Avenir Next"/>
              </a:rPr>
              <a:t>AGENT ROLES</a:t>
            </a:r>
          </a:p>
        </p:txBody>
      </p:sp>
      <p:sp>
        <p:nvSpPr>
          <p:cNvPr id="6" name="">
            <a:extLst xmlns:a="http://schemas.openxmlformats.org/drawingml/2006/main">
              <a:ext uri="{FF2B5EF4-FFF2-40B4-BE49-F238E27FC236}">
                <a16:creationId xmlns:a16="http://schemas.microsoft.com/office/drawing/2014/main" id="{F457C9BE-8246-44AE-91A6-747FBB8BFA65}"/>
              </a:ext>
            </a:extLst>
          </p:cNvPr>
          <p:cNvSpPr>
            <a:spLocks xmlns:a="http://schemas.openxmlformats.org/drawingml/2006/main" noGrp="1"/>
          </p:cNvSpPr>
          <p:nvPr/>
        </p:nvSpPr>
        <p:spPr>
          <a:xfrm xmlns:a="http://schemas.openxmlformats.org/drawingml/2006/main">
            <a:off x="11049000" y="428625"/>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57084"/>
                </a:solidFill>
                <a:latin typeface="Avenir Next"/>
                <a:ea typeface="Avenir Next"/>
                <a:cs typeface="Avenir Next"/>
              </a:defRPr>
            </a:pPr>
            <a:r>
              <a:rPr sz="825" b="1">
                <a:solidFill>
                  <a:srgbClr val="657084"/>
                </a:solidFill>
                <a:latin typeface="Avenir Next"/>
                <a:ea typeface="Avenir Next"/>
                <a:cs typeface="Avenir Next"/>
              </a:rPr>
              <a:t>07</a:t>
            </a:r>
          </a:p>
        </p:txBody>
      </p:sp>
      <p:sp>
        <p:nvSpPr>
          <p:cNvPr id="7" name="">
            <a:extLst xmlns:a="http://schemas.openxmlformats.org/drawingml/2006/main">
              <a:ext uri="{FF2B5EF4-FFF2-40B4-BE49-F238E27FC236}">
                <a16:creationId xmlns:a16="http://schemas.microsoft.com/office/drawing/2014/main" id="{8C977C25-4178-4A18-B441-138EE006B2C6}"/>
              </a:ext>
            </a:extLst>
          </p:cNvPr>
          <p:cNvSpPr>
            <a:spLocks xmlns:a="http://schemas.openxmlformats.org/drawingml/2006/main" noGrp="1"/>
          </p:cNvSpPr>
          <p:nvPr/>
        </p:nvSpPr>
        <p:spPr>
          <a:xfrm xmlns:a="http://schemas.openxmlformats.org/drawingml/2006/main">
            <a:off x="552450" y="876300"/>
            <a:ext cx="8858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D2430"/>
                </a:solidFill>
                <a:latin typeface="Georgia"/>
                <a:ea typeface="Georgia"/>
                <a:cs typeface="Georgia"/>
              </a:defRPr>
            </a:pPr>
            <a:r>
              <a:rPr sz="2550" b="1">
                <a:solidFill>
                  <a:srgbClr val="1D2430"/>
                </a:solidFill>
                <a:latin typeface="Georgia"/>
                <a:ea typeface="Georgia"/>
                <a:cs typeface="Georgia"/>
              </a:rPr>
              <a:t>Agents are workflow roles, not independent memory stores.</a:t>
            </a:r>
          </a:p>
        </p:txBody>
      </p:sp>
      <p:sp>
        <p:nvSpPr>
          <p:cNvPr id="8" name="">
            <a:extLst xmlns:a="http://schemas.openxmlformats.org/drawingml/2006/main">
              <a:ext uri="{FF2B5EF4-FFF2-40B4-BE49-F238E27FC236}">
                <a16:creationId xmlns:a16="http://schemas.microsoft.com/office/drawing/2014/main" id="{C0298B47-C749-45F1-8875-15775E609DC6}"/>
              </a:ext>
            </a:extLst>
          </p:cNvPr>
          <p:cNvSpPr>
            <a:spLocks xmlns:a="http://schemas.openxmlformats.org/drawingml/2006/main" noGrp="1"/>
          </p:cNvSpPr>
          <p:nvPr/>
        </p:nvSpPr>
        <p:spPr>
          <a:xfrm xmlns:a="http://schemas.openxmlformats.org/drawingml/2006/main">
            <a:off x="838200" y="2209800"/>
            <a:ext cx="3143250" cy="32575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0">
            <a:prstDash val="solid"/>
          </a:ln>
        </p:spPr>
      </p:sp>
      <p:sp>
        <p:nvSpPr>
          <p:cNvPr id="9" name="">
            <a:extLst xmlns:a="http://schemas.openxmlformats.org/drawingml/2006/main">
              <a:ext uri="{FF2B5EF4-FFF2-40B4-BE49-F238E27FC236}">
                <a16:creationId xmlns:a16="http://schemas.microsoft.com/office/drawing/2014/main" id="{DC343C53-BCEA-46CE-BA56-A5F83631E138}"/>
              </a:ext>
            </a:extLst>
          </p:cNvPr>
          <p:cNvSpPr>
            <a:spLocks xmlns:a="http://schemas.openxmlformats.org/drawingml/2006/main" noGrp="1"/>
          </p:cNvSpPr>
          <p:nvPr/>
        </p:nvSpPr>
        <p:spPr>
          <a:xfrm xmlns:a="http://schemas.openxmlformats.org/drawingml/2006/main">
            <a:off x="1028700" y="2419350"/>
            <a:ext cx="1104900" cy="266700"/>
          </a:xfrm>
          <a:prstGeom xmlns:a="http://schemas.openxmlformats.org/drawingml/2006/main" prst="roundRect">
            <a:avLst>
              <a:gd name="adj" fmla="val 28571"/>
            </a:avLst>
          </a:prstGeom>
          <a:solidFill xmlns:a="http://schemas.openxmlformats.org/drawingml/2006/main">
            <a:srgbClr val="E7EEFC"/>
          </a:solidFill>
          <a:ln xmlns:a="http://schemas.openxmlformats.org/drawingml/2006/main" w="0">
            <a:prstDash val="solid"/>
          </a:ln>
        </p:spPr>
      </p:sp>
      <p:sp>
        <p:nvSpPr>
          <p:cNvPr id="10" name="">
            <a:extLst xmlns:a="http://schemas.openxmlformats.org/drawingml/2006/main">
              <a:ext uri="{FF2B5EF4-FFF2-40B4-BE49-F238E27FC236}">
                <a16:creationId xmlns:a16="http://schemas.microsoft.com/office/drawing/2014/main" id="{782E3EF3-A954-4312-955F-2F8AD67120B1}"/>
              </a:ext>
            </a:extLst>
          </p:cNvPr>
          <p:cNvSpPr>
            <a:spLocks xmlns:a="http://schemas.openxmlformats.org/drawingml/2006/main" noGrp="1"/>
          </p:cNvSpPr>
          <p:nvPr/>
        </p:nvSpPr>
        <p:spPr>
          <a:xfrm xmlns:a="http://schemas.openxmlformats.org/drawingml/2006/main">
            <a:off x="1104900" y="2476500"/>
            <a:ext cx="952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172033"/>
                </a:solidFill>
                <a:latin typeface="Avenir Next"/>
                <a:ea typeface="Avenir Next"/>
                <a:cs typeface="Avenir Next"/>
              </a:defRPr>
            </a:pPr>
            <a:r>
              <a:rPr sz="713" b="1">
                <a:solidFill>
                  <a:srgbClr val="172033"/>
                </a:solidFill>
                <a:latin typeface="Avenir Next"/>
                <a:ea typeface="Avenir Next"/>
                <a:cs typeface="Avenir Next"/>
              </a:rPr>
              <a:t>Codex CLI</a:t>
            </a:r>
          </a:p>
        </p:txBody>
      </p:sp>
      <p:sp>
        <p:nvSpPr>
          <p:cNvPr id="11" name="">
            <a:extLst xmlns:a="http://schemas.openxmlformats.org/drawingml/2006/main">
              <a:ext uri="{FF2B5EF4-FFF2-40B4-BE49-F238E27FC236}">
                <a16:creationId xmlns:a16="http://schemas.microsoft.com/office/drawing/2014/main" id="{D99A2D1D-70F6-4861-8BBD-1B88765089AB}"/>
              </a:ext>
            </a:extLst>
          </p:cNvPr>
          <p:cNvSpPr>
            <a:spLocks xmlns:a="http://schemas.openxmlformats.org/drawingml/2006/main" noGrp="1"/>
          </p:cNvSpPr>
          <p:nvPr/>
        </p:nvSpPr>
        <p:spPr>
          <a:xfrm xmlns:a="http://schemas.openxmlformats.org/drawingml/2006/main">
            <a:off x="1066800" y="2914650"/>
            <a:ext cx="2381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57084"/>
                </a:solidFill>
                <a:latin typeface="Avenir Next"/>
                <a:ea typeface="Avenir Next"/>
                <a:cs typeface="Avenir Next"/>
              </a:defRPr>
            </a:pPr>
            <a:r>
              <a:rPr sz="975" b="0">
                <a:solidFill>
                  <a:srgbClr val="657084"/>
                </a:solidFill>
                <a:latin typeface="Avenir Next"/>
                <a:ea typeface="Avenir Next"/>
                <a:cs typeface="Avenir Next"/>
              </a:rPr>
              <a:t>Mechanical throughput</a:t>
            </a:r>
          </a:p>
        </p:txBody>
      </p:sp>
      <p:sp>
        <p:nvSpPr>
          <p:cNvPr id="12" name="">
            <a:extLst xmlns:a="http://schemas.openxmlformats.org/drawingml/2006/main">
              <a:ext uri="{FF2B5EF4-FFF2-40B4-BE49-F238E27FC236}">
                <a16:creationId xmlns:a16="http://schemas.microsoft.com/office/drawing/2014/main" id="{DA7E96EC-6AC4-49CC-A92E-B5A223F9F3F8}"/>
              </a:ext>
            </a:extLst>
          </p:cNvPr>
          <p:cNvSpPr>
            <a:spLocks xmlns:a="http://schemas.openxmlformats.org/drawingml/2006/main" noGrp="1"/>
          </p:cNvSpPr>
          <p:nvPr/>
        </p:nvSpPr>
        <p:spPr>
          <a:xfrm xmlns:a="http://schemas.openxmlformats.org/drawingml/2006/main">
            <a:off x="1104900" y="34480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Scout scripts</a:t>
            </a:r>
          </a:p>
        </p:txBody>
      </p:sp>
      <p:sp>
        <p:nvSpPr>
          <p:cNvPr id="13" name="">
            <a:extLst xmlns:a="http://schemas.openxmlformats.org/drawingml/2006/main">
              <a:ext uri="{FF2B5EF4-FFF2-40B4-BE49-F238E27FC236}">
                <a16:creationId xmlns:a16="http://schemas.microsoft.com/office/drawing/2014/main" id="{2F4C8BFA-F0FB-4A0A-A9BA-0DDB63842B76}"/>
              </a:ext>
            </a:extLst>
          </p:cNvPr>
          <p:cNvSpPr>
            <a:spLocks xmlns:a="http://schemas.openxmlformats.org/drawingml/2006/main" noGrp="1"/>
          </p:cNvSpPr>
          <p:nvPr/>
        </p:nvSpPr>
        <p:spPr>
          <a:xfrm xmlns:a="http://schemas.openxmlformats.org/drawingml/2006/main">
            <a:off x="1104900" y="37909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Triage batches</a:t>
            </a:r>
          </a:p>
        </p:txBody>
      </p:sp>
      <p:sp>
        <p:nvSpPr>
          <p:cNvPr id="14" name="">
            <a:extLst xmlns:a="http://schemas.openxmlformats.org/drawingml/2006/main">
              <a:ext uri="{FF2B5EF4-FFF2-40B4-BE49-F238E27FC236}">
                <a16:creationId xmlns:a16="http://schemas.microsoft.com/office/drawing/2014/main" id="{2AB01E73-EB63-4BC1-9508-308B3D41916F}"/>
              </a:ext>
            </a:extLst>
          </p:cNvPr>
          <p:cNvSpPr>
            <a:spLocks xmlns:a="http://schemas.openxmlformats.org/drawingml/2006/main" noGrp="1"/>
          </p:cNvSpPr>
          <p:nvPr/>
        </p:nvSpPr>
        <p:spPr>
          <a:xfrm xmlns:a="http://schemas.openxmlformats.org/drawingml/2006/main">
            <a:off x="1104900" y="41338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PDF ingest</a:t>
            </a:r>
          </a:p>
        </p:txBody>
      </p:sp>
      <p:sp>
        <p:nvSpPr>
          <p:cNvPr id="15" name="">
            <a:extLst xmlns:a="http://schemas.openxmlformats.org/drawingml/2006/main">
              <a:ext uri="{FF2B5EF4-FFF2-40B4-BE49-F238E27FC236}">
                <a16:creationId xmlns:a16="http://schemas.microsoft.com/office/drawing/2014/main" id="{5482F61C-B16C-4DF1-AF93-61CF9CC896F8}"/>
              </a:ext>
            </a:extLst>
          </p:cNvPr>
          <p:cNvSpPr>
            <a:spLocks xmlns:a="http://schemas.openxmlformats.org/drawingml/2006/main" noGrp="1"/>
          </p:cNvSpPr>
          <p:nvPr/>
        </p:nvSpPr>
        <p:spPr>
          <a:xfrm xmlns:a="http://schemas.openxmlformats.org/drawingml/2006/main">
            <a:off x="1104900" y="44767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Verification</a:t>
            </a:r>
          </a:p>
        </p:txBody>
      </p:sp>
      <p:sp>
        <p:nvSpPr>
          <p:cNvPr id="16" name="">
            <a:extLst xmlns:a="http://schemas.openxmlformats.org/drawingml/2006/main">
              <a:ext uri="{FF2B5EF4-FFF2-40B4-BE49-F238E27FC236}">
                <a16:creationId xmlns:a16="http://schemas.microsoft.com/office/drawing/2014/main" id="{62609151-D3EC-4295-B4BF-8896124498D2}"/>
              </a:ext>
            </a:extLst>
          </p:cNvPr>
          <p:cNvSpPr>
            <a:spLocks xmlns:a="http://schemas.openxmlformats.org/drawingml/2006/main" noGrp="1"/>
          </p:cNvSpPr>
          <p:nvPr/>
        </p:nvSpPr>
        <p:spPr>
          <a:xfrm xmlns:a="http://schemas.openxmlformats.org/drawingml/2006/main">
            <a:off x="1104900" y="48196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Filesystem maintenance</a:t>
            </a:r>
          </a:p>
        </p:txBody>
      </p:sp>
      <p:sp>
        <p:nvSpPr>
          <p:cNvPr id="17" name="">
            <a:extLst xmlns:a="http://schemas.openxmlformats.org/drawingml/2006/main">
              <a:ext uri="{FF2B5EF4-FFF2-40B4-BE49-F238E27FC236}">
                <a16:creationId xmlns:a16="http://schemas.microsoft.com/office/drawing/2014/main" id="{714432A0-558A-4F0E-ACB5-65372F53C4B9}"/>
              </a:ext>
            </a:extLst>
          </p:cNvPr>
          <p:cNvSpPr>
            <a:spLocks xmlns:a="http://schemas.openxmlformats.org/drawingml/2006/main" noGrp="1"/>
          </p:cNvSpPr>
          <p:nvPr/>
        </p:nvSpPr>
        <p:spPr>
          <a:xfrm xmlns:a="http://schemas.openxmlformats.org/drawingml/2006/main">
            <a:off x="4591050" y="2209800"/>
            <a:ext cx="3143250" cy="32575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0">
            <a:prstDash val="solid"/>
          </a:ln>
        </p:spPr>
      </p:sp>
      <p:sp>
        <p:nvSpPr>
          <p:cNvPr id="18" name="">
            <a:extLst xmlns:a="http://schemas.openxmlformats.org/drawingml/2006/main">
              <a:ext uri="{FF2B5EF4-FFF2-40B4-BE49-F238E27FC236}">
                <a16:creationId xmlns:a16="http://schemas.microsoft.com/office/drawing/2014/main" id="{C5F9DF85-E73D-42F2-B1C0-DC62DCFB60D0}"/>
              </a:ext>
            </a:extLst>
          </p:cNvPr>
          <p:cNvSpPr>
            <a:spLocks xmlns:a="http://schemas.openxmlformats.org/drawingml/2006/main" noGrp="1"/>
          </p:cNvSpPr>
          <p:nvPr/>
        </p:nvSpPr>
        <p:spPr>
          <a:xfrm xmlns:a="http://schemas.openxmlformats.org/drawingml/2006/main">
            <a:off x="4781550" y="2419350"/>
            <a:ext cx="1104900" cy="266700"/>
          </a:xfrm>
          <a:prstGeom xmlns:a="http://schemas.openxmlformats.org/drawingml/2006/main" prst="roundRect">
            <a:avLst>
              <a:gd name="adj" fmla="val 28571"/>
            </a:avLst>
          </a:prstGeom>
          <a:solidFill xmlns:a="http://schemas.openxmlformats.org/drawingml/2006/main">
            <a:srgbClr val="FFF3D4"/>
          </a:solidFill>
          <a:ln xmlns:a="http://schemas.openxmlformats.org/drawingml/2006/main" w="0">
            <a:prstDash val="solid"/>
          </a:ln>
        </p:spPr>
      </p:sp>
      <p:sp>
        <p:nvSpPr>
          <p:cNvPr id="19" name="">
            <a:extLst xmlns:a="http://schemas.openxmlformats.org/drawingml/2006/main">
              <a:ext uri="{FF2B5EF4-FFF2-40B4-BE49-F238E27FC236}">
                <a16:creationId xmlns:a16="http://schemas.microsoft.com/office/drawing/2014/main" id="{116F4340-2748-4EC0-AB56-752ADFAECDE0}"/>
              </a:ext>
            </a:extLst>
          </p:cNvPr>
          <p:cNvSpPr>
            <a:spLocks xmlns:a="http://schemas.openxmlformats.org/drawingml/2006/main" noGrp="1"/>
          </p:cNvSpPr>
          <p:nvPr/>
        </p:nvSpPr>
        <p:spPr>
          <a:xfrm xmlns:a="http://schemas.openxmlformats.org/drawingml/2006/main">
            <a:off x="4857750" y="2476500"/>
            <a:ext cx="952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172033"/>
                </a:solidFill>
                <a:latin typeface="Avenir Next"/>
                <a:ea typeface="Avenir Next"/>
                <a:cs typeface="Avenir Next"/>
              </a:defRPr>
            </a:pPr>
            <a:r>
              <a:rPr sz="713" b="1">
                <a:solidFill>
                  <a:srgbClr val="172033"/>
                </a:solidFill>
                <a:latin typeface="Avenir Next"/>
                <a:ea typeface="Avenir Next"/>
                <a:cs typeface="Avenir Next"/>
              </a:rPr>
              <a:t>Claude Code</a:t>
            </a:r>
          </a:p>
        </p:txBody>
      </p:sp>
      <p:sp>
        <p:nvSpPr>
          <p:cNvPr id="20" name="">
            <a:extLst xmlns:a="http://schemas.openxmlformats.org/drawingml/2006/main">
              <a:ext uri="{FF2B5EF4-FFF2-40B4-BE49-F238E27FC236}">
                <a16:creationId xmlns:a16="http://schemas.microsoft.com/office/drawing/2014/main" id="{E352C9E0-E9B1-443E-BE2A-3C7F791DF3BB}"/>
              </a:ext>
            </a:extLst>
          </p:cNvPr>
          <p:cNvSpPr>
            <a:spLocks xmlns:a="http://schemas.openxmlformats.org/drawingml/2006/main" noGrp="1"/>
          </p:cNvSpPr>
          <p:nvPr/>
        </p:nvSpPr>
        <p:spPr>
          <a:xfrm xmlns:a="http://schemas.openxmlformats.org/drawingml/2006/main">
            <a:off x="4819650" y="2914650"/>
            <a:ext cx="2381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57084"/>
                </a:solidFill>
                <a:latin typeface="Avenir Next"/>
                <a:ea typeface="Avenir Next"/>
                <a:cs typeface="Avenir Next"/>
              </a:defRPr>
            </a:pPr>
            <a:r>
              <a:rPr sz="975" b="0">
                <a:solidFill>
                  <a:srgbClr val="657084"/>
                </a:solidFill>
                <a:latin typeface="Avenir Next"/>
                <a:ea typeface="Avenir Next"/>
                <a:cs typeface="Avenir Next"/>
              </a:rPr>
              <a:t>Writing and reasoning</a:t>
            </a:r>
          </a:p>
        </p:txBody>
      </p:sp>
      <p:sp>
        <p:nvSpPr>
          <p:cNvPr id="21" name="">
            <a:extLst xmlns:a="http://schemas.openxmlformats.org/drawingml/2006/main">
              <a:ext uri="{FF2B5EF4-FFF2-40B4-BE49-F238E27FC236}">
                <a16:creationId xmlns:a16="http://schemas.microsoft.com/office/drawing/2014/main" id="{71513423-7473-4906-A864-DF54A6D735CF}"/>
              </a:ext>
            </a:extLst>
          </p:cNvPr>
          <p:cNvSpPr>
            <a:spLocks xmlns:a="http://schemas.openxmlformats.org/drawingml/2006/main" noGrp="1"/>
          </p:cNvSpPr>
          <p:nvPr/>
        </p:nvSpPr>
        <p:spPr>
          <a:xfrm xmlns:a="http://schemas.openxmlformats.org/drawingml/2006/main">
            <a:off x="4857750" y="34480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Library overview</a:t>
            </a:r>
          </a:p>
        </p:txBody>
      </p:sp>
      <p:sp>
        <p:nvSpPr>
          <p:cNvPr id="22" name="">
            <a:extLst xmlns:a="http://schemas.openxmlformats.org/drawingml/2006/main">
              <a:ext uri="{FF2B5EF4-FFF2-40B4-BE49-F238E27FC236}">
                <a16:creationId xmlns:a16="http://schemas.microsoft.com/office/drawing/2014/main" id="{D7270C29-7513-4517-A105-96F2956310C8}"/>
              </a:ext>
            </a:extLst>
          </p:cNvPr>
          <p:cNvSpPr>
            <a:spLocks xmlns:a="http://schemas.openxmlformats.org/drawingml/2006/main" noGrp="1"/>
          </p:cNvSpPr>
          <p:nvPr/>
        </p:nvSpPr>
        <p:spPr>
          <a:xfrm xmlns:a="http://schemas.openxmlformats.org/drawingml/2006/main">
            <a:off x="4857750" y="37909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Project synthesis</a:t>
            </a:r>
          </a:p>
        </p:txBody>
      </p:sp>
      <p:sp>
        <p:nvSpPr>
          <p:cNvPr id="23" name="">
            <a:extLst xmlns:a="http://schemas.openxmlformats.org/drawingml/2006/main">
              <a:ext uri="{FF2B5EF4-FFF2-40B4-BE49-F238E27FC236}">
                <a16:creationId xmlns:a16="http://schemas.microsoft.com/office/drawing/2014/main" id="{D19979A0-FF93-471E-9352-B8A434C8C93E}"/>
              </a:ext>
            </a:extLst>
          </p:cNvPr>
          <p:cNvSpPr>
            <a:spLocks xmlns:a="http://schemas.openxmlformats.org/drawingml/2006/main" noGrp="1"/>
          </p:cNvSpPr>
          <p:nvPr/>
        </p:nvSpPr>
        <p:spPr>
          <a:xfrm xmlns:a="http://schemas.openxmlformats.org/drawingml/2006/main">
            <a:off x="4857750" y="41338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Drafting</a:t>
            </a:r>
          </a:p>
        </p:txBody>
      </p:sp>
      <p:sp>
        <p:nvSpPr>
          <p:cNvPr id="24" name="">
            <a:extLst xmlns:a="http://schemas.openxmlformats.org/drawingml/2006/main">
              <a:ext uri="{FF2B5EF4-FFF2-40B4-BE49-F238E27FC236}">
                <a16:creationId xmlns:a16="http://schemas.microsoft.com/office/drawing/2014/main" id="{3F24E9DD-2990-4CA0-BDBC-566E9D42942A}"/>
              </a:ext>
            </a:extLst>
          </p:cNvPr>
          <p:cNvSpPr>
            <a:spLocks xmlns:a="http://schemas.openxmlformats.org/drawingml/2006/main" noGrp="1"/>
          </p:cNvSpPr>
          <p:nvPr/>
        </p:nvSpPr>
        <p:spPr>
          <a:xfrm xmlns:a="http://schemas.openxmlformats.org/drawingml/2006/main">
            <a:off x="4857750" y="44767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Critic review</a:t>
            </a:r>
          </a:p>
        </p:txBody>
      </p:sp>
      <p:sp>
        <p:nvSpPr>
          <p:cNvPr id="25" name="">
            <a:extLst xmlns:a="http://schemas.openxmlformats.org/drawingml/2006/main">
              <a:ext uri="{FF2B5EF4-FFF2-40B4-BE49-F238E27FC236}">
                <a16:creationId xmlns:a16="http://schemas.microsoft.com/office/drawing/2014/main" id="{05D406A5-5F09-4703-A4FA-B92976CB01E6}"/>
              </a:ext>
            </a:extLst>
          </p:cNvPr>
          <p:cNvSpPr>
            <a:spLocks xmlns:a="http://schemas.openxmlformats.org/drawingml/2006/main" noGrp="1"/>
          </p:cNvSpPr>
          <p:nvPr/>
        </p:nvSpPr>
        <p:spPr>
          <a:xfrm xmlns:a="http://schemas.openxmlformats.org/drawingml/2006/main">
            <a:off x="4857750" y="48196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Strategic framing</a:t>
            </a:r>
          </a:p>
        </p:txBody>
      </p:sp>
      <p:sp>
        <p:nvSpPr>
          <p:cNvPr id="26" name="">
            <a:extLst xmlns:a="http://schemas.openxmlformats.org/drawingml/2006/main">
              <a:ext uri="{FF2B5EF4-FFF2-40B4-BE49-F238E27FC236}">
                <a16:creationId xmlns:a16="http://schemas.microsoft.com/office/drawing/2014/main" id="{3A42AE44-39E3-4E79-873A-2200878F09DF}"/>
              </a:ext>
            </a:extLst>
          </p:cNvPr>
          <p:cNvSpPr>
            <a:spLocks xmlns:a="http://schemas.openxmlformats.org/drawingml/2006/main" noGrp="1"/>
          </p:cNvSpPr>
          <p:nvPr/>
        </p:nvSpPr>
        <p:spPr>
          <a:xfrm xmlns:a="http://schemas.openxmlformats.org/drawingml/2006/main">
            <a:off x="8343900" y="2209800"/>
            <a:ext cx="3143250" cy="32575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15A080D8-B73D-44F4-9F2B-D03EFFEE5F78}"/>
              </a:ext>
            </a:extLst>
          </p:cNvPr>
          <p:cNvSpPr>
            <a:spLocks xmlns:a="http://schemas.openxmlformats.org/drawingml/2006/main" noGrp="1"/>
          </p:cNvSpPr>
          <p:nvPr/>
        </p:nvSpPr>
        <p:spPr>
          <a:xfrm xmlns:a="http://schemas.openxmlformats.org/drawingml/2006/main">
            <a:off x="8534400" y="2419350"/>
            <a:ext cx="1104900" cy="266700"/>
          </a:xfrm>
          <a:prstGeom xmlns:a="http://schemas.openxmlformats.org/drawingml/2006/main" prst="roundRect">
            <a:avLst>
              <a:gd name="adj" fmla="val 28571"/>
            </a:avLst>
          </a:prstGeom>
          <a:solidFill xmlns:a="http://schemas.openxmlformats.org/drawingml/2006/main">
            <a:srgbClr val="DFF5F1"/>
          </a:solidFill>
          <a:ln xmlns:a="http://schemas.openxmlformats.org/drawingml/2006/main" w="0">
            <a:prstDash val="solid"/>
          </a:ln>
        </p:spPr>
      </p:sp>
      <p:sp>
        <p:nvSpPr>
          <p:cNvPr id="28" name="">
            <a:extLst xmlns:a="http://schemas.openxmlformats.org/drawingml/2006/main">
              <a:ext uri="{FF2B5EF4-FFF2-40B4-BE49-F238E27FC236}">
                <a16:creationId xmlns:a16="http://schemas.microsoft.com/office/drawing/2014/main" id="{93D12A1D-35FF-4AF9-8B51-09555EBEB86D}"/>
              </a:ext>
            </a:extLst>
          </p:cNvPr>
          <p:cNvSpPr>
            <a:spLocks xmlns:a="http://schemas.openxmlformats.org/drawingml/2006/main" noGrp="1"/>
          </p:cNvSpPr>
          <p:nvPr/>
        </p:nvSpPr>
        <p:spPr>
          <a:xfrm xmlns:a="http://schemas.openxmlformats.org/drawingml/2006/main">
            <a:off x="8610600" y="2476500"/>
            <a:ext cx="9525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13" b="1">
                <a:solidFill>
                  <a:srgbClr val="172033"/>
                </a:solidFill>
                <a:latin typeface="Avenir Next"/>
                <a:ea typeface="Avenir Next"/>
                <a:cs typeface="Avenir Next"/>
              </a:defRPr>
            </a:pPr>
            <a:r>
              <a:rPr sz="713" b="1">
                <a:solidFill>
                  <a:srgbClr val="172033"/>
                </a:solidFill>
                <a:latin typeface="Avenir Next"/>
                <a:ea typeface="Avenir Next"/>
                <a:cs typeface="Avenir Next"/>
              </a:rPr>
              <a:t>Shared memory</a:t>
            </a:r>
          </a:p>
        </p:txBody>
      </p:sp>
      <p:sp>
        <p:nvSpPr>
          <p:cNvPr id="29" name="">
            <a:extLst xmlns:a="http://schemas.openxmlformats.org/drawingml/2006/main">
              <a:ext uri="{FF2B5EF4-FFF2-40B4-BE49-F238E27FC236}">
                <a16:creationId xmlns:a16="http://schemas.microsoft.com/office/drawing/2014/main" id="{145EAFCC-90C6-4F8E-9C5D-ECD734108F30}"/>
              </a:ext>
            </a:extLst>
          </p:cNvPr>
          <p:cNvSpPr>
            <a:spLocks xmlns:a="http://schemas.openxmlformats.org/drawingml/2006/main" noGrp="1"/>
          </p:cNvSpPr>
          <p:nvPr/>
        </p:nvSpPr>
        <p:spPr>
          <a:xfrm xmlns:a="http://schemas.openxmlformats.org/drawingml/2006/main">
            <a:off x="8572500" y="2914650"/>
            <a:ext cx="2381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57084"/>
                </a:solidFill>
                <a:latin typeface="Avenir Next"/>
                <a:ea typeface="Avenir Next"/>
                <a:cs typeface="Avenir Next"/>
              </a:defRPr>
            </a:pPr>
            <a:r>
              <a:rPr sz="975" b="0">
                <a:solidFill>
                  <a:srgbClr val="657084"/>
                </a:solidFill>
                <a:latin typeface="Avenir Next"/>
                <a:ea typeface="Avenir Next"/>
                <a:cs typeface="Avenir Next"/>
              </a:rPr>
              <a:t>Markdown filesystem</a:t>
            </a:r>
          </a:p>
        </p:txBody>
      </p:sp>
      <p:sp>
        <p:nvSpPr>
          <p:cNvPr id="30" name="">
            <a:extLst xmlns:a="http://schemas.openxmlformats.org/drawingml/2006/main">
              <a:ext uri="{FF2B5EF4-FFF2-40B4-BE49-F238E27FC236}">
                <a16:creationId xmlns:a16="http://schemas.microsoft.com/office/drawing/2014/main" id="{3EEB7B44-0EA1-43EF-A52F-FD439159A571}"/>
              </a:ext>
            </a:extLst>
          </p:cNvPr>
          <p:cNvSpPr>
            <a:spLocks xmlns:a="http://schemas.openxmlformats.org/drawingml/2006/main" noGrp="1"/>
          </p:cNvSpPr>
          <p:nvPr/>
        </p:nvSpPr>
        <p:spPr>
          <a:xfrm xmlns:a="http://schemas.openxmlformats.org/drawingml/2006/main">
            <a:off x="8610600" y="34480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papers/</a:t>
            </a:r>
          </a:p>
        </p:txBody>
      </p:sp>
      <p:sp>
        <p:nvSpPr>
          <p:cNvPr id="31" name="">
            <a:extLst xmlns:a="http://schemas.openxmlformats.org/drawingml/2006/main">
              <a:ext uri="{FF2B5EF4-FFF2-40B4-BE49-F238E27FC236}">
                <a16:creationId xmlns:a16="http://schemas.microsoft.com/office/drawing/2014/main" id="{A0014288-7265-4992-8414-41445DABA88A}"/>
              </a:ext>
            </a:extLst>
          </p:cNvPr>
          <p:cNvSpPr>
            <a:spLocks xmlns:a="http://schemas.openxmlformats.org/drawingml/2006/main" noGrp="1"/>
          </p:cNvSpPr>
          <p:nvPr/>
        </p:nvSpPr>
        <p:spPr>
          <a:xfrm xmlns:a="http://schemas.openxmlformats.org/drawingml/2006/main">
            <a:off x="8610600" y="37909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sources/</a:t>
            </a:r>
          </a:p>
        </p:txBody>
      </p:sp>
      <p:sp>
        <p:nvSpPr>
          <p:cNvPr id="32" name="">
            <a:extLst xmlns:a="http://schemas.openxmlformats.org/drawingml/2006/main">
              <a:ext uri="{FF2B5EF4-FFF2-40B4-BE49-F238E27FC236}">
                <a16:creationId xmlns:a16="http://schemas.microsoft.com/office/drawing/2014/main" id="{0DD677CD-E5B2-480B-9006-E3F499908BA4}"/>
              </a:ext>
            </a:extLst>
          </p:cNvPr>
          <p:cNvSpPr>
            <a:spLocks xmlns:a="http://schemas.openxmlformats.org/drawingml/2006/main" noGrp="1"/>
          </p:cNvSpPr>
          <p:nvPr/>
        </p:nvSpPr>
        <p:spPr>
          <a:xfrm xmlns:a="http://schemas.openxmlformats.org/drawingml/2006/main">
            <a:off x="8610600" y="41338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wiki/</a:t>
            </a:r>
          </a:p>
        </p:txBody>
      </p:sp>
      <p:sp>
        <p:nvSpPr>
          <p:cNvPr id="33" name="">
            <a:extLst xmlns:a="http://schemas.openxmlformats.org/drawingml/2006/main">
              <a:ext uri="{FF2B5EF4-FFF2-40B4-BE49-F238E27FC236}">
                <a16:creationId xmlns:a16="http://schemas.microsoft.com/office/drawing/2014/main" id="{992918B0-7827-43B4-A562-7DCFB661C87F}"/>
              </a:ext>
            </a:extLst>
          </p:cNvPr>
          <p:cNvSpPr>
            <a:spLocks xmlns:a="http://schemas.openxmlformats.org/drawingml/2006/main" noGrp="1"/>
          </p:cNvSpPr>
          <p:nvPr/>
        </p:nvSpPr>
        <p:spPr>
          <a:xfrm xmlns:a="http://schemas.openxmlformats.org/drawingml/2006/main">
            <a:off x="8610600" y="44767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explorations/</a:t>
            </a:r>
          </a:p>
        </p:txBody>
      </p:sp>
      <p:sp>
        <p:nvSpPr>
          <p:cNvPr id="34" name="">
            <a:extLst xmlns:a="http://schemas.openxmlformats.org/drawingml/2006/main">
              <a:ext uri="{FF2B5EF4-FFF2-40B4-BE49-F238E27FC236}">
                <a16:creationId xmlns:a16="http://schemas.microsoft.com/office/drawing/2014/main" id="{BDC1FBC6-8A7E-4693-AA08-1EF34FDEA3D3}"/>
              </a:ext>
            </a:extLst>
          </p:cNvPr>
          <p:cNvSpPr>
            <a:spLocks xmlns:a="http://schemas.openxmlformats.org/drawingml/2006/main" noGrp="1"/>
          </p:cNvSpPr>
          <p:nvPr/>
        </p:nvSpPr>
        <p:spPr>
          <a:xfrm xmlns:a="http://schemas.openxmlformats.org/drawingml/2006/main">
            <a:off x="8610600" y="4819650"/>
            <a:ext cx="2476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0">
                <a:solidFill>
                  <a:srgbClr val="1D2430"/>
                </a:solidFill>
                <a:latin typeface="Avenir Next"/>
                <a:ea typeface="Avenir Next"/>
                <a:cs typeface="Avenir Next"/>
              </a:defRPr>
            </a:pPr>
            <a:r>
              <a:rPr sz="1088" b="0">
                <a:solidFill>
                  <a:srgbClr val="1D2430"/>
                </a:solidFill>
                <a:latin typeface="Avenir Next"/>
                <a:ea typeface="Avenir Next"/>
                <a:cs typeface="Avenir Next"/>
              </a:rPr>
              <a:t>• projects/</a:t>
            </a:r>
          </a:p>
        </p:txBody>
      </p:sp>
      <p:sp>
        <p:nvSpPr>
          <p:cNvPr id="35" name="">
            <a:extLst xmlns:a="http://schemas.openxmlformats.org/drawingml/2006/main">
              <a:ext uri="{FF2B5EF4-FFF2-40B4-BE49-F238E27FC236}">
                <a16:creationId xmlns:a16="http://schemas.microsoft.com/office/drawing/2014/main" id="{1F2B31F6-FC2E-4953-B347-DECC9AE2DABC}"/>
              </a:ext>
            </a:extLst>
          </p:cNvPr>
          <p:cNvSpPr>
            <a:spLocks xmlns:a="http://schemas.openxmlformats.org/drawingml/2006/main" noGrp="1"/>
          </p:cNvSpPr>
          <p:nvPr/>
        </p:nvSpPr>
        <p:spPr>
          <a:xfrm xmlns:a="http://schemas.openxmlformats.org/drawingml/2006/main">
            <a:off x="552450" y="6305550"/>
            <a:ext cx="11087100" cy="9525"/>
          </a:xfrm>
          <a:prstGeom xmlns:a="http://schemas.openxmlformats.org/drawingml/2006/main" prst="rect">
            <a:avLst/>
          </a:prstGeom>
          <a:solidFill xmlns:a="http://schemas.openxmlformats.org/drawingml/2006/main">
            <a:srgbClr val="D8DEE8"/>
          </a:solidFill>
          <a:ln xmlns:a="http://schemas.openxmlformats.org/drawingml/2006/main" w="0">
            <a:prstDash val="solid"/>
          </a:ln>
        </p:spPr>
      </p:sp>
      <p:sp>
        <p:nvSpPr>
          <p:cNvPr id="36" name="">
            <a:extLst xmlns:a="http://schemas.openxmlformats.org/drawingml/2006/main">
              <a:ext uri="{FF2B5EF4-FFF2-40B4-BE49-F238E27FC236}">
                <a16:creationId xmlns:a16="http://schemas.microsoft.com/office/drawing/2014/main" id="{DC124610-4483-4C37-9BC9-E2F2C4E1795F}"/>
              </a:ext>
            </a:extLst>
          </p:cNvPr>
          <p:cNvSpPr>
            <a:spLocks xmlns:a="http://schemas.openxmlformats.org/drawingml/2006/main" noGrp="1"/>
          </p:cNvSpPr>
          <p:nvPr/>
        </p:nvSpPr>
        <p:spPr>
          <a:xfrm xmlns:a="http://schemas.openxmlformats.org/drawingml/2006/main">
            <a:off x="552450" y="6438900"/>
            <a:ext cx="666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Codex and Claude do not talk to each other; the filesystem is the handoff.</a:t>
            </a:r>
          </a:p>
        </p:txBody>
      </p:sp>
      <p:sp>
        <p:nvSpPr>
          <p:cNvPr id="37" name="">
            <a:extLst xmlns:a="http://schemas.openxmlformats.org/drawingml/2006/main">
              <a:ext uri="{FF2B5EF4-FFF2-40B4-BE49-F238E27FC236}">
                <a16:creationId xmlns:a16="http://schemas.microsoft.com/office/drawing/2014/main" id="{C72117AB-D1AA-4ADD-A068-36DE58A6C15A}"/>
              </a:ext>
            </a:extLst>
          </p:cNvPr>
          <p:cNvSpPr>
            <a:spLocks xmlns:a="http://schemas.openxmlformats.org/drawingml/2006/main" noGrp="1"/>
          </p:cNvSpPr>
          <p:nvPr/>
        </p:nvSpPr>
        <p:spPr>
          <a:xfrm xmlns:a="http://schemas.openxmlformats.org/drawingml/2006/main">
            <a:off x="9239250" y="6438900"/>
            <a:ext cx="2400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Project_management_system</a:t>
            </a:r>
          </a:p>
        </p:txBody>
      </p:sp>
    </p:spTree>
    <p:extLst>
      <p:ext uri="{BB962C8B-B14F-4D97-AF65-F5344CB8AC3E}">
        <p14:creationId xmlns:p14="http://schemas.microsoft.com/office/powerpoint/2010/main" val="209387009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528CBBC-333F-4FF8-AF17-1E2A70A2F92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2" name="">
            <a:extLst xmlns:a="http://schemas.openxmlformats.org/drawingml/2006/main">
              <a:ext uri="{FF2B5EF4-FFF2-40B4-BE49-F238E27FC236}">
                <a16:creationId xmlns:a16="http://schemas.microsoft.com/office/drawing/2014/main" id="{F30B1063-5F31-4C8D-958D-B72B85E3AD2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prstDash val="solid"/>
          </a:ln>
        </p:spPr>
      </p:sp>
      <p:sp>
        <p:nvSpPr>
          <p:cNvPr id="3" name="">
            <a:extLst xmlns:a="http://schemas.openxmlformats.org/drawingml/2006/main">
              <a:ext uri="{FF2B5EF4-FFF2-40B4-BE49-F238E27FC236}">
                <a16:creationId xmlns:a16="http://schemas.microsoft.com/office/drawing/2014/main" id="{AA7A1BFC-678D-4F03-A1A5-4A32312912E9}"/>
              </a:ext>
            </a:extLst>
          </p:cNvPr>
          <p:cNvSpPr>
            <a:spLocks xmlns:a="http://schemas.openxmlformats.org/drawingml/2006/main" noGrp="1"/>
          </p:cNvSpPr>
          <p:nvPr/>
        </p:nvSpPr>
        <p:spPr>
          <a:xfrm xmlns:a="http://schemas.openxmlformats.org/drawingml/2006/main">
            <a:off x="0" y="0"/>
            <a:ext cx="12192000" cy="12192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4" name="">
            <a:extLst xmlns:a="http://schemas.openxmlformats.org/drawingml/2006/main">
              <a:ext uri="{FF2B5EF4-FFF2-40B4-BE49-F238E27FC236}">
                <a16:creationId xmlns:a16="http://schemas.microsoft.com/office/drawing/2014/main" id="{F8C1581D-AA5A-40AD-BED7-6C99839682D8}"/>
              </a:ext>
            </a:extLst>
          </p:cNvPr>
          <p:cNvSpPr>
            <a:spLocks xmlns:a="http://schemas.openxmlformats.org/drawingml/2006/main" noGrp="1"/>
          </p:cNvSpPr>
          <p:nvPr/>
        </p:nvSpPr>
        <p:spPr>
          <a:xfrm xmlns:a="http://schemas.openxmlformats.org/drawingml/2006/main">
            <a:off x="552450" y="514350"/>
            <a:ext cx="438150" cy="38100"/>
          </a:xfrm>
          <a:prstGeom xmlns:a="http://schemas.openxmlformats.org/drawingml/2006/main" prst="rect">
            <a:avLst/>
          </a:prstGeom>
          <a:solidFill xmlns:a="http://schemas.openxmlformats.org/drawingml/2006/main">
            <a:srgbClr val="0F766E"/>
          </a:solidFill>
          <a:ln xmlns:a="http://schemas.openxmlformats.org/drawingml/2006/main" w="0">
            <a:prstDash val="solid"/>
          </a:ln>
        </p:spPr>
      </p:sp>
      <p:sp>
        <p:nvSpPr>
          <p:cNvPr id="5" name="kicker-8-label">
            <a:extLst xmlns:a="http://schemas.openxmlformats.org/drawingml/2006/main">
              <a:ext uri="{FF2B5EF4-FFF2-40B4-BE49-F238E27FC236}">
                <a16:creationId xmlns:a16="http://schemas.microsoft.com/office/drawing/2014/main" id="{E29A4219-F18E-413E-A3DB-41FAEB6B5B9C}"/>
              </a:ext>
            </a:extLst>
          </p:cNvPr>
          <p:cNvSpPr>
            <a:spLocks xmlns:a="http://schemas.openxmlformats.org/drawingml/2006/main" noGrp="1"/>
          </p:cNvSpPr>
          <p:nvPr/>
        </p:nvSpPr>
        <p:spPr>
          <a:xfrm xmlns:a="http://schemas.openxmlformats.org/drawingml/2006/main">
            <a:off x="1104900" y="428625"/>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825" b="1">
                <a:solidFill>
                  <a:srgbClr val="0F766E"/>
                </a:solidFill>
                <a:latin typeface="Avenir Next"/>
                <a:ea typeface="Avenir Next"/>
                <a:cs typeface="Avenir Next"/>
              </a:defRPr>
            </a:pPr>
            <a:r>
              <a:rPr sz="825" b="1">
                <a:solidFill>
                  <a:srgbClr val="0F766E"/>
                </a:solidFill>
                <a:latin typeface="Avenir Next"/>
                <a:ea typeface="Avenir Next"/>
                <a:cs typeface="Avenir Next"/>
              </a:rPr>
              <a:t>DASHBOARD</a:t>
            </a:r>
          </a:p>
        </p:txBody>
      </p:sp>
      <p:sp>
        <p:nvSpPr>
          <p:cNvPr id="6" name="">
            <a:extLst xmlns:a="http://schemas.openxmlformats.org/drawingml/2006/main">
              <a:ext uri="{FF2B5EF4-FFF2-40B4-BE49-F238E27FC236}">
                <a16:creationId xmlns:a16="http://schemas.microsoft.com/office/drawing/2014/main" id="{61DECC0E-B802-4664-8A69-8B8490CDF33B}"/>
              </a:ext>
            </a:extLst>
          </p:cNvPr>
          <p:cNvSpPr>
            <a:spLocks xmlns:a="http://schemas.openxmlformats.org/drawingml/2006/main" noGrp="1"/>
          </p:cNvSpPr>
          <p:nvPr/>
        </p:nvSpPr>
        <p:spPr>
          <a:xfrm xmlns:a="http://schemas.openxmlformats.org/drawingml/2006/main">
            <a:off x="11049000" y="428625"/>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57084"/>
                </a:solidFill>
                <a:latin typeface="Avenir Next"/>
                <a:ea typeface="Avenir Next"/>
                <a:cs typeface="Avenir Next"/>
              </a:defRPr>
            </a:pPr>
            <a:r>
              <a:rPr sz="825" b="1">
                <a:solidFill>
                  <a:srgbClr val="657084"/>
                </a:solidFill>
                <a:latin typeface="Avenir Next"/>
                <a:ea typeface="Avenir Next"/>
                <a:cs typeface="Avenir Next"/>
              </a:rPr>
              <a:t>08</a:t>
            </a:r>
          </a:p>
        </p:txBody>
      </p:sp>
      <p:sp>
        <p:nvSpPr>
          <p:cNvPr id="7" name="">
            <a:extLst xmlns:a="http://schemas.openxmlformats.org/drawingml/2006/main">
              <a:ext uri="{FF2B5EF4-FFF2-40B4-BE49-F238E27FC236}">
                <a16:creationId xmlns:a16="http://schemas.microsoft.com/office/drawing/2014/main" id="{900FE177-F4B7-438F-8DC3-7358323F1857}"/>
              </a:ext>
            </a:extLst>
          </p:cNvPr>
          <p:cNvSpPr>
            <a:spLocks xmlns:a="http://schemas.openxmlformats.org/drawingml/2006/main" noGrp="1"/>
          </p:cNvSpPr>
          <p:nvPr/>
        </p:nvSpPr>
        <p:spPr>
          <a:xfrm xmlns:a="http://schemas.openxmlformats.org/drawingml/2006/main">
            <a:off x="552450" y="876300"/>
            <a:ext cx="8858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D2430"/>
                </a:solidFill>
                <a:latin typeface="Georgia"/>
                <a:ea typeface="Georgia"/>
                <a:cs typeface="Georgia"/>
              </a:defRPr>
            </a:pPr>
            <a:r>
              <a:rPr sz="2550" b="1">
                <a:solidFill>
                  <a:srgbClr val="1D2430"/>
                </a:solidFill>
                <a:latin typeface="Georgia"/>
                <a:ea typeface="Georgia"/>
                <a:cs typeface="Georgia"/>
              </a:rPr>
              <a:t>The dashboard is a cockpit, not an automation daemon.</a:t>
            </a:r>
          </a:p>
        </p:txBody>
      </p:sp>
      <p:sp>
        <p:nvSpPr>
          <p:cNvPr id="8" name="">
            <a:extLst xmlns:a="http://schemas.openxmlformats.org/drawingml/2006/main">
              <a:ext uri="{FF2B5EF4-FFF2-40B4-BE49-F238E27FC236}">
                <a16:creationId xmlns:a16="http://schemas.microsoft.com/office/drawing/2014/main" id="{AB0488B1-BA54-4EEB-8CBE-B71E1A700C73}"/>
              </a:ext>
            </a:extLst>
          </p:cNvPr>
          <p:cNvSpPr>
            <a:spLocks xmlns:a="http://schemas.openxmlformats.org/drawingml/2006/main" noGrp="1"/>
          </p:cNvSpPr>
          <p:nvPr/>
        </p:nvSpPr>
        <p:spPr>
          <a:xfrm xmlns:a="http://schemas.openxmlformats.org/drawingml/2006/main">
            <a:off x="762000" y="2247900"/>
            <a:ext cx="4953000" cy="2381250"/>
          </a:xfrm>
          <a:prstGeom xmlns:a="http://schemas.openxmlformats.org/drawingml/2006/main" prst="roundRect">
            <a:avLst>
              <a:gd name="adj" fmla="val 3200"/>
            </a:avLst>
          </a:prstGeom>
          <a:solidFill xmlns:a="http://schemas.openxmlformats.org/drawingml/2006/main">
            <a:srgbClr val="F9FAFB"/>
          </a:solidFill>
          <a:ln xmlns:a="http://schemas.openxmlformats.org/drawingml/2006/main" w="0">
            <a:prstDash val="solid"/>
          </a:ln>
        </p:spPr>
      </p:sp>
      <p:sp>
        <p:nvSpPr>
          <p:cNvPr id="9" name="">
            <a:extLst xmlns:a="http://schemas.openxmlformats.org/drawingml/2006/main">
              <a:ext uri="{FF2B5EF4-FFF2-40B4-BE49-F238E27FC236}">
                <a16:creationId xmlns:a16="http://schemas.microsoft.com/office/drawing/2014/main" id="{1EB543CE-8956-45B9-8D9E-99D5B6A124DC}"/>
              </a:ext>
            </a:extLst>
          </p:cNvPr>
          <p:cNvSpPr>
            <a:spLocks xmlns:a="http://schemas.openxmlformats.org/drawingml/2006/main" noGrp="1"/>
          </p:cNvSpPr>
          <p:nvPr/>
        </p:nvSpPr>
        <p:spPr>
          <a:xfrm xmlns:a="http://schemas.openxmlformats.org/drawingml/2006/main">
            <a:off x="1066800" y="2552700"/>
            <a:ext cx="247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D2430"/>
                </a:solidFill>
                <a:latin typeface="Georgia"/>
                <a:ea typeface="Georgia"/>
                <a:cs typeface="Georgia"/>
              </a:defRPr>
            </a:pPr>
            <a:r>
              <a:rPr sz="1500" b="1">
                <a:solidFill>
                  <a:srgbClr val="1D2430"/>
                </a:solidFill>
                <a:latin typeface="Georgia"/>
                <a:ea typeface="Georgia"/>
                <a:cs typeface="Georgia"/>
              </a:rPr>
              <a:t>What it shows</a:t>
            </a:r>
          </a:p>
        </p:txBody>
      </p:sp>
      <p:sp>
        <p:nvSpPr>
          <p:cNvPr id="10" name="">
            <a:extLst xmlns:a="http://schemas.openxmlformats.org/drawingml/2006/main">
              <a:ext uri="{FF2B5EF4-FFF2-40B4-BE49-F238E27FC236}">
                <a16:creationId xmlns:a16="http://schemas.microsoft.com/office/drawing/2014/main" id="{4FEAE1BC-32DF-422E-9C0A-D216FAF29889}"/>
              </a:ext>
            </a:extLst>
          </p:cNvPr>
          <p:cNvSpPr>
            <a:spLocks xmlns:a="http://schemas.openxmlformats.org/drawingml/2006/main" noGrp="1"/>
          </p:cNvSpPr>
          <p:nvPr/>
        </p:nvSpPr>
        <p:spPr>
          <a:xfrm xmlns:a="http://schemas.openxmlformats.org/drawingml/2006/main">
            <a:off x="1104900" y="3028950"/>
            <a:ext cx="371475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57084"/>
                </a:solidFill>
                <a:latin typeface="Avenir Next"/>
                <a:ea typeface="Avenir Next"/>
                <a:cs typeface="Avenir Next"/>
              </a:defRPr>
            </a:pPr>
            <a:r>
              <a:rPr sz="1200" b="0">
                <a:solidFill>
                  <a:srgbClr val="657084"/>
                </a:solidFill>
                <a:latin typeface="Avenir Next"/>
                <a:ea typeface="Avenir Next"/>
                <a:cs typeface="Avenir Next"/>
              </a:rPr>
              <a:t>• corpus counts</a:t>
            </a:r>
          </a:p>
          <a:p xmlns:a="http://schemas.openxmlformats.org/drawingml/2006/main">
            <a:pPr algn="l">
              <a:defRPr sz="1200" b="0">
                <a:solidFill>
                  <a:srgbClr val="657084"/>
                </a:solidFill>
                <a:latin typeface="Avenir Next"/>
                <a:ea typeface="Avenir Next"/>
                <a:cs typeface="Avenir Next"/>
              </a:defRPr>
            </a:pPr>
            <a:r>
              <a:rPr sz="1200" b="0">
                <a:solidFill>
                  <a:srgbClr val="657084"/>
                </a:solidFill>
                <a:latin typeface="Avenir Next"/>
                <a:ea typeface="Avenir Next"/>
                <a:cs typeface="Avenir Next"/>
              </a:rPr>
              <a:t>• idea/exploration status</a:t>
            </a:r>
          </a:p>
          <a:p xmlns:a="http://schemas.openxmlformats.org/drawingml/2006/main">
            <a:pPr algn="l">
              <a:defRPr sz="1200" b="0">
                <a:solidFill>
                  <a:srgbClr val="657084"/>
                </a:solidFill>
                <a:latin typeface="Avenir Next"/>
                <a:ea typeface="Avenir Next"/>
                <a:cs typeface="Avenir Next"/>
              </a:defRPr>
            </a:pPr>
            <a:r>
              <a:rPr sz="1200" b="0">
                <a:solidFill>
                  <a:srgbClr val="657084"/>
                </a:solidFill>
                <a:latin typeface="Avenir Next"/>
                <a:ea typeface="Avenir Next"/>
                <a:cs typeface="Avenir Next"/>
              </a:rPr>
              <a:t>• project progress</a:t>
            </a:r>
          </a:p>
          <a:p xmlns:a="http://schemas.openxmlformats.org/drawingml/2006/main">
            <a:pPr algn="l">
              <a:defRPr sz="1200" b="0">
                <a:solidFill>
                  <a:srgbClr val="657084"/>
                </a:solidFill>
                <a:latin typeface="Avenir Next"/>
                <a:ea typeface="Avenir Next"/>
                <a:cs typeface="Avenir Next"/>
              </a:defRPr>
            </a:pPr>
            <a:r>
              <a:rPr sz="1200" b="0">
                <a:solidFill>
                  <a:srgbClr val="657084"/>
                </a:solidFill>
                <a:latin typeface="Avenir Next"/>
                <a:ea typeface="Avenir Next"/>
                <a:cs typeface="Avenir Next"/>
              </a:rPr>
              <a:t>• command prompts</a:t>
            </a:r>
          </a:p>
          <a:p xmlns:a="http://schemas.openxmlformats.org/drawingml/2006/main">
            <a:pPr algn="l">
              <a:defRPr sz="1200" b="0">
                <a:solidFill>
                  <a:srgbClr val="657084"/>
                </a:solidFill>
                <a:latin typeface="Avenir Next"/>
                <a:ea typeface="Avenir Next"/>
                <a:cs typeface="Avenir Next"/>
              </a:defRPr>
            </a:pPr>
            <a:r>
              <a:rPr sz="1200" b="0">
                <a:solidFill>
                  <a:srgbClr val="657084"/>
                </a:solidFill>
                <a:latin typeface="Avenir Next"/>
                <a:ea typeface="Avenir Next"/>
                <a:cs typeface="Avenir Next"/>
              </a:rPr>
              <a:t>• Mendeley bridge state</a:t>
            </a:r>
          </a:p>
        </p:txBody>
      </p:sp>
      <p:sp>
        <p:nvSpPr>
          <p:cNvPr id="11" name="">
            <a:extLst xmlns:a="http://schemas.openxmlformats.org/drawingml/2006/main">
              <a:ext uri="{FF2B5EF4-FFF2-40B4-BE49-F238E27FC236}">
                <a16:creationId xmlns:a16="http://schemas.microsoft.com/office/drawing/2014/main" id="{DC724DAF-4735-427E-856D-36BD47378D45}"/>
              </a:ext>
            </a:extLst>
          </p:cNvPr>
          <p:cNvSpPr>
            <a:spLocks xmlns:a="http://schemas.openxmlformats.org/drawingml/2006/main" noGrp="1"/>
          </p:cNvSpPr>
          <p:nvPr/>
        </p:nvSpPr>
        <p:spPr>
          <a:xfrm xmlns:a="http://schemas.openxmlformats.org/drawingml/2006/main">
            <a:off x="6477000" y="2247900"/>
            <a:ext cx="4953000" cy="2381250"/>
          </a:xfrm>
          <a:prstGeom xmlns:a="http://schemas.openxmlformats.org/drawingml/2006/main" prst="roundRect">
            <a:avLst>
              <a:gd name="adj" fmla="val 3200"/>
            </a:avLst>
          </a:prstGeom>
          <a:solidFill xmlns:a="http://schemas.openxmlformats.org/drawingml/2006/main">
            <a:srgbClr val="F9FAFB"/>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5FEC2727-8DE3-4E20-BEEA-76BA2E87E1FE}"/>
              </a:ext>
            </a:extLst>
          </p:cNvPr>
          <p:cNvSpPr>
            <a:spLocks xmlns:a="http://schemas.openxmlformats.org/drawingml/2006/main" noGrp="1"/>
          </p:cNvSpPr>
          <p:nvPr/>
        </p:nvSpPr>
        <p:spPr>
          <a:xfrm xmlns:a="http://schemas.openxmlformats.org/drawingml/2006/main">
            <a:off x="6781800" y="2552700"/>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D2430"/>
                </a:solidFill>
                <a:latin typeface="Georgia"/>
                <a:ea typeface="Georgia"/>
                <a:cs typeface="Georgia"/>
              </a:defRPr>
            </a:pPr>
            <a:r>
              <a:rPr sz="1500" b="1">
                <a:solidFill>
                  <a:srgbClr val="1D2430"/>
                </a:solidFill>
                <a:latin typeface="Georgia"/>
                <a:ea typeface="Georgia"/>
                <a:cs typeface="Georgia"/>
              </a:rPr>
              <a:t>What it does not do</a:t>
            </a:r>
          </a:p>
        </p:txBody>
      </p:sp>
      <p:sp>
        <p:nvSpPr>
          <p:cNvPr id="13" name="">
            <a:extLst xmlns:a="http://schemas.openxmlformats.org/drawingml/2006/main">
              <a:ext uri="{FF2B5EF4-FFF2-40B4-BE49-F238E27FC236}">
                <a16:creationId xmlns:a16="http://schemas.microsoft.com/office/drawing/2014/main" id="{F2E343C8-CF37-4C05-BFB6-4F38CCA42F08}"/>
              </a:ext>
            </a:extLst>
          </p:cNvPr>
          <p:cNvSpPr>
            <a:spLocks xmlns:a="http://schemas.openxmlformats.org/drawingml/2006/main" noGrp="1"/>
          </p:cNvSpPr>
          <p:nvPr/>
        </p:nvSpPr>
        <p:spPr>
          <a:xfrm xmlns:a="http://schemas.openxmlformats.org/drawingml/2006/main">
            <a:off x="6819900" y="3028950"/>
            <a:ext cx="371475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57084"/>
                </a:solidFill>
                <a:latin typeface="Avenir Next"/>
                <a:ea typeface="Avenir Next"/>
                <a:cs typeface="Avenir Next"/>
              </a:defRPr>
            </a:pPr>
            <a:r>
              <a:rPr sz="1200" b="0">
                <a:solidFill>
                  <a:srgbClr val="657084"/>
                </a:solidFill>
                <a:latin typeface="Avenir Next"/>
                <a:ea typeface="Avenir Next"/>
                <a:cs typeface="Avenir Next"/>
              </a:rPr>
              <a:t>• run shell commands directly</a:t>
            </a:r>
          </a:p>
          <a:p xmlns:a="http://schemas.openxmlformats.org/drawingml/2006/main">
            <a:pPr algn="l">
              <a:defRPr sz="1200" b="0">
                <a:solidFill>
                  <a:srgbClr val="657084"/>
                </a:solidFill>
                <a:latin typeface="Avenir Next"/>
                <a:ea typeface="Avenir Next"/>
                <a:cs typeface="Avenir Next"/>
              </a:defRPr>
            </a:pPr>
            <a:r>
              <a:rPr sz="1200" b="0">
                <a:solidFill>
                  <a:srgbClr val="657084"/>
                </a:solidFill>
                <a:latin typeface="Avenir Next"/>
                <a:ea typeface="Avenir Next"/>
                <a:cs typeface="Avenir Next"/>
              </a:rPr>
              <a:t>• silently ingest papers</a:t>
            </a:r>
          </a:p>
          <a:p xmlns:a="http://schemas.openxmlformats.org/drawingml/2006/main">
            <a:pPr algn="l">
              <a:defRPr sz="1200" b="0">
                <a:solidFill>
                  <a:srgbClr val="657084"/>
                </a:solidFill>
                <a:latin typeface="Avenir Next"/>
                <a:ea typeface="Avenir Next"/>
                <a:cs typeface="Avenir Next"/>
              </a:defRPr>
            </a:pPr>
            <a:r>
              <a:rPr sz="1200" b="0">
                <a:solidFill>
                  <a:srgbClr val="657084"/>
                </a:solidFill>
                <a:latin typeface="Avenir Next"/>
                <a:ea typeface="Avenir Next"/>
                <a:cs typeface="Avenir Next"/>
              </a:rPr>
              <a:t>• modify Mendeley internals</a:t>
            </a:r>
          </a:p>
          <a:p xmlns:a="http://schemas.openxmlformats.org/drawingml/2006/main">
            <a:pPr algn="l">
              <a:defRPr sz="1200" b="0">
                <a:solidFill>
                  <a:srgbClr val="657084"/>
                </a:solidFill>
                <a:latin typeface="Avenir Next"/>
                <a:ea typeface="Avenir Next"/>
                <a:cs typeface="Avenir Next"/>
              </a:defRPr>
            </a:pPr>
            <a:r>
              <a:rPr sz="1200" b="0">
                <a:solidFill>
                  <a:srgbClr val="657084"/>
                </a:solidFill>
                <a:latin typeface="Avenir Next"/>
                <a:ea typeface="Avenir Next"/>
                <a:cs typeface="Avenir Next"/>
              </a:rPr>
              <a:t>• decide what is true</a:t>
            </a:r>
          </a:p>
          <a:p xmlns:a="http://schemas.openxmlformats.org/drawingml/2006/main">
            <a:pPr algn="l">
              <a:defRPr sz="1200" b="0">
                <a:solidFill>
                  <a:srgbClr val="657084"/>
                </a:solidFill>
                <a:latin typeface="Avenir Next"/>
                <a:ea typeface="Avenir Next"/>
                <a:cs typeface="Avenir Next"/>
              </a:defRPr>
            </a:pPr>
            <a:r>
              <a:rPr sz="1200" b="0">
                <a:solidFill>
                  <a:srgbClr val="657084"/>
                </a:solidFill>
                <a:latin typeface="Avenir Next"/>
                <a:ea typeface="Avenir Next"/>
                <a:cs typeface="Avenir Next"/>
              </a:rPr>
              <a:t>• replace human approval gates</a:t>
            </a:r>
          </a:p>
        </p:txBody>
      </p:sp>
      <p:sp>
        <p:nvSpPr>
          <p:cNvPr id="14" name="">
            <a:extLst xmlns:a="http://schemas.openxmlformats.org/drawingml/2006/main">
              <a:ext uri="{FF2B5EF4-FFF2-40B4-BE49-F238E27FC236}">
                <a16:creationId xmlns:a16="http://schemas.microsoft.com/office/drawing/2014/main" id="{7FCE44F5-41AE-496F-9FF1-F15596F3F21C}"/>
              </a:ext>
            </a:extLst>
          </p:cNvPr>
          <p:cNvSpPr>
            <a:spLocks xmlns:a="http://schemas.openxmlformats.org/drawingml/2006/main" noGrp="1"/>
          </p:cNvSpPr>
          <p:nvPr/>
        </p:nvSpPr>
        <p:spPr>
          <a:xfrm xmlns:a="http://schemas.openxmlformats.org/drawingml/2006/main">
            <a:off x="1524000" y="5257800"/>
            <a:ext cx="9144000" cy="28575"/>
          </a:xfrm>
          <a:prstGeom xmlns:a="http://schemas.openxmlformats.org/drawingml/2006/main" prst="rect">
            <a:avLst/>
          </a:prstGeom>
          <a:solidFill xmlns:a="http://schemas.openxmlformats.org/drawingml/2006/main">
            <a:srgbClr val="0F766E"/>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8A0DC58B-E28D-4DBD-8003-F787FE2EEE92}"/>
              </a:ext>
            </a:extLst>
          </p:cNvPr>
          <p:cNvSpPr>
            <a:spLocks xmlns:a="http://schemas.openxmlformats.org/drawingml/2006/main" noGrp="1"/>
          </p:cNvSpPr>
          <p:nvPr/>
        </p:nvSpPr>
        <p:spPr>
          <a:xfrm xmlns:a="http://schemas.openxmlformats.org/drawingml/2006/main">
            <a:off x="1638300" y="5524500"/>
            <a:ext cx="89154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657084"/>
                </a:solidFill>
                <a:latin typeface="Avenir Next"/>
                <a:ea typeface="Avenir Next"/>
                <a:cs typeface="Avenir Next"/>
              </a:defRPr>
            </a:pPr>
            <a:r>
              <a:rPr sz="1200" b="0">
                <a:solidFill>
                  <a:srgbClr val="657084"/>
                </a:solidFill>
                <a:latin typeface="Avenir Next"/>
                <a:ea typeface="Avenir Next"/>
                <a:cs typeface="Avenir Next"/>
              </a:rPr>
              <a:t>Use the copy-ready commands, paste them into Codex, Claude, or Terminal, and let the filesystem remain the shared state.</a:t>
            </a:r>
          </a:p>
        </p:txBody>
      </p:sp>
      <p:sp>
        <p:nvSpPr>
          <p:cNvPr id="16" name="">
            <a:extLst xmlns:a="http://schemas.openxmlformats.org/drawingml/2006/main">
              <a:ext uri="{FF2B5EF4-FFF2-40B4-BE49-F238E27FC236}">
                <a16:creationId xmlns:a16="http://schemas.microsoft.com/office/drawing/2014/main" id="{7106858B-7A6B-4BB4-9350-2AF609393F82}"/>
              </a:ext>
            </a:extLst>
          </p:cNvPr>
          <p:cNvSpPr>
            <a:spLocks xmlns:a="http://schemas.openxmlformats.org/drawingml/2006/main" noGrp="1"/>
          </p:cNvSpPr>
          <p:nvPr/>
        </p:nvSpPr>
        <p:spPr>
          <a:xfrm xmlns:a="http://schemas.openxmlformats.org/drawingml/2006/main">
            <a:off x="552450" y="6305550"/>
            <a:ext cx="11087100" cy="9525"/>
          </a:xfrm>
          <a:prstGeom xmlns:a="http://schemas.openxmlformats.org/drawingml/2006/main" prst="rect">
            <a:avLst/>
          </a:prstGeom>
          <a:solidFill xmlns:a="http://schemas.openxmlformats.org/drawingml/2006/main">
            <a:srgbClr val="D8DEE8"/>
          </a:solidFill>
          <a:ln xmlns:a="http://schemas.openxmlformats.org/drawingml/2006/main" w="0">
            <a:prstDash val="solid"/>
          </a:ln>
        </p:spPr>
      </p:sp>
      <p:sp>
        <p:nvSpPr>
          <p:cNvPr id="17" name="">
            <a:extLst xmlns:a="http://schemas.openxmlformats.org/drawingml/2006/main">
              <a:ext uri="{FF2B5EF4-FFF2-40B4-BE49-F238E27FC236}">
                <a16:creationId xmlns:a16="http://schemas.microsoft.com/office/drawing/2014/main" id="{7B583CD6-EBEB-4023-88CF-64EC0293EF72}"/>
              </a:ext>
            </a:extLst>
          </p:cNvPr>
          <p:cNvSpPr>
            <a:spLocks xmlns:a="http://schemas.openxmlformats.org/drawingml/2006/main" noGrp="1"/>
          </p:cNvSpPr>
          <p:nvPr/>
        </p:nvSpPr>
        <p:spPr>
          <a:xfrm xmlns:a="http://schemas.openxmlformats.org/drawingml/2006/main">
            <a:off x="552450" y="6438900"/>
            <a:ext cx="666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Browser buttons copy commands only.</a:t>
            </a:r>
          </a:p>
        </p:txBody>
      </p:sp>
      <p:sp>
        <p:nvSpPr>
          <p:cNvPr id="18" name="">
            <a:extLst xmlns:a="http://schemas.openxmlformats.org/drawingml/2006/main">
              <a:ext uri="{FF2B5EF4-FFF2-40B4-BE49-F238E27FC236}">
                <a16:creationId xmlns:a16="http://schemas.microsoft.com/office/drawing/2014/main" id="{07DAA48C-1B5C-4219-B014-C5F8EAFFE345}"/>
              </a:ext>
            </a:extLst>
          </p:cNvPr>
          <p:cNvSpPr>
            <a:spLocks xmlns:a="http://schemas.openxmlformats.org/drawingml/2006/main" noGrp="1"/>
          </p:cNvSpPr>
          <p:nvPr/>
        </p:nvSpPr>
        <p:spPr>
          <a:xfrm xmlns:a="http://schemas.openxmlformats.org/drawingml/2006/main">
            <a:off x="9239250" y="6438900"/>
            <a:ext cx="2400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Project_management_system</a:t>
            </a:r>
          </a:p>
        </p:txBody>
      </p:sp>
    </p:spTree>
    <p:extLst>
      <p:ext uri="{BB962C8B-B14F-4D97-AF65-F5344CB8AC3E}">
        <p14:creationId xmlns:p14="http://schemas.microsoft.com/office/powerpoint/2010/main" val="150010527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9DF1C2-E52A-4C97-A1CE-0D1846F617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2" name="">
            <a:extLst xmlns:a="http://schemas.openxmlformats.org/drawingml/2006/main">
              <a:ext uri="{FF2B5EF4-FFF2-40B4-BE49-F238E27FC236}">
                <a16:creationId xmlns:a16="http://schemas.microsoft.com/office/drawing/2014/main" id="{4F12E787-60F9-4A68-A46A-2B72862CCAB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prstDash val="solid"/>
          </a:ln>
        </p:spPr>
      </p:sp>
      <p:sp>
        <p:nvSpPr>
          <p:cNvPr id="3" name="">
            <a:extLst xmlns:a="http://schemas.openxmlformats.org/drawingml/2006/main">
              <a:ext uri="{FF2B5EF4-FFF2-40B4-BE49-F238E27FC236}">
                <a16:creationId xmlns:a16="http://schemas.microsoft.com/office/drawing/2014/main" id="{AE9A1D38-BF86-4080-92FC-C67A17BCB61B}"/>
              </a:ext>
            </a:extLst>
          </p:cNvPr>
          <p:cNvSpPr>
            <a:spLocks xmlns:a="http://schemas.openxmlformats.org/drawingml/2006/main" noGrp="1"/>
          </p:cNvSpPr>
          <p:nvPr/>
        </p:nvSpPr>
        <p:spPr>
          <a:xfrm xmlns:a="http://schemas.openxmlformats.org/drawingml/2006/main">
            <a:off x="0" y="0"/>
            <a:ext cx="12192000" cy="12192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4" name="">
            <a:extLst xmlns:a="http://schemas.openxmlformats.org/drawingml/2006/main">
              <a:ext uri="{FF2B5EF4-FFF2-40B4-BE49-F238E27FC236}">
                <a16:creationId xmlns:a16="http://schemas.microsoft.com/office/drawing/2014/main" id="{3D6E7C3F-8F10-426A-ADFF-36EB7963EE7A}"/>
              </a:ext>
            </a:extLst>
          </p:cNvPr>
          <p:cNvSpPr>
            <a:spLocks xmlns:a="http://schemas.openxmlformats.org/drawingml/2006/main" noGrp="1"/>
          </p:cNvSpPr>
          <p:nvPr/>
        </p:nvSpPr>
        <p:spPr>
          <a:xfrm xmlns:a="http://schemas.openxmlformats.org/drawingml/2006/main">
            <a:off x="552450" y="514350"/>
            <a:ext cx="438150" cy="38100"/>
          </a:xfrm>
          <a:prstGeom xmlns:a="http://schemas.openxmlformats.org/drawingml/2006/main" prst="rect">
            <a:avLst/>
          </a:prstGeom>
          <a:solidFill xmlns:a="http://schemas.openxmlformats.org/drawingml/2006/main">
            <a:srgbClr val="0F766E"/>
          </a:solidFill>
          <a:ln xmlns:a="http://schemas.openxmlformats.org/drawingml/2006/main" w="0">
            <a:prstDash val="solid"/>
          </a:ln>
        </p:spPr>
      </p:sp>
      <p:sp>
        <p:nvSpPr>
          <p:cNvPr id="5" name="kicker-9-label">
            <a:extLst xmlns:a="http://schemas.openxmlformats.org/drawingml/2006/main">
              <a:ext uri="{FF2B5EF4-FFF2-40B4-BE49-F238E27FC236}">
                <a16:creationId xmlns:a16="http://schemas.microsoft.com/office/drawing/2014/main" id="{1D4ECD7C-212B-48D1-B70A-367B93DD6AB2}"/>
              </a:ext>
            </a:extLst>
          </p:cNvPr>
          <p:cNvSpPr>
            <a:spLocks xmlns:a="http://schemas.openxmlformats.org/drawingml/2006/main" noGrp="1"/>
          </p:cNvSpPr>
          <p:nvPr/>
        </p:nvSpPr>
        <p:spPr>
          <a:xfrm xmlns:a="http://schemas.openxmlformats.org/drawingml/2006/main">
            <a:off x="1104900" y="428625"/>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825" b="1">
                <a:solidFill>
                  <a:srgbClr val="0F766E"/>
                </a:solidFill>
                <a:latin typeface="Avenir Next"/>
                <a:ea typeface="Avenir Next"/>
                <a:cs typeface="Avenir Next"/>
              </a:defRPr>
            </a:pPr>
            <a:r>
              <a:rPr sz="825" b="1">
                <a:solidFill>
                  <a:srgbClr val="0F766E"/>
                </a:solidFill>
                <a:latin typeface="Avenir Next"/>
                <a:ea typeface="Avenir Next"/>
                <a:cs typeface="Avenir Next"/>
              </a:rPr>
              <a:t>OPERATING EXAMPLES</a:t>
            </a:r>
          </a:p>
        </p:txBody>
      </p:sp>
      <p:sp>
        <p:nvSpPr>
          <p:cNvPr id="6" name="">
            <a:extLst xmlns:a="http://schemas.openxmlformats.org/drawingml/2006/main">
              <a:ext uri="{FF2B5EF4-FFF2-40B4-BE49-F238E27FC236}">
                <a16:creationId xmlns:a16="http://schemas.microsoft.com/office/drawing/2014/main" id="{7FD30A3A-7DD9-4FCA-8764-5692AA3DF036}"/>
              </a:ext>
            </a:extLst>
          </p:cNvPr>
          <p:cNvSpPr>
            <a:spLocks xmlns:a="http://schemas.openxmlformats.org/drawingml/2006/main" noGrp="1"/>
          </p:cNvSpPr>
          <p:nvPr/>
        </p:nvSpPr>
        <p:spPr>
          <a:xfrm xmlns:a="http://schemas.openxmlformats.org/drawingml/2006/main">
            <a:off x="11049000" y="428625"/>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57084"/>
                </a:solidFill>
                <a:latin typeface="Avenir Next"/>
                <a:ea typeface="Avenir Next"/>
                <a:cs typeface="Avenir Next"/>
              </a:defRPr>
            </a:pPr>
            <a:r>
              <a:rPr sz="825" b="1">
                <a:solidFill>
                  <a:srgbClr val="657084"/>
                </a:solidFill>
                <a:latin typeface="Avenir Next"/>
                <a:ea typeface="Avenir Next"/>
                <a:cs typeface="Avenir Next"/>
              </a:rPr>
              <a:t>09</a:t>
            </a:r>
          </a:p>
        </p:txBody>
      </p:sp>
      <p:sp>
        <p:nvSpPr>
          <p:cNvPr id="7" name="">
            <a:extLst xmlns:a="http://schemas.openxmlformats.org/drawingml/2006/main">
              <a:ext uri="{FF2B5EF4-FFF2-40B4-BE49-F238E27FC236}">
                <a16:creationId xmlns:a16="http://schemas.microsoft.com/office/drawing/2014/main" id="{548A3749-804B-492B-B8DD-19160FA48AF5}"/>
              </a:ext>
            </a:extLst>
          </p:cNvPr>
          <p:cNvSpPr>
            <a:spLocks xmlns:a="http://schemas.openxmlformats.org/drawingml/2006/main" noGrp="1"/>
          </p:cNvSpPr>
          <p:nvPr/>
        </p:nvSpPr>
        <p:spPr>
          <a:xfrm xmlns:a="http://schemas.openxmlformats.org/drawingml/2006/main">
            <a:off x="552450" y="876300"/>
            <a:ext cx="8858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D2430"/>
                </a:solidFill>
                <a:latin typeface="Georgia"/>
                <a:ea typeface="Georgia"/>
                <a:cs typeface="Georgia"/>
              </a:defRPr>
            </a:pPr>
            <a:r>
              <a:rPr sz="2550" b="1">
                <a:solidFill>
                  <a:srgbClr val="1D2430"/>
                </a:solidFill>
                <a:latin typeface="Georgia"/>
                <a:ea typeface="Georgia"/>
                <a:cs typeface="Georgia"/>
              </a:rPr>
              <a:t>Choose the lane by asking: what is the output supposed to become?</a:t>
            </a:r>
          </a:p>
        </p:txBody>
      </p:sp>
      <p:sp>
        <p:nvSpPr>
          <p:cNvPr id="8" name="">
            <a:extLst xmlns:a="http://schemas.openxmlformats.org/drawingml/2006/main">
              <a:ext uri="{FF2B5EF4-FFF2-40B4-BE49-F238E27FC236}">
                <a16:creationId xmlns:a16="http://schemas.microsoft.com/office/drawing/2014/main" id="{2AE5DCE4-6C45-4B01-BFDB-20AC02DA62C7}"/>
              </a:ext>
            </a:extLst>
          </p:cNvPr>
          <p:cNvSpPr>
            <a:spLocks xmlns:a="http://schemas.openxmlformats.org/drawingml/2006/main" noGrp="1"/>
          </p:cNvSpPr>
          <p:nvPr/>
        </p:nvSpPr>
        <p:spPr>
          <a:xfrm xmlns:a="http://schemas.openxmlformats.org/drawingml/2006/main">
            <a:off x="742950" y="2000250"/>
            <a:ext cx="10668000" cy="514350"/>
          </a:xfrm>
          <a:prstGeom xmlns:a="http://schemas.openxmlformats.org/drawingml/2006/main" prst="roundRect">
            <a:avLst>
              <a:gd name="adj" fmla="val 14815"/>
            </a:avLst>
          </a:prstGeom>
          <a:solidFill xmlns:a="http://schemas.openxmlformats.org/drawingml/2006/main">
            <a:srgbClr val="F9FAFB"/>
          </a:solidFill>
          <a:ln xmlns:a="http://schemas.openxmlformats.org/drawingml/2006/main" w="0">
            <a:prstDash val="solid"/>
          </a:ln>
        </p:spPr>
      </p:sp>
      <p:sp>
        <p:nvSpPr>
          <p:cNvPr id="9" name="">
            <a:extLst xmlns:a="http://schemas.openxmlformats.org/drawingml/2006/main">
              <a:ext uri="{FF2B5EF4-FFF2-40B4-BE49-F238E27FC236}">
                <a16:creationId xmlns:a16="http://schemas.microsoft.com/office/drawing/2014/main" id="{F1E202E3-D2AC-4F7F-B067-57D646750961}"/>
              </a:ext>
            </a:extLst>
          </p:cNvPr>
          <p:cNvSpPr>
            <a:spLocks xmlns:a="http://schemas.openxmlformats.org/drawingml/2006/main" noGrp="1"/>
          </p:cNvSpPr>
          <p:nvPr/>
        </p:nvSpPr>
        <p:spPr>
          <a:xfrm xmlns:a="http://schemas.openxmlformats.org/drawingml/2006/main">
            <a:off x="1028700" y="214312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1D2430"/>
                </a:solidFill>
                <a:latin typeface="Avenir Next"/>
                <a:ea typeface="Avenir Next"/>
                <a:cs typeface="Avenir Next"/>
              </a:defRPr>
            </a:pPr>
            <a:r>
              <a:rPr sz="1088" b="1">
                <a:solidFill>
                  <a:srgbClr val="1D2430"/>
                </a:solidFill>
                <a:latin typeface="Avenir Next"/>
                <a:ea typeface="Avenir Next"/>
                <a:cs typeface="Avenir Next"/>
              </a:rPr>
              <a:t>I found a PDF I want remembered.</a:t>
            </a:r>
          </a:p>
        </p:txBody>
      </p:sp>
      <p:sp>
        <p:nvSpPr>
          <p:cNvPr id="10" name="">
            <a:extLst xmlns:a="http://schemas.openxmlformats.org/drawingml/2006/main">
              <a:ext uri="{FF2B5EF4-FFF2-40B4-BE49-F238E27FC236}">
                <a16:creationId xmlns:a16="http://schemas.microsoft.com/office/drawing/2014/main" id="{AB5EAF61-1091-4815-9A34-4B1B08FD643C}"/>
              </a:ext>
            </a:extLst>
          </p:cNvPr>
          <p:cNvSpPr>
            <a:spLocks xmlns:a="http://schemas.openxmlformats.org/drawingml/2006/main" noGrp="1"/>
          </p:cNvSpPr>
          <p:nvPr/>
        </p:nvSpPr>
        <p:spPr>
          <a:xfrm xmlns:a="http://schemas.openxmlformats.org/drawingml/2006/main">
            <a:off x="5143500" y="214312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0F766E"/>
                </a:solidFill>
                <a:latin typeface="Avenir Next"/>
                <a:ea typeface="Avenir Next"/>
                <a:cs typeface="Avenir Next"/>
              </a:defRPr>
            </a:pPr>
            <a:r>
              <a:rPr sz="1088" b="1">
                <a:solidFill>
                  <a:srgbClr val="0F766E"/>
                </a:solidFill>
                <a:latin typeface="Avenir Next"/>
                <a:ea typeface="Avenir Next"/>
                <a:cs typeface="Avenir Next"/>
              </a:rPr>
              <a:t>Library</a:t>
            </a:r>
          </a:p>
        </p:txBody>
      </p:sp>
      <p:sp>
        <p:nvSpPr>
          <p:cNvPr id="11" name="">
            <a:extLst xmlns:a="http://schemas.openxmlformats.org/drawingml/2006/main">
              <a:ext uri="{FF2B5EF4-FFF2-40B4-BE49-F238E27FC236}">
                <a16:creationId xmlns:a16="http://schemas.microsoft.com/office/drawing/2014/main" id="{5517F913-CFB5-4F44-95BD-1C642848BAC9}"/>
              </a:ext>
            </a:extLst>
          </p:cNvPr>
          <p:cNvSpPr>
            <a:spLocks xmlns:a="http://schemas.openxmlformats.org/drawingml/2006/main" noGrp="1"/>
          </p:cNvSpPr>
          <p:nvPr/>
        </p:nvSpPr>
        <p:spPr>
          <a:xfrm xmlns:a="http://schemas.openxmlformats.org/drawingml/2006/main">
            <a:off x="6953250" y="2143125"/>
            <a:ext cx="3905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papers/inbox/ → Global wiki ingest</a:t>
            </a:r>
          </a:p>
        </p:txBody>
      </p:sp>
      <p:sp>
        <p:nvSpPr>
          <p:cNvPr id="12" name="">
            <a:extLst xmlns:a="http://schemas.openxmlformats.org/drawingml/2006/main">
              <a:ext uri="{FF2B5EF4-FFF2-40B4-BE49-F238E27FC236}">
                <a16:creationId xmlns:a16="http://schemas.microsoft.com/office/drawing/2014/main" id="{15960769-1968-4816-B717-80B563B7E226}"/>
              </a:ext>
            </a:extLst>
          </p:cNvPr>
          <p:cNvSpPr>
            <a:spLocks xmlns:a="http://schemas.openxmlformats.org/drawingml/2006/main" noGrp="1"/>
          </p:cNvSpPr>
          <p:nvPr/>
        </p:nvSpPr>
        <p:spPr>
          <a:xfrm xmlns:a="http://schemas.openxmlformats.org/drawingml/2006/main">
            <a:off x="742950" y="2743200"/>
            <a:ext cx="10668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0">
            <a:prstDash val="solid"/>
          </a:ln>
        </p:spPr>
      </p:sp>
      <p:sp>
        <p:nvSpPr>
          <p:cNvPr id="13" name="">
            <a:extLst xmlns:a="http://schemas.openxmlformats.org/drawingml/2006/main">
              <a:ext uri="{FF2B5EF4-FFF2-40B4-BE49-F238E27FC236}">
                <a16:creationId xmlns:a16="http://schemas.microsoft.com/office/drawing/2014/main" id="{6D1A22A6-40DC-4782-9FE4-EF49653A84F4}"/>
              </a:ext>
            </a:extLst>
          </p:cNvPr>
          <p:cNvSpPr>
            <a:spLocks xmlns:a="http://schemas.openxmlformats.org/drawingml/2006/main" noGrp="1"/>
          </p:cNvSpPr>
          <p:nvPr/>
        </p:nvSpPr>
        <p:spPr>
          <a:xfrm xmlns:a="http://schemas.openxmlformats.org/drawingml/2006/main">
            <a:off x="1028700" y="288607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1D2430"/>
                </a:solidFill>
                <a:latin typeface="Avenir Next"/>
                <a:ea typeface="Avenir Next"/>
                <a:cs typeface="Avenir Next"/>
              </a:defRPr>
            </a:pPr>
            <a:r>
              <a:rPr sz="1088" b="1">
                <a:solidFill>
                  <a:srgbClr val="1D2430"/>
                </a:solidFill>
                <a:latin typeface="Avenir Next"/>
                <a:ea typeface="Avenir Next"/>
                <a:cs typeface="Avenir Next"/>
              </a:rPr>
              <a:t>I had an interesting conversation.</a:t>
            </a:r>
          </a:p>
        </p:txBody>
      </p:sp>
      <p:sp>
        <p:nvSpPr>
          <p:cNvPr id="14" name="">
            <a:extLst xmlns:a="http://schemas.openxmlformats.org/drawingml/2006/main">
              <a:ext uri="{FF2B5EF4-FFF2-40B4-BE49-F238E27FC236}">
                <a16:creationId xmlns:a16="http://schemas.microsoft.com/office/drawing/2014/main" id="{40D3BCEB-33F7-4974-9BDC-FCD9F6C5371B}"/>
              </a:ext>
            </a:extLst>
          </p:cNvPr>
          <p:cNvSpPr>
            <a:spLocks xmlns:a="http://schemas.openxmlformats.org/drawingml/2006/main" noGrp="1"/>
          </p:cNvSpPr>
          <p:nvPr/>
        </p:nvSpPr>
        <p:spPr>
          <a:xfrm xmlns:a="http://schemas.openxmlformats.org/drawingml/2006/main">
            <a:off x="5143500" y="288607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B45309"/>
                </a:solidFill>
                <a:latin typeface="Avenir Next"/>
                <a:ea typeface="Avenir Next"/>
                <a:cs typeface="Avenir Next"/>
              </a:defRPr>
            </a:pPr>
            <a:r>
              <a:rPr sz="1088" b="1">
                <a:solidFill>
                  <a:srgbClr val="B45309"/>
                </a:solidFill>
                <a:latin typeface="Avenir Next"/>
                <a:ea typeface="Avenir Next"/>
                <a:cs typeface="Avenir Next"/>
              </a:rPr>
              <a:t>Exploration</a:t>
            </a:r>
          </a:p>
        </p:txBody>
      </p:sp>
      <p:sp>
        <p:nvSpPr>
          <p:cNvPr id="15" name="">
            <a:extLst xmlns:a="http://schemas.openxmlformats.org/drawingml/2006/main">
              <a:ext uri="{FF2B5EF4-FFF2-40B4-BE49-F238E27FC236}">
                <a16:creationId xmlns:a16="http://schemas.microsoft.com/office/drawing/2014/main" id="{5C539890-9A07-42CF-BE24-FDDF6C4DBF2E}"/>
              </a:ext>
            </a:extLst>
          </p:cNvPr>
          <p:cNvSpPr>
            <a:spLocks xmlns:a="http://schemas.openxmlformats.org/drawingml/2006/main" noGrp="1"/>
          </p:cNvSpPr>
          <p:nvPr/>
        </p:nvSpPr>
        <p:spPr>
          <a:xfrm xmlns:a="http://schemas.openxmlformats.org/drawingml/2006/main">
            <a:off x="6953250" y="2886075"/>
            <a:ext cx="3905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idea-notes/{idea}.md</a:t>
            </a:r>
          </a:p>
        </p:txBody>
      </p:sp>
      <p:sp>
        <p:nvSpPr>
          <p:cNvPr id="16" name="">
            <a:extLst xmlns:a="http://schemas.openxmlformats.org/drawingml/2006/main">
              <a:ext uri="{FF2B5EF4-FFF2-40B4-BE49-F238E27FC236}">
                <a16:creationId xmlns:a16="http://schemas.microsoft.com/office/drawing/2014/main" id="{2F7E8250-8A22-4D6A-9F37-1330FDDF3BAE}"/>
              </a:ext>
            </a:extLst>
          </p:cNvPr>
          <p:cNvSpPr>
            <a:spLocks xmlns:a="http://schemas.openxmlformats.org/drawingml/2006/main" noGrp="1"/>
          </p:cNvSpPr>
          <p:nvPr/>
        </p:nvSpPr>
        <p:spPr>
          <a:xfrm xmlns:a="http://schemas.openxmlformats.org/drawingml/2006/main">
            <a:off x="742950" y="3486150"/>
            <a:ext cx="10668000" cy="514350"/>
          </a:xfrm>
          <a:prstGeom xmlns:a="http://schemas.openxmlformats.org/drawingml/2006/main" prst="roundRect">
            <a:avLst>
              <a:gd name="adj" fmla="val 14815"/>
            </a:avLst>
          </a:prstGeom>
          <a:solidFill xmlns:a="http://schemas.openxmlformats.org/drawingml/2006/main">
            <a:srgbClr val="F9FAFB"/>
          </a:solidFill>
          <a:ln xmlns:a="http://schemas.openxmlformats.org/drawingml/2006/main" w="0">
            <a:prstDash val="solid"/>
          </a:ln>
        </p:spPr>
      </p:sp>
      <p:sp>
        <p:nvSpPr>
          <p:cNvPr id="17" name="">
            <a:extLst xmlns:a="http://schemas.openxmlformats.org/drawingml/2006/main">
              <a:ext uri="{FF2B5EF4-FFF2-40B4-BE49-F238E27FC236}">
                <a16:creationId xmlns:a16="http://schemas.microsoft.com/office/drawing/2014/main" id="{D0886F03-F844-41EF-893D-3D378180C88D}"/>
              </a:ext>
            </a:extLst>
          </p:cNvPr>
          <p:cNvSpPr>
            <a:spLocks xmlns:a="http://schemas.openxmlformats.org/drawingml/2006/main" noGrp="1"/>
          </p:cNvSpPr>
          <p:nvPr/>
        </p:nvSpPr>
        <p:spPr>
          <a:xfrm xmlns:a="http://schemas.openxmlformats.org/drawingml/2006/main">
            <a:off x="1028700" y="362902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1D2430"/>
                </a:solidFill>
                <a:latin typeface="Avenir Next"/>
                <a:ea typeface="Avenir Next"/>
                <a:cs typeface="Avenir Next"/>
              </a:defRPr>
            </a:pPr>
            <a:r>
              <a:rPr sz="1088" b="1">
                <a:solidFill>
                  <a:srgbClr val="1D2430"/>
                </a:solidFill>
                <a:latin typeface="Avenir Next"/>
                <a:ea typeface="Avenir Next"/>
                <a:cs typeface="Avenir Next"/>
              </a:rPr>
              <a:t>This idea deserves literature probing.</a:t>
            </a:r>
          </a:p>
        </p:txBody>
      </p:sp>
      <p:sp>
        <p:nvSpPr>
          <p:cNvPr id="18" name="">
            <a:extLst xmlns:a="http://schemas.openxmlformats.org/drawingml/2006/main">
              <a:ext uri="{FF2B5EF4-FFF2-40B4-BE49-F238E27FC236}">
                <a16:creationId xmlns:a16="http://schemas.microsoft.com/office/drawing/2014/main" id="{74268491-5C19-4985-BE6D-3C91E92AE46C}"/>
              </a:ext>
            </a:extLst>
          </p:cNvPr>
          <p:cNvSpPr>
            <a:spLocks xmlns:a="http://schemas.openxmlformats.org/drawingml/2006/main" noGrp="1"/>
          </p:cNvSpPr>
          <p:nvPr/>
        </p:nvSpPr>
        <p:spPr>
          <a:xfrm xmlns:a="http://schemas.openxmlformats.org/drawingml/2006/main">
            <a:off x="5143500" y="362902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B45309"/>
                </a:solidFill>
                <a:latin typeface="Avenir Next"/>
                <a:ea typeface="Avenir Next"/>
                <a:cs typeface="Avenir Next"/>
              </a:defRPr>
            </a:pPr>
            <a:r>
              <a:rPr sz="1088" b="1">
                <a:solidFill>
                  <a:srgbClr val="B45309"/>
                </a:solidFill>
                <a:latin typeface="Avenir Next"/>
                <a:ea typeface="Avenir Next"/>
                <a:cs typeface="Avenir Next"/>
              </a:rPr>
              <a:t>Exploration</a:t>
            </a:r>
          </a:p>
        </p:txBody>
      </p:sp>
      <p:sp>
        <p:nvSpPr>
          <p:cNvPr id="19" name="">
            <a:extLst xmlns:a="http://schemas.openxmlformats.org/drawingml/2006/main">
              <a:ext uri="{FF2B5EF4-FFF2-40B4-BE49-F238E27FC236}">
                <a16:creationId xmlns:a16="http://schemas.microsoft.com/office/drawing/2014/main" id="{235EFFA2-2DF7-4664-B93D-0AA76489FE5E}"/>
              </a:ext>
            </a:extLst>
          </p:cNvPr>
          <p:cNvSpPr>
            <a:spLocks xmlns:a="http://schemas.openxmlformats.org/drawingml/2006/main" noGrp="1"/>
          </p:cNvSpPr>
          <p:nvPr/>
        </p:nvSpPr>
        <p:spPr>
          <a:xfrm xmlns:a="http://schemas.openxmlformats.org/drawingml/2006/main">
            <a:off x="6953250" y="3629025"/>
            <a:ext cx="3905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Exploration_Brief → Skeptic Review → active/</a:t>
            </a:r>
          </a:p>
        </p:txBody>
      </p:sp>
      <p:sp>
        <p:nvSpPr>
          <p:cNvPr id="20" name="">
            <a:extLst xmlns:a="http://schemas.openxmlformats.org/drawingml/2006/main">
              <a:ext uri="{FF2B5EF4-FFF2-40B4-BE49-F238E27FC236}">
                <a16:creationId xmlns:a16="http://schemas.microsoft.com/office/drawing/2014/main" id="{C732565B-3CC5-4926-995A-E8F088BFA04A}"/>
              </a:ext>
            </a:extLst>
          </p:cNvPr>
          <p:cNvSpPr>
            <a:spLocks xmlns:a="http://schemas.openxmlformats.org/drawingml/2006/main" noGrp="1"/>
          </p:cNvSpPr>
          <p:nvPr/>
        </p:nvSpPr>
        <p:spPr>
          <a:xfrm xmlns:a="http://schemas.openxmlformats.org/drawingml/2006/main">
            <a:off x="742950" y="4229100"/>
            <a:ext cx="10668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0">
            <a:prstDash val="solid"/>
          </a:ln>
        </p:spPr>
      </p:sp>
      <p:sp>
        <p:nvSpPr>
          <p:cNvPr id="21" name="">
            <a:extLst xmlns:a="http://schemas.openxmlformats.org/drawingml/2006/main">
              <a:ext uri="{FF2B5EF4-FFF2-40B4-BE49-F238E27FC236}">
                <a16:creationId xmlns:a16="http://schemas.microsoft.com/office/drawing/2014/main" id="{FB0F6F63-98DF-4F93-9A50-06ACD980734A}"/>
              </a:ext>
            </a:extLst>
          </p:cNvPr>
          <p:cNvSpPr>
            <a:spLocks xmlns:a="http://schemas.openxmlformats.org/drawingml/2006/main" noGrp="1"/>
          </p:cNvSpPr>
          <p:nvPr/>
        </p:nvSpPr>
        <p:spPr>
          <a:xfrm xmlns:a="http://schemas.openxmlformats.org/drawingml/2006/main">
            <a:off x="1028700" y="437197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1D2430"/>
                </a:solidFill>
                <a:latin typeface="Avenir Next"/>
                <a:ea typeface="Avenir Next"/>
                <a:cs typeface="Avenir Next"/>
              </a:defRPr>
            </a:pPr>
            <a:r>
              <a:rPr sz="1088" b="1">
                <a:solidFill>
                  <a:srgbClr val="1D2430"/>
                </a:solidFill>
                <a:latin typeface="Avenir Next"/>
                <a:ea typeface="Avenir Next"/>
                <a:cs typeface="Avenir Next"/>
              </a:rPr>
              <a:t>I need a grant/review/manuscript.</a:t>
            </a:r>
          </a:p>
        </p:txBody>
      </p:sp>
      <p:sp>
        <p:nvSpPr>
          <p:cNvPr id="22" name="">
            <a:extLst xmlns:a="http://schemas.openxmlformats.org/drawingml/2006/main">
              <a:ext uri="{FF2B5EF4-FFF2-40B4-BE49-F238E27FC236}">
                <a16:creationId xmlns:a16="http://schemas.microsoft.com/office/drawing/2014/main" id="{9710E149-9EF5-49B9-A2F7-35B6F5BF35AA}"/>
              </a:ext>
            </a:extLst>
          </p:cNvPr>
          <p:cNvSpPr>
            <a:spLocks xmlns:a="http://schemas.openxmlformats.org/drawingml/2006/main" noGrp="1"/>
          </p:cNvSpPr>
          <p:nvPr/>
        </p:nvSpPr>
        <p:spPr>
          <a:xfrm xmlns:a="http://schemas.openxmlformats.org/drawingml/2006/main">
            <a:off x="5143500" y="437197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2563EB"/>
                </a:solidFill>
                <a:latin typeface="Avenir Next"/>
                <a:ea typeface="Avenir Next"/>
                <a:cs typeface="Avenir Next"/>
              </a:defRPr>
            </a:pPr>
            <a:r>
              <a:rPr sz="1088" b="1">
                <a:solidFill>
                  <a:srgbClr val="2563EB"/>
                </a:solidFill>
                <a:latin typeface="Avenir Next"/>
                <a:ea typeface="Avenir Next"/>
                <a:cs typeface="Avenir Next"/>
              </a:rPr>
              <a:t>Project</a:t>
            </a:r>
          </a:p>
        </p:txBody>
      </p:sp>
      <p:sp>
        <p:nvSpPr>
          <p:cNvPr id="23" name="">
            <a:extLst xmlns:a="http://schemas.openxmlformats.org/drawingml/2006/main">
              <a:ext uri="{FF2B5EF4-FFF2-40B4-BE49-F238E27FC236}">
                <a16:creationId xmlns:a16="http://schemas.microsoft.com/office/drawing/2014/main" id="{9952BEA8-421C-4223-B852-58F7F846F9A5}"/>
              </a:ext>
            </a:extLst>
          </p:cNvPr>
          <p:cNvSpPr>
            <a:spLocks xmlns:a="http://schemas.openxmlformats.org/drawingml/2006/main" noGrp="1"/>
          </p:cNvSpPr>
          <p:nvPr/>
        </p:nvSpPr>
        <p:spPr>
          <a:xfrm xmlns:a="http://schemas.openxmlformats.org/drawingml/2006/main">
            <a:off x="6953250" y="4371975"/>
            <a:ext cx="3905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Project_Brief.md → Scout/Triage/Draft</a:t>
            </a:r>
          </a:p>
        </p:txBody>
      </p:sp>
      <p:sp>
        <p:nvSpPr>
          <p:cNvPr id="24" name="">
            <a:extLst xmlns:a="http://schemas.openxmlformats.org/drawingml/2006/main">
              <a:ext uri="{FF2B5EF4-FFF2-40B4-BE49-F238E27FC236}">
                <a16:creationId xmlns:a16="http://schemas.microsoft.com/office/drawing/2014/main" id="{07CE2B09-4EC4-4E28-B225-FEA3499B9CD5}"/>
              </a:ext>
            </a:extLst>
          </p:cNvPr>
          <p:cNvSpPr>
            <a:spLocks xmlns:a="http://schemas.openxmlformats.org/drawingml/2006/main" noGrp="1"/>
          </p:cNvSpPr>
          <p:nvPr/>
        </p:nvSpPr>
        <p:spPr>
          <a:xfrm xmlns:a="http://schemas.openxmlformats.org/drawingml/2006/main">
            <a:off x="742950" y="4972050"/>
            <a:ext cx="10668000" cy="514350"/>
          </a:xfrm>
          <a:prstGeom xmlns:a="http://schemas.openxmlformats.org/drawingml/2006/main" prst="roundRect">
            <a:avLst>
              <a:gd name="adj" fmla="val 14815"/>
            </a:avLst>
          </a:prstGeom>
          <a:solidFill xmlns:a="http://schemas.openxmlformats.org/drawingml/2006/main">
            <a:srgbClr val="F9FAFB"/>
          </a:solidFill>
          <a:ln xmlns:a="http://schemas.openxmlformats.org/drawingml/2006/main" w="0">
            <a:prstDash val="solid"/>
          </a:ln>
        </p:spPr>
      </p:sp>
      <p:sp>
        <p:nvSpPr>
          <p:cNvPr id="25" name="">
            <a:extLst xmlns:a="http://schemas.openxmlformats.org/drawingml/2006/main">
              <a:ext uri="{FF2B5EF4-FFF2-40B4-BE49-F238E27FC236}">
                <a16:creationId xmlns:a16="http://schemas.microsoft.com/office/drawing/2014/main" id="{9EB69158-9441-481C-ADDE-F1D89CCF63B2}"/>
              </a:ext>
            </a:extLst>
          </p:cNvPr>
          <p:cNvSpPr>
            <a:spLocks xmlns:a="http://schemas.openxmlformats.org/drawingml/2006/main" noGrp="1"/>
          </p:cNvSpPr>
          <p:nvPr/>
        </p:nvSpPr>
        <p:spPr>
          <a:xfrm xmlns:a="http://schemas.openxmlformats.org/drawingml/2006/main">
            <a:off x="1028700" y="5114925"/>
            <a:ext cx="3619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1D2430"/>
                </a:solidFill>
                <a:latin typeface="Avenir Next"/>
                <a:ea typeface="Avenir Next"/>
                <a:cs typeface="Avenir Next"/>
              </a:defRPr>
            </a:pPr>
            <a:r>
              <a:rPr sz="1088" b="1">
                <a:solidFill>
                  <a:srgbClr val="1D2430"/>
                </a:solidFill>
                <a:latin typeface="Avenir Next"/>
                <a:ea typeface="Avenir Next"/>
                <a:cs typeface="Avenir Next"/>
              </a:rPr>
              <a:t>A draft insight is broadly useful.</a:t>
            </a:r>
          </a:p>
        </p:txBody>
      </p:sp>
      <p:sp>
        <p:nvSpPr>
          <p:cNvPr id="26" name="">
            <a:extLst xmlns:a="http://schemas.openxmlformats.org/drawingml/2006/main">
              <a:ext uri="{FF2B5EF4-FFF2-40B4-BE49-F238E27FC236}">
                <a16:creationId xmlns:a16="http://schemas.microsoft.com/office/drawing/2014/main" id="{7236645A-9C18-4F95-B23D-A302D4BABAB3}"/>
              </a:ext>
            </a:extLst>
          </p:cNvPr>
          <p:cNvSpPr>
            <a:spLocks xmlns:a="http://schemas.openxmlformats.org/drawingml/2006/main" noGrp="1"/>
          </p:cNvSpPr>
          <p:nvPr/>
        </p:nvSpPr>
        <p:spPr>
          <a:xfrm xmlns:a="http://schemas.openxmlformats.org/drawingml/2006/main">
            <a:off x="5143500" y="5114925"/>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88" b="1">
                <a:solidFill>
                  <a:srgbClr val="0F766E"/>
                </a:solidFill>
                <a:latin typeface="Avenir Next"/>
                <a:ea typeface="Avenir Next"/>
                <a:cs typeface="Avenir Next"/>
              </a:defRPr>
            </a:pPr>
            <a:r>
              <a:rPr sz="1088" b="1">
                <a:solidFill>
                  <a:srgbClr val="0F766E"/>
                </a:solidFill>
                <a:latin typeface="Avenir Next"/>
                <a:ea typeface="Avenir Next"/>
                <a:cs typeface="Avenir Next"/>
              </a:rPr>
              <a:t>Library</a:t>
            </a:r>
          </a:p>
        </p:txBody>
      </p:sp>
      <p:sp>
        <p:nvSpPr>
          <p:cNvPr id="27" name="">
            <a:extLst xmlns:a="http://schemas.openxmlformats.org/drawingml/2006/main">
              <a:ext uri="{FF2B5EF4-FFF2-40B4-BE49-F238E27FC236}">
                <a16:creationId xmlns:a16="http://schemas.microsoft.com/office/drawing/2014/main" id="{AB1B7A9C-E12D-481F-A3BE-B7163E21AC76}"/>
              </a:ext>
            </a:extLst>
          </p:cNvPr>
          <p:cNvSpPr>
            <a:spLocks xmlns:a="http://schemas.openxmlformats.org/drawingml/2006/main" noGrp="1"/>
          </p:cNvSpPr>
          <p:nvPr/>
        </p:nvSpPr>
        <p:spPr>
          <a:xfrm xmlns:a="http://schemas.openxmlformats.org/drawingml/2006/main">
            <a:off x="6953250" y="5114925"/>
            <a:ext cx="3905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Promote to wiki/overviews/</a:t>
            </a:r>
          </a:p>
        </p:txBody>
      </p:sp>
      <p:sp>
        <p:nvSpPr>
          <p:cNvPr id="28" name="">
            <a:extLst xmlns:a="http://schemas.openxmlformats.org/drawingml/2006/main">
              <a:ext uri="{FF2B5EF4-FFF2-40B4-BE49-F238E27FC236}">
                <a16:creationId xmlns:a16="http://schemas.microsoft.com/office/drawing/2014/main" id="{F6420ACE-D35A-418B-A8A9-E7075F757906}"/>
              </a:ext>
            </a:extLst>
          </p:cNvPr>
          <p:cNvSpPr>
            <a:spLocks xmlns:a="http://schemas.openxmlformats.org/drawingml/2006/main" noGrp="1"/>
          </p:cNvSpPr>
          <p:nvPr/>
        </p:nvSpPr>
        <p:spPr>
          <a:xfrm xmlns:a="http://schemas.openxmlformats.org/drawingml/2006/main">
            <a:off x="552450" y="6305550"/>
            <a:ext cx="11087100" cy="9525"/>
          </a:xfrm>
          <a:prstGeom xmlns:a="http://schemas.openxmlformats.org/drawingml/2006/main" prst="rect">
            <a:avLst/>
          </a:prstGeom>
          <a:solidFill xmlns:a="http://schemas.openxmlformats.org/drawingml/2006/main">
            <a:srgbClr val="D8DEE8"/>
          </a:solidFill>
          <a:ln xmlns:a="http://schemas.openxmlformats.org/drawingml/2006/main" w="0">
            <a:prstDash val="solid"/>
          </a:ln>
        </p:spPr>
      </p:sp>
      <p:sp>
        <p:nvSpPr>
          <p:cNvPr id="29" name="">
            <a:extLst xmlns:a="http://schemas.openxmlformats.org/drawingml/2006/main">
              <a:ext uri="{FF2B5EF4-FFF2-40B4-BE49-F238E27FC236}">
                <a16:creationId xmlns:a16="http://schemas.microsoft.com/office/drawing/2014/main" id="{82977FAB-26BB-42B0-8D7C-7398944A048F}"/>
              </a:ext>
            </a:extLst>
          </p:cNvPr>
          <p:cNvSpPr>
            <a:spLocks xmlns:a="http://schemas.openxmlformats.org/drawingml/2006/main" noGrp="1"/>
          </p:cNvSpPr>
          <p:nvPr/>
        </p:nvSpPr>
        <p:spPr>
          <a:xfrm xmlns:a="http://schemas.openxmlformats.org/drawingml/2006/main">
            <a:off x="552450" y="6438900"/>
            <a:ext cx="666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The same topic can appear in all three spaces, but the artifact type changes.</a:t>
            </a:r>
          </a:p>
        </p:txBody>
      </p:sp>
      <p:sp>
        <p:nvSpPr>
          <p:cNvPr id="30" name="">
            <a:extLst xmlns:a="http://schemas.openxmlformats.org/drawingml/2006/main">
              <a:ext uri="{FF2B5EF4-FFF2-40B4-BE49-F238E27FC236}">
                <a16:creationId xmlns:a16="http://schemas.microsoft.com/office/drawing/2014/main" id="{F2DE9EB8-EF6C-4DF6-A948-EEDEADC6D57F}"/>
              </a:ext>
            </a:extLst>
          </p:cNvPr>
          <p:cNvSpPr>
            <a:spLocks xmlns:a="http://schemas.openxmlformats.org/drawingml/2006/main" noGrp="1"/>
          </p:cNvSpPr>
          <p:nvPr/>
        </p:nvSpPr>
        <p:spPr>
          <a:xfrm xmlns:a="http://schemas.openxmlformats.org/drawingml/2006/main">
            <a:off x="9239250" y="6438900"/>
            <a:ext cx="2400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Project_management_system</a:t>
            </a:r>
          </a:p>
        </p:txBody>
      </p:sp>
    </p:spTree>
    <p:extLst>
      <p:ext uri="{BB962C8B-B14F-4D97-AF65-F5344CB8AC3E}">
        <p14:creationId xmlns:p14="http://schemas.microsoft.com/office/powerpoint/2010/main" val="35229321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71A7ACF-F3A1-455B-8105-C3354E069D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2" name="">
            <a:extLst xmlns:a="http://schemas.openxmlformats.org/drawingml/2006/main">
              <a:ext uri="{FF2B5EF4-FFF2-40B4-BE49-F238E27FC236}">
                <a16:creationId xmlns:a16="http://schemas.microsoft.com/office/drawing/2014/main" id="{194D886C-A0E8-4E6E-BB8A-7174435D6F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prstDash val="solid"/>
          </a:ln>
        </p:spPr>
      </p:sp>
      <p:sp>
        <p:nvSpPr>
          <p:cNvPr id="3" name="">
            <a:extLst xmlns:a="http://schemas.openxmlformats.org/drawingml/2006/main">
              <a:ext uri="{FF2B5EF4-FFF2-40B4-BE49-F238E27FC236}">
                <a16:creationId xmlns:a16="http://schemas.microsoft.com/office/drawing/2014/main" id="{7687081B-1954-467B-B00D-DC01341ADAA7}"/>
              </a:ext>
            </a:extLst>
          </p:cNvPr>
          <p:cNvSpPr>
            <a:spLocks xmlns:a="http://schemas.openxmlformats.org/drawingml/2006/main" noGrp="1"/>
          </p:cNvSpPr>
          <p:nvPr/>
        </p:nvSpPr>
        <p:spPr>
          <a:xfrm xmlns:a="http://schemas.openxmlformats.org/drawingml/2006/main">
            <a:off x="0" y="0"/>
            <a:ext cx="12192000" cy="1219200"/>
          </a:xfrm>
          <a:prstGeom xmlns:a="http://schemas.openxmlformats.org/drawingml/2006/main" prst="rect">
            <a:avLst/>
          </a:prstGeom>
          <a:solidFill xmlns:a="http://schemas.openxmlformats.org/drawingml/2006/main">
            <a:srgbClr val="F6F7F2"/>
          </a:solidFill>
          <a:ln xmlns:a="http://schemas.openxmlformats.org/drawingml/2006/main" w="0">
            <a:prstDash val="solid"/>
          </a:ln>
        </p:spPr>
      </p:sp>
      <p:sp>
        <p:nvSpPr>
          <p:cNvPr id="4" name="">
            <a:extLst xmlns:a="http://schemas.openxmlformats.org/drawingml/2006/main">
              <a:ext uri="{FF2B5EF4-FFF2-40B4-BE49-F238E27FC236}">
                <a16:creationId xmlns:a16="http://schemas.microsoft.com/office/drawing/2014/main" id="{530C37FD-F548-4932-A98B-2723027013F4}"/>
              </a:ext>
            </a:extLst>
          </p:cNvPr>
          <p:cNvSpPr>
            <a:spLocks xmlns:a="http://schemas.openxmlformats.org/drawingml/2006/main" noGrp="1"/>
          </p:cNvSpPr>
          <p:nvPr/>
        </p:nvSpPr>
        <p:spPr>
          <a:xfrm xmlns:a="http://schemas.openxmlformats.org/drawingml/2006/main">
            <a:off x="552450" y="514350"/>
            <a:ext cx="438150" cy="38100"/>
          </a:xfrm>
          <a:prstGeom xmlns:a="http://schemas.openxmlformats.org/drawingml/2006/main" prst="rect">
            <a:avLst/>
          </a:prstGeom>
          <a:solidFill xmlns:a="http://schemas.openxmlformats.org/drawingml/2006/main">
            <a:srgbClr val="0F766E"/>
          </a:solidFill>
          <a:ln xmlns:a="http://schemas.openxmlformats.org/drawingml/2006/main" w="0">
            <a:prstDash val="solid"/>
          </a:ln>
        </p:spPr>
      </p:sp>
      <p:sp>
        <p:nvSpPr>
          <p:cNvPr id="5" name="kicker-10-label">
            <a:extLst xmlns:a="http://schemas.openxmlformats.org/drawingml/2006/main">
              <a:ext uri="{FF2B5EF4-FFF2-40B4-BE49-F238E27FC236}">
                <a16:creationId xmlns:a16="http://schemas.microsoft.com/office/drawing/2014/main" id="{A53147C6-CD93-4E30-AEA4-2D4FB1EBA6D3}"/>
              </a:ext>
            </a:extLst>
          </p:cNvPr>
          <p:cNvSpPr>
            <a:spLocks xmlns:a="http://schemas.openxmlformats.org/drawingml/2006/main" noGrp="1"/>
          </p:cNvSpPr>
          <p:nvPr/>
        </p:nvSpPr>
        <p:spPr>
          <a:xfrm xmlns:a="http://schemas.openxmlformats.org/drawingml/2006/main">
            <a:off x="1104900" y="428625"/>
            <a:ext cx="419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19050" rIns="0" bIns="0" anchor="t"/>
          <a:lstStyle xmlns:a="http://schemas.openxmlformats.org/drawingml/2006/main"/>
          <a:p xmlns:a="http://schemas.openxmlformats.org/drawingml/2006/main">
            <a:pPr algn="l">
              <a:defRPr sz="825" b="1">
                <a:solidFill>
                  <a:srgbClr val="0F766E"/>
                </a:solidFill>
                <a:latin typeface="Avenir Next"/>
                <a:ea typeface="Avenir Next"/>
                <a:cs typeface="Avenir Next"/>
              </a:defRPr>
            </a:pPr>
            <a:r>
              <a:rPr sz="825" b="1">
                <a:solidFill>
                  <a:srgbClr val="0F766E"/>
                </a:solidFill>
                <a:latin typeface="Avenir Next"/>
                <a:ea typeface="Avenir Next"/>
                <a:cs typeface="Avenir Next"/>
              </a:rPr>
              <a:t>START HERE</a:t>
            </a:r>
          </a:p>
        </p:txBody>
      </p:sp>
      <p:sp>
        <p:nvSpPr>
          <p:cNvPr id="6" name="">
            <a:extLst xmlns:a="http://schemas.openxmlformats.org/drawingml/2006/main">
              <a:ext uri="{FF2B5EF4-FFF2-40B4-BE49-F238E27FC236}">
                <a16:creationId xmlns:a16="http://schemas.microsoft.com/office/drawing/2014/main" id="{2160BB06-BCDA-4D01-9C6D-0D7EAD61B9E1}"/>
              </a:ext>
            </a:extLst>
          </p:cNvPr>
          <p:cNvSpPr>
            <a:spLocks xmlns:a="http://schemas.openxmlformats.org/drawingml/2006/main" noGrp="1"/>
          </p:cNvSpPr>
          <p:nvPr/>
        </p:nvSpPr>
        <p:spPr>
          <a:xfrm xmlns:a="http://schemas.openxmlformats.org/drawingml/2006/main">
            <a:off x="11049000" y="428625"/>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657084"/>
                </a:solidFill>
                <a:latin typeface="Avenir Next"/>
                <a:ea typeface="Avenir Next"/>
                <a:cs typeface="Avenir Next"/>
              </a:defRPr>
            </a:pPr>
            <a:r>
              <a:rPr sz="825" b="1">
                <a:solidFill>
                  <a:srgbClr val="657084"/>
                </a:solidFill>
                <a:latin typeface="Avenir Next"/>
                <a:ea typeface="Avenir Next"/>
                <a:cs typeface="Avenir Next"/>
              </a:rPr>
              <a:t>10</a:t>
            </a:r>
          </a:p>
        </p:txBody>
      </p:sp>
      <p:sp>
        <p:nvSpPr>
          <p:cNvPr id="7" name="">
            <a:extLst xmlns:a="http://schemas.openxmlformats.org/drawingml/2006/main">
              <a:ext uri="{FF2B5EF4-FFF2-40B4-BE49-F238E27FC236}">
                <a16:creationId xmlns:a16="http://schemas.microsoft.com/office/drawing/2014/main" id="{DDF9FCD8-D4DA-4A71-AD2C-ECFD690BE3FE}"/>
              </a:ext>
            </a:extLst>
          </p:cNvPr>
          <p:cNvSpPr>
            <a:spLocks xmlns:a="http://schemas.openxmlformats.org/drawingml/2006/main" noGrp="1"/>
          </p:cNvSpPr>
          <p:nvPr/>
        </p:nvSpPr>
        <p:spPr>
          <a:xfrm xmlns:a="http://schemas.openxmlformats.org/drawingml/2006/main">
            <a:off x="552450" y="876300"/>
            <a:ext cx="88582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D2430"/>
                </a:solidFill>
                <a:latin typeface="Georgia"/>
                <a:ea typeface="Georgia"/>
                <a:cs typeface="Georgia"/>
              </a:defRPr>
            </a:pPr>
            <a:r>
              <a:rPr sz="2550" b="1">
                <a:solidFill>
                  <a:srgbClr val="1D2430"/>
                </a:solidFill>
                <a:latin typeface="Georgia"/>
                <a:ea typeface="Georgia"/>
                <a:cs typeface="Georgia"/>
              </a:rPr>
              <a:t>A low-friction operating rhythm keeps the system useful.</a:t>
            </a:r>
          </a:p>
        </p:txBody>
      </p:sp>
      <p:sp>
        <p:nvSpPr>
          <p:cNvPr id="8" name="">
            <a:extLst xmlns:a="http://schemas.openxmlformats.org/drawingml/2006/main">
              <a:ext uri="{FF2B5EF4-FFF2-40B4-BE49-F238E27FC236}">
                <a16:creationId xmlns:a16="http://schemas.microsoft.com/office/drawing/2014/main" id="{CC3928BF-65FD-4A16-9310-E0A866044EFE}"/>
              </a:ext>
            </a:extLst>
          </p:cNvPr>
          <p:cNvSpPr>
            <a:spLocks xmlns:a="http://schemas.openxmlformats.org/drawingml/2006/main" noGrp="1"/>
          </p:cNvSpPr>
          <p:nvPr/>
        </p:nvSpPr>
        <p:spPr>
          <a:xfrm xmlns:a="http://schemas.openxmlformats.org/drawingml/2006/main">
            <a:off x="952500" y="2266950"/>
            <a:ext cx="285750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0">
            <a:prstDash val="solid"/>
          </a:ln>
        </p:spPr>
      </p:sp>
      <p:sp>
        <p:nvSpPr>
          <p:cNvPr id="9" name="">
            <a:extLst xmlns:a="http://schemas.openxmlformats.org/drawingml/2006/main">
              <a:ext uri="{FF2B5EF4-FFF2-40B4-BE49-F238E27FC236}">
                <a16:creationId xmlns:a16="http://schemas.microsoft.com/office/drawing/2014/main" id="{A18D15C8-253B-4C2C-9291-E88B4FAE420B}"/>
              </a:ext>
            </a:extLst>
          </p:cNvPr>
          <p:cNvSpPr>
            <a:spLocks xmlns:a="http://schemas.openxmlformats.org/drawingml/2006/main" noGrp="1"/>
          </p:cNvSpPr>
          <p:nvPr/>
        </p:nvSpPr>
        <p:spPr>
          <a:xfrm xmlns:a="http://schemas.openxmlformats.org/drawingml/2006/main">
            <a:off x="1181100" y="2495550"/>
            <a:ext cx="2190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F766E"/>
                </a:solidFill>
                <a:latin typeface="Georgia"/>
                <a:ea typeface="Georgia"/>
                <a:cs typeface="Georgia"/>
              </a:defRPr>
            </a:pPr>
            <a:r>
              <a:rPr sz="1425" b="1">
                <a:solidFill>
                  <a:srgbClr val="0F766E"/>
                </a:solidFill>
                <a:latin typeface="Georgia"/>
                <a:ea typeface="Georgia"/>
                <a:cs typeface="Georgia"/>
              </a:rPr>
              <a:t>Daily</a:t>
            </a:r>
          </a:p>
        </p:txBody>
      </p:sp>
      <p:sp>
        <p:nvSpPr>
          <p:cNvPr id="10" name="">
            <a:extLst xmlns:a="http://schemas.openxmlformats.org/drawingml/2006/main">
              <a:ext uri="{FF2B5EF4-FFF2-40B4-BE49-F238E27FC236}">
                <a16:creationId xmlns:a16="http://schemas.microsoft.com/office/drawing/2014/main" id="{2825C1F9-3EE5-4442-B79A-8AD1C8FA07F7}"/>
              </a:ext>
            </a:extLst>
          </p:cNvPr>
          <p:cNvSpPr>
            <a:spLocks xmlns:a="http://schemas.openxmlformats.org/drawingml/2006/main" noGrp="1"/>
          </p:cNvSpPr>
          <p:nvPr/>
        </p:nvSpPr>
        <p:spPr>
          <a:xfrm xmlns:a="http://schemas.openxmlformats.org/drawingml/2006/main">
            <a:off x="1181100" y="2895600"/>
            <a:ext cx="228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Capture only meaningful idea updates, not full conversations.</a:t>
            </a:r>
          </a:p>
        </p:txBody>
      </p:sp>
      <p:sp>
        <p:nvSpPr>
          <p:cNvPr id="11" name="">
            <a:extLst xmlns:a="http://schemas.openxmlformats.org/drawingml/2006/main">
              <a:ext uri="{FF2B5EF4-FFF2-40B4-BE49-F238E27FC236}">
                <a16:creationId xmlns:a16="http://schemas.microsoft.com/office/drawing/2014/main" id="{BE279433-6F57-46AE-B2DF-DD3E56A8416D}"/>
              </a:ext>
            </a:extLst>
          </p:cNvPr>
          <p:cNvSpPr>
            <a:spLocks xmlns:a="http://schemas.openxmlformats.org/drawingml/2006/main" noGrp="1"/>
          </p:cNvSpPr>
          <p:nvPr/>
        </p:nvSpPr>
        <p:spPr>
          <a:xfrm xmlns:a="http://schemas.openxmlformats.org/drawingml/2006/main">
            <a:off x="4381500" y="2266950"/>
            <a:ext cx="285750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0">
            <a:prstDash val="solid"/>
          </a:ln>
        </p:spPr>
      </p:sp>
      <p:sp>
        <p:nvSpPr>
          <p:cNvPr id="12" name="">
            <a:extLst xmlns:a="http://schemas.openxmlformats.org/drawingml/2006/main">
              <a:ext uri="{FF2B5EF4-FFF2-40B4-BE49-F238E27FC236}">
                <a16:creationId xmlns:a16="http://schemas.microsoft.com/office/drawing/2014/main" id="{9E08B7EC-DD3E-4D1A-B999-1180EC42EE42}"/>
              </a:ext>
            </a:extLst>
          </p:cNvPr>
          <p:cNvSpPr>
            <a:spLocks xmlns:a="http://schemas.openxmlformats.org/drawingml/2006/main" noGrp="1"/>
          </p:cNvSpPr>
          <p:nvPr/>
        </p:nvSpPr>
        <p:spPr>
          <a:xfrm xmlns:a="http://schemas.openxmlformats.org/drawingml/2006/main">
            <a:off x="4610100" y="2495550"/>
            <a:ext cx="2190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B45309"/>
                </a:solidFill>
                <a:latin typeface="Georgia"/>
                <a:ea typeface="Georgia"/>
                <a:cs typeface="Georgia"/>
              </a:defRPr>
            </a:pPr>
            <a:r>
              <a:rPr sz="1425" b="1">
                <a:solidFill>
                  <a:srgbClr val="B45309"/>
                </a:solidFill>
                <a:latin typeface="Georgia"/>
                <a:ea typeface="Georgia"/>
                <a:cs typeface="Georgia"/>
              </a:rPr>
              <a:t>Weekly</a:t>
            </a:r>
          </a:p>
        </p:txBody>
      </p:sp>
      <p:sp>
        <p:nvSpPr>
          <p:cNvPr id="13" name="">
            <a:extLst xmlns:a="http://schemas.openxmlformats.org/drawingml/2006/main">
              <a:ext uri="{FF2B5EF4-FFF2-40B4-BE49-F238E27FC236}">
                <a16:creationId xmlns:a16="http://schemas.microsoft.com/office/drawing/2014/main" id="{19A01B9F-CD73-4561-9F4A-736605DEAF38}"/>
              </a:ext>
            </a:extLst>
          </p:cNvPr>
          <p:cNvSpPr>
            <a:spLocks xmlns:a="http://schemas.openxmlformats.org/drawingml/2006/main" noGrp="1"/>
          </p:cNvSpPr>
          <p:nvPr/>
        </p:nvSpPr>
        <p:spPr>
          <a:xfrm xmlns:a="http://schemas.openxmlformats.org/drawingml/2006/main">
            <a:off x="4610100" y="2895600"/>
            <a:ext cx="228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Choose selected PDFs for global wiki ingest or project ingest.</a:t>
            </a:r>
          </a:p>
        </p:txBody>
      </p:sp>
      <p:sp>
        <p:nvSpPr>
          <p:cNvPr id="14" name="">
            <a:extLst xmlns:a="http://schemas.openxmlformats.org/drawingml/2006/main">
              <a:ext uri="{FF2B5EF4-FFF2-40B4-BE49-F238E27FC236}">
                <a16:creationId xmlns:a16="http://schemas.microsoft.com/office/drawing/2014/main" id="{6109A1B6-67BC-4C05-A440-A8E012283F57}"/>
              </a:ext>
            </a:extLst>
          </p:cNvPr>
          <p:cNvSpPr>
            <a:spLocks xmlns:a="http://schemas.openxmlformats.org/drawingml/2006/main" noGrp="1"/>
          </p:cNvSpPr>
          <p:nvPr/>
        </p:nvSpPr>
        <p:spPr>
          <a:xfrm xmlns:a="http://schemas.openxmlformats.org/drawingml/2006/main">
            <a:off x="7810500" y="2266950"/>
            <a:ext cx="285750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0">
            <a:prstDash val="solid"/>
          </a:ln>
        </p:spPr>
      </p:sp>
      <p:sp>
        <p:nvSpPr>
          <p:cNvPr id="15" name="">
            <a:extLst xmlns:a="http://schemas.openxmlformats.org/drawingml/2006/main">
              <a:ext uri="{FF2B5EF4-FFF2-40B4-BE49-F238E27FC236}">
                <a16:creationId xmlns:a16="http://schemas.microsoft.com/office/drawing/2014/main" id="{E470CF01-E134-438E-B7EE-C26FB7164773}"/>
              </a:ext>
            </a:extLst>
          </p:cNvPr>
          <p:cNvSpPr>
            <a:spLocks xmlns:a="http://schemas.openxmlformats.org/drawingml/2006/main" noGrp="1"/>
          </p:cNvSpPr>
          <p:nvPr/>
        </p:nvSpPr>
        <p:spPr>
          <a:xfrm xmlns:a="http://schemas.openxmlformats.org/drawingml/2006/main">
            <a:off x="8039100" y="2495550"/>
            <a:ext cx="2190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F766E"/>
                </a:solidFill>
                <a:latin typeface="Georgia"/>
                <a:ea typeface="Georgia"/>
                <a:cs typeface="Georgia"/>
              </a:defRPr>
            </a:pPr>
            <a:r>
              <a:rPr sz="1425" b="1">
                <a:solidFill>
                  <a:srgbClr val="0F766E"/>
                </a:solidFill>
                <a:latin typeface="Georgia"/>
                <a:ea typeface="Georgia"/>
                <a:cs typeface="Georgia"/>
              </a:rPr>
              <a:t>When 3+ papers cluster</a:t>
            </a:r>
          </a:p>
        </p:txBody>
      </p:sp>
      <p:sp>
        <p:nvSpPr>
          <p:cNvPr id="16" name="">
            <a:extLst xmlns:a="http://schemas.openxmlformats.org/drawingml/2006/main">
              <a:ext uri="{FF2B5EF4-FFF2-40B4-BE49-F238E27FC236}">
                <a16:creationId xmlns:a16="http://schemas.microsoft.com/office/drawing/2014/main" id="{D48B1357-6FC8-4804-8D9C-104885418240}"/>
              </a:ext>
            </a:extLst>
          </p:cNvPr>
          <p:cNvSpPr>
            <a:spLocks xmlns:a="http://schemas.openxmlformats.org/drawingml/2006/main" noGrp="1"/>
          </p:cNvSpPr>
          <p:nvPr/>
        </p:nvSpPr>
        <p:spPr>
          <a:xfrm xmlns:a="http://schemas.openxmlformats.org/drawingml/2006/main">
            <a:off x="8039100" y="2895600"/>
            <a:ext cx="228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Ask Claude Code to synthesize a library overview.</a:t>
            </a:r>
          </a:p>
        </p:txBody>
      </p:sp>
      <p:sp>
        <p:nvSpPr>
          <p:cNvPr id="17" name="">
            <a:extLst xmlns:a="http://schemas.openxmlformats.org/drawingml/2006/main">
              <a:ext uri="{FF2B5EF4-FFF2-40B4-BE49-F238E27FC236}">
                <a16:creationId xmlns:a16="http://schemas.microsoft.com/office/drawing/2014/main" id="{319182FB-946D-47E0-AF27-FF97CEB1BC08}"/>
              </a:ext>
            </a:extLst>
          </p:cNvPr>
          <p:cNvSpPr>
            <a:spLocks xmlns:a="http://schemas.openxmlformats.org/drawingml/2006/main" noGrp="1"/>
          </p:cNvSpPr>
          <p:nvPr/>
        </p:nvSpPr>
        <p:spPr>
          <a:xfrm xmlns:a="http://schemas.openxmlformats.org/drawingml/2006/main">
            <a:off x="2667000" y="4267200"/>
            <a:ext cx="285750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0">
            <a:prstDash val="solid"/>
          </a:ln>
        </p:spPr>
      </p:sp>
      <p:sp>
        <p:nvSpPr>
          <p:cNvPr id="18" name="">
            <a:extLst xmlns:a="http://schemas.openxmlformats.org/drawingml/2006/main">
              <a:ext uri="{FF2B5EF4-FFF2-40B4-BE49-F238E27FC236}">
                <a16:creationId xmlns:a16="http://schemas.microsoft.com/office/drawing/2014/main" id="{F0FF3D46-D384-4BBC-885F-9DE484B36506}"/>
              </a:ext>
            </a:extLst>
          </p:cNvPr>
          <p:cNvSpPr>
            <a:spLocks xmlns:a="http://schemas.openxmlformats.org/drawingml/2006/main" noGrp="1"/>
          </p:cNvSpPr>
          <p:nvPr/>
        </p:nvSpPr>
        <p:spPr>
          <a:xfrm xmlns:a="http://schemas.openxmlformats.org/drawingml/2006/main">
            <a:off x="2895600" y="4495800"/>
            <a:ext cx="2190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B45309"/>
                </a:solidFill>
                <a:latin typeface="Georgia"/>
                <a:ea typeface="Georgia"/>
                <a:cs typeface="Georgia"/>
              </a:defRPr>
            </a:pPr>
            <a:r>
              <a:rPr sz="1425" b="1">
                <a:solidFill>
                  <a:srgbClr val="B45309"/>
                </a:solidFill>
                <a:latin typeface="Georgia"/>
                <a:ea typeface="Georgia"/>
                <a:cs typeface="Georgia"/>
              </a:rPr>
              <a:t>Before scouting an idea</a:t>
            </a:r>
          </a:p>
        </p:txBody>
      </p:sp>
      <p:sp>
        <p:nvSpPr>
          <p:cNvPr id="19" name="">
            <a:extLst xmlns:a="http://schemas.openxmlformats.org/drawingml/2006/main">
              <a:ext uri="{FF2B5EF4-FFF2-40B4-BE49-F238E27FC236}">
                <a16:creationId xmlns:a16="http://schemas.microsoft.com/office/drawing/2014/main" id="{88114490-9B84-496C-A3AE-7DC7AF62D1CA}"/>
              </a:ext>
            </a:extLst>
          </p:cNvPr>
          <p:cNvSpPr>
            <a:spLocks xmlns:a="http://schemas.openxmlformats.org/drawingml/2006/main" noGrp="1"/>
          </p:cNvSpPr>
          <p:nvPr/>
        </p:nvSpPr>
        <p:spPr>
          <a:xfrm xmlns:a="http://schemas.openxmlformats.org/drawingml/2006/main">
            <a:off x="2895600" y="4895850"/>
            <a:ext cx="228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Run Exploration Skeptic Review.</a:t>
            </a:r>
          </a:p>
        </p:txBody>
      </p:sp>
      <p:sp>
        <p:nvSpPr>
          <p:cNvPr id="20" name="">
            <a:extLst xmlns:a="http://schemas.openxmlformats.org/drawingml/2006/main">
              <a:ext uri="{FF2B5EF4-FFF2-40B4-BE49-F238E27FC236}">
                <a16:creationId xmlns:a16="http://schemas.microsoft.com/office/drawing/2014/main" id="{0250E1D4-C884-42EE-B34F-21AA8505293C}"/>
              </a:ext>
            </a:extLst>
          </p:cNvPr>
          <p:cNvSpPr>
            <a:spLocks xmlns:a="http://schemas.openxmlformats.org/drawingml/2006/main" noGrp="1"/>
          </p:cNvSpPr>
          <p:nvPr/>
        </p:nvSpPr>
        <p:spPr>
          <a:xfrm xmlns:a="http://schemas.openxmlformats.org/drawingml/2006/main">
            <a:off x="6667500" y="4267200"/>
            <a:ext cx="285750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0">
            <a:prstDash val="solid"/>
          </a:ln>
        </p:spPr>
      </p:sp>
      <p:sp>
        <p:nvSpPr>
          <p:cNvPr id="21" name="">
            <a:extLst xmlns:a="http://schemas.openxmlformats.org/drawingml/2006/main">
              <a:ext uri="{FF2B5EF4-FFF2-40B4-BE49-F238E27FC236}">
                <a16:creationId xmlns:a16="http://schemas.microsoft.com/office/drawing/2014/main" id="{F7934E37-0F80-48E3-91D8-71A063C203DC}"/>
              </a:ext>
            </a:extLst>
          </p:cNvPr>
          <p:cNvSpPr>
            <a:spLocks xmlns:a="http://schemas.openxmlformats.org/drawingml/2006/main" noGrp="1"/>
          </p:cNvSpPr>
          <p:nvPr/>
        </p:nvSpPr>
        <p:spPr>
          <a:xfrm xmlns:a="http://schemas.openxmlformats.org/drawingml/2006/main">
            <a:off x="6896100" y="4495800"/>
            <a:ext cx="2190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F766E"/>
                </a:solidFill>
                <a:latin typeface="Georgia"/>
                <a:ea typeface="Georgia"/>
                <a:cs typeface="Georgia"/>
              </a:defRPr>
            </a:pPr>
            <a:r>
              <a:rPr sz="1425" b="1">
                <a:solidFill>
                  <a:srgbClr val="0F766E"/>
                </a:solidFill>
                <a:latin typeface="Georgia"/>
                <a:ea typeface="Georgia"/>
                <a:cs typeface="Georgia"/>
              </a:rPr>
              <a:t>Before drafting</a:t>
            </a:r>
          </a:p>
        </p:txBody>
      </p:sp>
      <p:sp>
        <p:nvSpPr>
          <p:cNvPr id="22" name="">
            <a:extLst xmlns:a="http://schemas.openxmlformats.org/drawingml/2006/main">
              <a:ext uri="{FF2B5EF4-FFF2-40B4-BE49-F238E27FC236}">
                <a16:creationId xmlns:a16="http://schemas.microsoft.com/office/drawing/2014/main" id="{58AECFCB-AFB0-48C6-8B46-FFEA9646675E}"/>
              </a:ext>
            </a:extLst>
          </p:cNvPr>
          <p:cNvSpPr>
            <a:spLocks xmlns:a="http://schemas.openxmlformats.org/drawingml/2006/main" noGrp="1"/>
          </p:cNvSpPr>
          <p:nvPr/>
        </p:nvSpPr>
        <p:spPr>
          <a:xfrm xmlns:a="http://schemas.openxmlformats.org/drawingml/2006/main">
            <a:off x="6896100" y="4895850"/>
            <a:ext cx="2286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57084"/>
                </a:solidFill>
                <a:latin typeface="Avenir Next"/>
                <a:ea typeface="Avenir Next"/>
                <a:cs typeface="Avenir Next"/>
              </a:defRPr>
            </a:pPr>
            <a:r>
              <a:rPr sz="1013" b="0">
                <a:solidFill>
                  <a:srgbClr val="657084"/>
                </a:solidFill>
                <a:latin typeface="Avenir Next"/>
                <a:ea typeface="Avenir Next"/>
                <a:cs typeface="Avenir Next"/>
              </a:rPr>
              <a:t>Make sure the relevant wiki pages or overview exist.</a:t>
            </a:r>
          </a:p>
        </p:txBody>
      </p:sp>
      <p:sp>
        <p:nvSpPr>
          <p:cNvPr id="23" name="">
            <a:extLst xmlns:a="http://schemas.openxmlformats.org/drawingml/2006/main">
              <a:ext uri="{FF2B5EF4-FFF2-40B4-BE49-F238E27FC236}">
                <a16:creationId xmlns:a16="http://schemas.microsoft.com/office/drawing/2014/main" id="{9FF2174D-FF66-4663-BD3A-309B8B189D9C}"/>
              </a:ext>
            </a:extLst>
          </p:cNvPr>
          <p:cNvSpPr>
            <a:spLocks xmlns:a="http://schemas.openxmlformats.org/drawingml/2006/main" noGrp="1"/>
          </p:cNvSpPr>
          <p:nvPr/>
        </p:nvSpPr>
        <p:spPr>
          <a:xfrm xmlns:a="http://schemas.openxmlformats.org/drawingml/2006/main">
            <a:off x="552450" y="6305550"/>
            <a:ext cx="11087100" cy="9525"/>
          </a:xfrm>
          <a:prstGeom xmlns:a="http://schemas.openxmlformats.org/drawingml/2006/main" prst="rect">
            <a:avLst/>
          </a:prstGeom>
          <a:solidFill xmlns:a="http://schemas.openxmlformats.org/drawingml/2006/main">
            <a:srgbClr val="D8DEE8"/>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4A01B27B-32F7-4B67-BD0C-3D7A2097F701}"/>
              </a:ext>
            </a:extLst>
          </p:cNvPr>
          <p:cNvSpPr>
            <a:spLocks xmlns:a="http://schemas.openxmlformats.org/drawingml/2006/main" noGrp="1"/>
          </p:cNvSpPr>
          <p:nvPr/>
        </p:nvSpPr>
        <p:spPr>
          <a:xfrm xmlns:a="http://schemas.openxmlformats.org/drawingml/2006/main">
            <a:off x="552450" y="6438900"/>
            <a:ext cx="6667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Keep the system boring, explicit, and clean. That is what makes it compound.</a:t>
            </a:r>
          </a:p>
        </p:txBody>
      </p:sp>
      <p:sp>
        <p:nvSpPr>
          <p:cNvPr id="25" name="">
            <a:extLst xmlns:a="http://schemas.openxmlformats.org/drawingml/2006/main">
              <a:ext uri="{FF2B5EF4-FFF2-40B4-BE49-F238E27FC236}">
                <a16:creationId xmlns:a16="http://schemas.microsoft.com/office/drawing/2014/main" id="{606A7B47-11E8-40BD-ACE9-919A4B7E93E1}"/>
              </a:ext>
            </a:extLst>
          </p:cNvPr>
          <p:cNvSpPr>
            <a:spLocks xmlns:a="http://schemas.openxmlformats.org/drawingml/2006/main" noGrp="1"/>
          </p:cNvSpPr>
          <p:nvPr/>
        </p:nvSpPr>
        <p:spPr>
          <a:xfrm xmlns:a="http://schemas.openxmlformats.org/drawingml/2006/main">
            <a:off x="9239250" y="6438900"/>
            <a:ext cx="2400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13" b="0">
                <a:solidFill>
                  <a:srgbClr val="657084"/>
                </a:solidFill>
                <a:latin typeface="Avenir Next"/>
                <a:ea typeface="Avenir Next"/>
                <a:cs typeface="Avenir Next"/>
              </a:defRPr>
            </a:pPr>
            <a:r>
              <a:rPr sz="713" b="0">
                <a:solidFill>
                  <a:srgbClr val="657084"/>
                </a:solidFill>
                <a:latin typeface="Avenir Next"/>
                <a:ea typeface="Avenir Next"/>
                <a:cs typeface="Avenir Next"/>
              </a:rPr>
              <a:t>Project_management_system</a:t>
            </a:r>
          </a:p>
        </p:txBody>
      </p:sp>
    </p:spTree>
    <p:extLst>
      <p:ext uri="{BB962C8B-B14F-4D97-AF65-F5344CB8AC3E}">
        <p14:creationId xmlns:p14="http://schemas.microsoft.com/office/powerpoint/2010/main" val="7017760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2026-05-11T04:37:40.2780000Z</dcterms:created>
  <dcterms:modified xsi:type="dcterms:W3CDTF">2026-05-11T04:37:40.2780000Z</dcterms:modified>
</coreProperties>
</file>