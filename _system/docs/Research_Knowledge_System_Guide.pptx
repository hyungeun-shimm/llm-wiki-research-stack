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12024360" cy="73152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Knowledge System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3108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3A9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Wiki  ·  Multi-Agent AI Workflow  ·  Dashboard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6035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neuroscience labs — and any field where you read papers and write deliverables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12079224" cy="54864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system exist?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54864" cy="5486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25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assistants hallucinate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6276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invent citations and fill gaps with plausible-sounding text that sounds correct but isn't.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560320"/>
            <a:ext cx="54864" cy="5486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560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is scattered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286207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in Downloads, references in Mendeley, highlights in notes apps — no single source of truth.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794760"/>
            <a:ext cx="54864" cy="5486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794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session starts from zero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409651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or Claude forgets everything. No persistent memory of what you've read.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5029200"/>
            <a:ext cx="54864" cy="5486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5029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 and durable knowledge get mixed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533095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arguments, triage opinions, and brainstorming overwrite or contaminate the stable record.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6217920"/>
            <a:ext cx="11612880" cy="47548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6217920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in this system traces back to a paper you actually have.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12079224" cy="54864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Spaces · Two Tools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5486400" cy="4480560"/>
          </a:xfrm>
          <a:prstGeom prst="rect">
            <a:avLst/>
          </a:prstGeom>
          <a:solidFill>
            <a:srgbClr val="D6EDF7"/>
          </a:solidFill>
          <a:ln w="19050">
            <a:solidFill>
              <a:srgbClr val="1A6B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801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SPACES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120640" cy="1097280"/>
          </a:xfrm>
          <a:prstGeom prst="roundRect">
            <a:avLst>
              <a:gd name="adj" fmla="val 5833"/>
            </a:avLst>
          </a:prstGeom>
          <a:solidFill>
            <a:srgbClr val="0B1F3A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901952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Library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22402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knowledge — papers, wiki, overviews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5120640" cy="1097280"/>
          </a:xfrm>
          <a:prstGeom prst="roundRect">
            <a:avLst>
              <a:gd name="adj" fmla="val 5833"/>
            </a:avLst>
          </a:prstGeom>
          <a:solidFill>
            <a:srgbClr val="1A6B8A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227832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Exploration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35661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Incubator — half-formed ideas, temporary PDFs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480560"/>
            <a:ext cx="5120640" cy="1097280"/>
          </a:xfrm>
          <a:prstGeom prst="roundRect">
            <a:avLst>
              <a:gd name="adj" fmla="val 5833"/>
            </a:avLst>
          </a:prstGeom>
          <a:solidFill>
            <a:srgbClr val="1E5E7A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4553712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Project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94360" y="48920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workspace — grants, manuscripts, reviews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1280160"/>
            <a:ext cx="5577840" cy="4480560"/>
          </a:xfrm>
          <a:prstGeom prst="rect">
            <a:avLst/>
          </a:prstGeom>
          <a:solidFill>
            <a:srgbClr val="D6EDF7"/>
          </a:solidFill>
          <a:ln w="19050">
            <a:solidFill>
              <a:srgbClr val="1A6B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28016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AI TOOLS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92240" y="1828800"/>
            <a:ext cx="5212080" cy="1463040"/>
          </a:xfrm>
          <a:prstGeom prst="roundRect">
            <a:avLst>
              <a:gd name="adj" fmla="val 4375"/>
            </a:avLst>
          </a:prstGeom>
          <a:solidFill>
            <a:srgbClr val="0B1F3A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19202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29400" y="228600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· Synthesis · Drafting · Critique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framing · Strategic conversations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92240" y="3566160"/>
            <a:ext cx="5212080" cy="1463040"/>
          </a:xfrm>
          <a:prstGeom prst="roundRect">
            <a:avLst>
              <a:gd name="adj" fmla="val 4375"/>
            </a:avLst>
          </a:prstGeom>
          <a:solidFill>
            <a:srgbClr val="1E5E7A"/>
          </a:solidFill>
          <a:ln/>
        </p:spPr>
      </p:sp>
      <p:sp>
        <p:nvSpPr>
          <p:cNvPr id="23" name="Text 21"/>
          <p:cNvSpPr/>
          <p:nvPr/>
        </p:nvSpPr>
        <p:spPr>
          <a:xfrm>
            <a:off x="6629400" y="3657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CLI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29400" y="40233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Scouting · Triage · Ingest · File operations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processing · Script execution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09360" y="4617720"/>
            <a:ext cx="5577840" cy="960120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4617720"/>
            <a:ext cx="5394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state: both tools read and write the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markdown files. No context transfer needed.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4320" y="5989320"/>
            <a:ext cx="11612880" cy="6400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59893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and Explorations read from the Library freely.  They write back only through explicit promotion gates.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12079224" cy="54864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— The Permanent Knowledge Base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0B1F3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37160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(immutable)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834640" y="1965960"/>
            <a:ext cx="530352" cy="0"/>
          </a:xfrm>
          <a:prstGeom prst="line">
            <a:avLst/>
          </a:prstGeom>
          <a:noFill/>
          <a:ln w="25400">
            <a:solidFill>
              <a:srgbClr val="0B1F3A"/>
            </a:solidFill>
            <a:prstDash val="solid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3108960" y="137160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1A6B8A"/>
          </a:solidFill>
          <a:ln/>
        </p:spPr>
      </p:sp>
      <p:sp>
        <p:nvSpPr>
          <p:cNvPr id="10" name="Text 8"/>
          <p:cNvSpPr/>
          <p:nvPr/>
        </p:nvSpPr>
        <p:spPr>
          <a:xfrm>
            <a:off x="3108960" y="137160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sources/*.md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(LLM summary)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0" y="1965960"/>
            <a:ext cx="530352" cy="0"/>
          </a:xfrm>
          <a:prstGeom prst="line">
            <a:avLst/>
          </a:prstGeom>
          <a:noFill/>
          <a:ln w="25400">
            <a:solidFill>
              <a:srgbClr val="0B1F3A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5943600" y="137160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1E5E7A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0" y="137160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wiki/{category}/*.md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(wiki page)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503920" y="1965960"/>
            <a:ext cx="530352" cy="0"/>
          </a:xfrm>
          <a:prstGeom prst="line">
            <a:avLst/>
          </a:prstGeom>
          <a:noFill/>
          <a:ln w="25400">
            <a:solidFill>
              <a:srgbClr val="0B1F3A"/>
            </a:solidFill>
            <a:prstDash val="solid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8778240" y="137160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F0A500"/>
          </a:solidFill>
          <a:ln/>
        </p:spPr>
      </p:sp>
      <p:sp>
        <p:nvSpPr>
          <p:cNvPr id="16" name="Text 14"/>
          <p:cNvSpPr/>
          <p:nvPr/>
        </p:nvSpPr>
        <p:spPr>
          <a:xfrm>
            <a:off x="8778240" y="137160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wiki/overviews/*.md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(synthesis)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2962656"/>
            <a:ext cx="201168" cy="20116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8346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web search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8" y="3163824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must trace to a paper in papers/. No hallucination possible.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877056"/>
            <a:ext cx="201168" cy="20116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7490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naming convention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66928" y="4078224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{author}-{year}-{first-5-title-words}.pdf — all three tiers share the same stem.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4791456"/>
            <a:ext cx="201168" cy="20116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6634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index.md is the catalog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66928" y="4992624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ingested paper gets a one-line entry. The overview list grows as Synthesizer runs.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5705856"/>
            <a:ext cx="201168" cy="20116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55778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/ Sources / Wiki are permanent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66928" y="5907024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files are never deleted. Edit forward, not backward.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12079224" cy="54864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 2 &amp;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&amp; Project — Working Memory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5486400" cy="5120640"/>
          </a:xfrm>
          <a:prstGeom prst="rect">
            <a:avLst/>
          </a:prstGeom>
          <a:solidFill>
            <a:srgbClr val="D6EDF7"/>
          </a:solidFill>
          <a:ln w="19050">
            <a:solidFill>
              <a:srgbClr val="1A6B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280160"/>
            <a:ext cx="5486400" cy="475488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280160"/>
            <a:ext cx="5486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EXPLORATION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idea-notes/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evolving summaries — not full transcripts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651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ideas/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92608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Exploration_Brief when the question is focused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383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active/{slug}/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65760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candidates, paper-briefs, temp PDFs, synthesis.md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114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└ synthesis.md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38912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provisional synthesis — not a wiki overview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└ promote-to-wiki.md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512064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Checklist: what should enter the Library?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5577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archive/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585216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explorations — kept for reference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1280160"/>
            <a:ext cx="5486400" cy="5120640"/>
          </a:xfrm>
          <a:prstGeom prst="rect">
            <a:avLst/>
          </a:prstGeom>
          <a:solidFill>
            <a:srgbClr val="D6EDF7"/>
          </a:solidFill>
          <a:ln w="19050">
            <a:solidFill>
              <a:srgbClr val="0B1F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1280160"/>
            <a:ext cx="5486400" cy="47548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1280160"/>
            <a:ext cx="5486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PROJECT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83680" y="1920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Project_Brief.md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83680" y="219456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 — scouting scope, triage criteria, deliverable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0" y="2651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candidates/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83680" y="292608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output — metadata only, no PDFs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0" y="3383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triage-reports/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83680" y="365760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candidates + approval-board.html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83680" y="4114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drafts/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583680" y="438912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Manuscript text — .draft.md + claim logs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83680" y="4846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critiques/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583680" y="512064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Reviewer-style pressure test logs (paper_in_prep)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83680" y="5577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data-updates/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583680" y="585216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/ figure progress records (paper_in_prep)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12079224" cy="54864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A9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RULE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Gates — Nothing Enters the Library Automatically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3749040" cy="5120640"/>
          </a:xfrm>
          <a:prstGeom prst="roundRect">
            <a:avLst>
              <a:gd name="adj" fmla="val 2439"/>
            </a:avLst>
          </a:prstGeom>
          <a:solidFill>
            <a:srgbClr val="132638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234440"/>
            <a:ext cx="3749040" cy="475488"/>
          </a:xfrm>
          <a:prstGeom prst="roundRect">
            <a:avLst>
              <a:gd name="adj" fmla="val 9615"/>
            </a:avLst>
          </a:prstGeom>
          <a:solidFill>
            <a:srgbClr val="1A6B8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23444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Promotion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explorations/_pdfs/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88036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papers/inbox/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38404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Ingester (Codex)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480060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papers/ + sources/ + wiki/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51960" y="1234440"/>
            <a:ext cx="3749040" cy="5120640"/>
          </a:xfrm>
          <a:prstGeom prst="roundRect">
            <a:avLst>
              <a:gd name="adj" fmla="val 2439"/>
            </a:avLst>
          </a:prstGeom>
          <a:solidFill>
            <a:srgbClr val="132638"/>
          </a:solidFill>
          <a:ln/>
        </p:spPr>
      </p:sp>
      <p:sp>
        <p:nvSpPr>
          <p:cNvPr id="14" name="Shape 12"/>
          <p:cNvSpPr/>
          <p:nvPr/>
        </p:nvSpPr>
        <p:spPr>
          <a:xfrm>
            <a:off x="4251960" y="1234440"/>
            <a:ext cx="3749040" cy="475488"/>
          </a:xfrm>
          <a:prstGeom prst="roundRect">
            <a:avLst>
              <a:gd name="adj" fmla="val 9615"/>
            </a:avLst>
          </a:prstGeom>
          <a:solidFill>
            <a:srgbClr val="3A9EC2"/>
          </a:solidFill>
          <a:ln/>
        </p:spPr>
      </p:sp>
      <p:sp>
        <p:nvSpPr>
          <p:cNvPr id="15" name="Text 13"/>
          <p:cNvSpPr/>
          <p:nvPr/>
        </p:nvSpPr>
        <p:spPr>
          <a:xfrm>
            <a:off x="4251960" y="123444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Promotion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89120" y="192024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synthesis.md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89120" y="288036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9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promote-to-wiki.md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89120" y="38404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9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(after PDFs ingested)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0" y="480060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9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wiki/overviews/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9600" y="1234440"/>
            <a:ext cx="3749040" cy="5120640"/>
          </a:xfrm>
          <a:prstGeom prst="roundRect">
            <a:avLst>
              <a:gd name="adj" fmla="val 2439"/>
            </a:avLst>
          </a:prstGeom>
          <a:solidFill>
            <a:srgbClr val="132638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1234440"/>
            <a:ext cx="3749040" cy="475488"/>
          </a:xfrm>
          <a:prstGeom prst="roundRect">
            <a:avLst>
              <a:gd name="adj" fmla="val 9615"/>
            </a:avLst>
          </a:prstGeom>
          <a:solidFill>
            <a:srgbClr val="F0A500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0" y="123444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Promotion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66760" y="192024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explorations/active/{slug}/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66760" y="288036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promote-to-project.md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66760" y="38404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Project_Brief.md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366760" y="480060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projects/{slug}/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74320" y="6492240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promotion is a deliberate human decision. Brainstorming, triage opinions, and draft arguments never enter wiki/ automatically.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12079224" cy="54864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Roles — Who Does What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1920240" cy="594360"/>
          </a:xfrm>
          <a:prstGeom prst="roundRect">
            <a:avLst>
              <a:gd name="adj" fmla="val 10769"/>
            </a:avLst>
          </a:prstGeom>
          <a:solidFill>
            <a:srgbClr val="1A6B8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3258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0" y="1325880"/>
            <a:ext cx="1463040" cy="594360"/>
          </a:xfrm>
          <a:prstGeom prst="roundRect">
            <a:avLst>
              <a:gd name="adj" fmla="val 10769"/>
            </a:avLst>
          </a:prstGeom>
          <a:solidFill>
            <a:srgbClr val="D6EDF7"/>
          </a:solidFill>
          <a:ln w="15240">
            <a:solidFill>
              <a:srgbClr val="1A6B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13258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CLI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86200" y="1371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PubMed, arXiv, bioRxiv, Semantic Scholar → candidate metadata in candidates/{date}/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075688"/>
            <a:ext cx="1920240" cy="594360"/>
          </a:xfrm>
          <a:prstGeom prst="roundRect">
            <a:avLst>
              <a:gd name="adj" fmla="val 10769"/>
            </a:avLst>
          </a:prstGeom>
          <a:solidFill>
            <a:srgbClr val="1A6B8A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07568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0" y="2075688"/>
            <a:ext cx="1463040" cy="594360"/>
          </a:xfrm>
          <a:prstGeom prst="roundRect">
            <a:avLst>
              <a:gd name="adj" fmla="val 10769"/>
            </a:avLst>
          </a:prstGeom>
          <a:solidFill>
            <a:srgbClr val="D6EDF7"/>
          </a:solidFill>
          <a:ln w="15240">
            <a:solidFill>
              <a:srgbClr val="1A6B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0" y="207568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CLI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86200" y="212140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candidates against Project_Brief → in-scope / borderline / out-of-scope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825496"/>
            <a:ext cx="1920240" cy="594360"/>
          </a:xfrm>
          <a:prstGeom prst="roundRect">
            <a:avLst>
              <a:gd name="adj" fmla="val 10769"/>
            </a:avLst>
          </a:prstGeom>
          <a:solidFill>
            <a:srgbClr val="1A6B8A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2825496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86000" y="2825496"/>
            <a:ext cx="1463040" cy="594360"/>
          </a:xfrm>
          <a:prstGeom prst="roundRect">
            <a:avLst>
              <a:gd name="adj" fmla="val 10769"/>
            </a:avLst>
          </a:prstGeom>
          <a:solidFill>
            <a:srgbClr val="D6EDF7"/>
          </a:solidFill>
          <a:ln w="15240">
            <a:solidFill>
              <a:srgbClr val="1A6B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0" y="2825496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CLI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86200" y="287121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approved PDFs into papers/, write sources/ + wiki/ pages, update index.md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575304"/>
            <a:ext cx="1920240" cy="594360"/>
          </a:xfrm>
          <a:prstGeom prst="roundRect">
            <a:avLst>
              <a:gd name="adj" fmla="val 10769"/>
            </a:avLst>
          </a:prstGeom>
          <a:solidFill>
            <a:srgbClr val="0B1F3A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3575304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286000" y="3575304"/>
            <a:ext cx="1463040" cy="594360"/>
          </a:xfrm>
          <a:prstGeom prst="roundRect">
            <a:avLst>
              <a:gd name="adj" fmla="val 10769"/>
            </a:avLst>
          </a:prstGeom>
          <a:solidFill>
            <a:srgbClr val="D6EDF7"/>
          </a:solidFill>
          <a:ln w="15240">
            <a:solidFill>
              <a:srgbClr val="0B1F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0" y="3575304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86200" y="362102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Cross-paper synthesis → wiki/overviews/ pages (durable, project-independent)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4325112"/>
            <a:ext cx="1920240" cy="594360"/>
          </a:xfrm>
          <a:prstGeom prst="roundRect">
            <a:avLst>
              <a:gd name="adj" fmla="val 10769"/>
            </a:avLst>
          </a:prstGeom>
          <a:solidFill>
            <a:srgbClr val="0B1F3A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432511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286000" y="4325112"/>
            <a:ext cx="1463040" cy="594360"/>
          </a:xfrm>
          <a:prstGeom prst="roundRect">
            <a:avLst>
              <a:gd name="adj" fmla="val 10769"/>
            </a:avLst>
          </a:prstGeom>
          <a:solidFill>
            <a:srgbClr val="D6EDF7"/>
          </a:solidFill>
          <a:ln w="15240">
            <a:solidFill>
              <a:srgbClr val="0B1F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0" y="4325112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886200" y="437083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manuscript / grant sections in projects/{slug}/drafts/ from wiki evidence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74320" y="5074920"/>
            <a:ext cx="1920240" cy="594360"/>
          </a:xfrm>
          <a:prstGeom prst="roundRect">
            <a:avLst>
              <a:gd name="adj" fmla="val 10769"/>
            </a:avLst>
          </a:prstGeom>
          <a:solidFill>
            <a:srgbClr val="0B1F3A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50749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286000" y="5074920"/>
            <a:ext cx="1463040" cy="594360"/>
          </a:xfrm>
          <a:prstGeom prst="roundRect">
            <a:avLst>
              <a:gd name="adj" fmla="val 10769"/>
            </a:avLst>
          </a:prstGeom>
          <a:solidFill>
            <a:srgbClr val="D6EDF7"/>
          </a:solidFill>
          <a:ln w="15240">
            <a:solidFill>
              <a:srgbClr val="0B1F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0" y="507492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886200" y="51206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Reviewer-style pressure test → projects/{slug}/critiques/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" y="5824728"/>
            <a:ext cx="1920240" cy="594360"/>
          </a:xfrm>
          <a:prstGeom prst="roundRect">
            <a:avLst>
              <a:gd name="adj" fmla="val 10769"/>
            </a:avLst>
          </a:prstGeom>
          <a:solidFill>
            <a:srgbClr val="0B1F3A"/>
          </a:solidFill>
          <a:ln/>
        </p:spPr>
      </p:sp>
      <p:sp>
        <p:nvSpPr>
          <p:cNvPr id="37" name="Text 35"/>
          <p:cNvSpPr/>
          <p:nvPr/>
        </p:nvSpPr>
        <p:spPr>
          <a:xfrm>
            <a:off x="274320" y="582472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Skeptic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286000" y="5824728"/>
            <a:ext cx="1463040" cy="594360"/>
          </a:xfrm>
          <a:prstGeom prst="roundRect">
            <a:avLst>
              <a:gd name="adj" fmla="val 10769"/>
            </a:avLst>
          </a:prstGeom>
          <a:solidFill>
            <a:srgbClr val="D6EDF7"/>
          </a:solidFill>
          <a:ln w="15240">
            <a:solidFill>
              <a:srgbClr val="0B1F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6000" y="582472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886200" y="587044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idea → exploration promotion. Deliberately conservative. Scores: not-ready / brief-ready / scout-ready / project-ready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12079224" cy="54864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Project Path — Scout to Draft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77240" y="1353312"/>
            <a:ext cx="457200" cy="457200"/>
          </a:xfrm>
          <a:prstGeom prst="ellipse">
            <a:avLst/>
          </a:prstGeom>
          <a:solidFill>
            <a:srgbClr val="1A6B8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53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" y="1874520"/>
            <a:ext cx="1554480" cy="1737360"/>
          </a:xfrm>
          <a:prstGeom prst="roundRect">
            <a:avLst>
              <a:gd name="adj" fmla="val 5882"/>
            </a:avLst>
          </a:prstGeom>
          <a:solidFill>
            <a:srgbClr val="1A6B8A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" y="187452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" y="23317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1752" y="2606040"/>
            <a:ext cx="14081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scout_all.py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candidates/{date}/ metadata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801368" y="2743200"/>
            <a:ext cx="146304" cy="0"/>
          </a:xfrm>
          <a:prstGeom prst="line">
            <a:avLst/>
          </a:prstGeom>
          <a:noFill/>
          <a:ln w="25400">
            <a:solidFill>
              <a:srgbClr val="1A6B8A"/>
            </a:solidFill>
            <a:prstDash val="solid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2487168" y="1353312"/>
            <a:ext cx="457200" cy="457200"/>
          </a:xfrm>
          <a:prstGeom prst="ellipse">
            <a:avLst/>
          </a:prstGeom>
          <a:solidFill>
            <a:srgbClr val="1A6B8A"/>
          </a:solidFill>
          <a:ln/>
        </p:spPr>
      </p:sp>
      <p:sp>
        <p:nvSpPr>
          <p:cNvPr id="14" name="Text 12"/>
          <p:cNvSpPr/>
          <p:nvPr/>
        </p:nvSpPr>
        <p:spPr>
          <a:xfrm>
            <a:off x="2487168" y="1353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938528" y="1874520"/>
            <a:ext cx="1554480" cy="1737360"/>
          </a:xfrm>
          <a:prstGeom prst="roundRect">
            <a:avLst>
              <a:gd name="adj" fmla="val 5882"/>
            </a:avLst>
          </a:prstGeom>
          <a:solidFill>
            <a:srgbClr val="1A6B8A"/>
          </a:solidFill>
          <a:ln/>
        </p:spPr>
      </p:sp>
      <p:sp>
        <p:nvSpPr>
          <p:cNvPr id="16" name="Text 14"/>
          <p:cNvSpPr/>
          <p:nvPr/>
        </p:nvSpPr>
        <p:spPr>
          <a:xfrm>
            <a:off x="1938528" y="187452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938528" y="23317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11680" y="2606040"/>
            <a:ext cx="14081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candidates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In-scope / borderline / out-of-scope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511296" y="2743200"/>
            <a:ext cx="146304" cy="0"/>
          </a:xfrm>
          <a:prstGeom prst="line">
            <a:avLst/>
          </a:prstGeom>
          <a:noFill/>
          <a:ln w="25400">
            <a:solidFill>
              <a:srgbClr val="1A6B8A"/>
            </a:solidFill>
            <a:prstDash val="solid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4197096" y="1353312"/>
            <a:ext cx="457200" cy="457200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21" name="Text 19"/>
          <p:cNvSpPr/>
          <p:nvPr/>
        </p:nvSpPr>
        <p:spPr>
          <a:xfrm>
            <a:off x="4197096" y="1353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48456" y="1874520"/>
            <a:ext cx="1554480" cy="1737360"/>
          </a:xfrm>
          <a:prstGeom prst="roundRect">
            <a:avLst>
              <a:gd name="adj" fmla="val 5882"/>
            </a:avLst>
          </a:prstGeom>
          <a:solidFill>
            <a:srgbClr val="F0A500"/>
          </a:solidFill>
          <a:ln/>
        </p:spPr>
      </p:sp>
      <p:sp>
        <p:nvSpPr>
          <p:cNvPr id="23" name="Text 21"/>
          <p:cNvSpPr/>
          <p:nvPr/>
        </p:nvSpPr>
        <p:spPr>
          <a:xfrm>
            <a:off x="3648456" y="187452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48456" y="23317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721608" y="2606040"/>
            <a:ext cx="14081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approval-board.html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/ Wiki-only / Skip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221224" y="2743200"/>
            <a:ext cx="146304" cy="0"/>
          </a:xfrm>
          <a:prstGeom prst="line">
            <a:avLst/>
          </a:prstGeom>
          <a:noFill/>
          <a:ln w="25400">
            <a:solidFill>
              <a:srgbClr val="1A6B8A"/>
            </a:solidFill>
            <a:prstDash val="solid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5907024" y="1353312"/>
            <a:ext cx="457200" cy="457200"/>
          </a:xfrm>
          <a:prstGeom prst="ellipse">
            <a:avLst/>
          </a:prstGeom>
          <a:solidFill>
            <a:srgbClr val="1A6B8A"/>
          </a:solidFill>
          <a:ln/>
        </p:spPr>
      </p:sp>
      <p:sp>
        <p:nvSpPr>
          <p:cNvPr id="28" name="Text 26"/>
          <p:cNvSpPr/>
          <p:nvPr/>
        </p:nvSpPr>
        <p:spPr>
          <a:xfrm>
            <a:off x="5907024" y="1353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358384" y="1874520"/>
            <a:ext cx="1554480" cy="1737360"/>
          </a:xfrm>
          <a:prstGeom prst="roundRect">
            <a:avLst>
              <a:gd name="adj" fmla="val 5882"/>
            </a:avLst>
          </a:prstGeom>
          <a:solidFill>
            <a:srgbClr val="1A6B8A"/>
          </a:solidFill>
          <a:ln/>
        </p:spPr>
      </p:sp>
      <p:sp>
        <p:nvSpPr>
          <p:cNvPr id="30" name="Text 28"/>
          <p:cNvSpPr/>
          <p:nvPr/>
        </p:nvSpPr>
        <p:spPr>
          <a:xfrm>
            <a:off x="5358384" y="187452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58384" y="23317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31536" y="2606040"/>
            <a:ext cx="14081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→ papers/inbox/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Ingester writes sources/ + wiki/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931152" y="2743200"/>
            <a:ext cx="146304" cy="0"/>
          </a:xfrm>
          <a:prstGeom prst="line">
            <a:avLst/>
          </a:prstGeom>
          <a:noFill/>
          <a:ln w="25400">
            <a:solidFill>
              <a:srgbClr val="1A6B8A"/>
            </a:solidFill>
            <a:prstDash val="solid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7616952" y="1353312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5" name="Text 33"/>
          <p:cNvSpPr/>
          <p:nvPr/>
        </p:nvSpPr>
        <p:spPr>
          <a:xfrm>
            <a:off x="7616952" y="1353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068312" y="1874520"/>
            <a:ext cx="1554480" cy="1737360"/>
          </a:xfrm>
          <a:prstGeom prst="roundRect">
            <a:avLst>
              <a:gd name="adj" fmla="val 5882"/>
            </a:avLst>
          </a:prstGeom>
          <a:solidFill>
            <a:srgbClr val="0B1F3A"/>
          </a:solidFill>
          <a:ln/>
        </p:spPr>
      </p:sp>
      <p:sp>
        <p:nvSpPr>
          <p:cNvPr id="37" name="Text 35"/>
          <p:cNvSpPr/>
          <p:nvPr/>
        </p:nvSpPr>
        <p:spPr>
          <a:xfrm>
            <a:off x="7068312" y="187452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068312" y="23317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141464" y="2606040"/>
            <a:ext cx="14081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wiki/overviews/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compounding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641080" y="2743200"/>
            <a:ext cx="146304" cy="0"/>
          </a:xfrm>
          <a:prstGeom prst="line">
            <a:avLst/>
          </a:prstGeom>
          <a:noFill/>
          <a:ln w="25400">
            <a:solidFill>
              <a:srgbClr val="1A6B8A"/>
            </a:solidFill>
            <a:prstDash val="solid"/>
            <a:tailEnd type="arrow"/>
          </a:ln>
        </p:spPr>
      </p:sp>
      <p:sp>
        <p:nvSpPr>
          <p:cNvPr id="41" name="Shape 39"/>
          <p:cNvSpPr/>
          <p:nvPr/>
        </p:nvSpPr>
        <p:spPr>
          <a:xfrm>
            <a:off x="9326880" y="1353312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42" name="Text 40"/>
          <p:cNvSpPr/>
          <p:nvPr/>
        </p:nvSpPr>
        <p:spPr>
          <a:xfrm>
            <a:off x="9326880" y="1353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8778240" y="1874520"/>
            <a:ext cx="1554480" cy="1737360"/>
          </a:xfrm>
          <a:prstGeom prst="roundRect">
            <a:avLst>
              <a:gd name="adj" fmla="val 5882"/>
            </a:avLst>
          </a:prstGeom>
          <a:solidFill>
            <a:srgbClr val="0B1F3A"/>
          </a:solidFill>
          <a:ln/>
        </p:spPr>
      </p:sp>
      <p:sp>
        <p:nvSpPr>
          <p:cNvPr id="44" name="Text 42"/>
          <p:cNvSpPr/>
          <p:nvPr/>
        </p:nvSpPr>
        <p:spPr>
          <a:xfrm>
            <a:off x="8778240" y="187452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778240" y="23317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851392" y="2606040"/>
            <a:ext cx="14081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manuscript section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wiki + Project_Brief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10351008" y="2743200"/>
            <a:ext cx="146304" cy="0"/>
          </a:xfrm>
          <a:prstGeom prst="line">
            <a:avLst/>
          </a:prstGeom>
          <a:noFill/>
          <a:ln w="25400">
            <a:solidFill>
              <a:srgbClr val="1A6B8A"/>
            </a:solidFill>
            <a:prstDash val="solid"/>
            <a:tailEnd type="arrow"/>
          </a:ln>
        </p:spPr>
      </p:sp>
      <p:sp>
        <p:nvSpPr>
          <p:cNvPr id="48" name="Shape 46"/>
          <p:cNvSpPr/>
          <p:nvPr/>
        </p:nvSpPr>
        <p:spPr>
          <a:xfrm>
            <a:off x="11036808" y="1353312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49" name="Text 47"/>
          <p:cNvSpPr/>
          <p:nvPr/>
        </p:nvSpPr>
        <p:spPr>
          <a:xfrm>
            <a:off x="11036808" y="1353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10488168" y="1874520"/>
            <a:ext cx="1554480" cy="1737360"/>
          </a:xfrm>
          <a:prstGeom prst="roundRect">
            <a:avLst>
              <a:gd name="adj" fmla="val 5882"/>
            </a:avLst>
          </a:prstGeom>
          <a:solidFill>
            <a:srgbClr val="0B1F3A"/>
          </a:solidFill>
          <a:ln/>
        </p:spPr>
      </p:sp>
      <p:sp>
        <p:nvSpPr>
          <p:cNvPr id="51" name="Text 49"/>
          <p:cNvSpPr/>
          <p:nvPr/>
        </p:nvSpPr>
        <p:spPr>
          <a:xfrm>
            <a:off x="10488168" y="187452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10488168" y="23317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0561320" y="2606040"/>
            <a:ext cx="14081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pressure test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critiques/critique-log.md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28600" y="6016752"/>
            <a:ext cx="11704320" cy="512064"/>
          </a:xfrm>
          <a:prstGeom prst="rect">
            <a:avLst/>
          </a:prstGeom>
          <a:solidFill>
            <a:srgbClr val="D6EDF7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6016752"/>
            <a:ext cx="11521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Repeat weekly — the wiki grows larger with each cycle and future drafts get faster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12079224" cy="54864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Development Path — From Hunch to Project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28600" y="1280160"/>
            <a:ext cx="2743200" cy="438912"/>
          </a:xfrm>
          <a:prstGeom prst="roundRect">
            <a:avLst>
              <a:gd name="adj" fmla="val 14583"/>
            </a:avLst>
          </a:prstGeom>
          <a:solidFill>
            <a:srgbClr val="1A6B8A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28016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 ·  5 min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" y="1737360"/>
            <a:ext cx="2743200" cy="4480560"/>
          </a:xfrm>
          <a:prstGeom prst="roundRect">
            <a:avLst>
              <a:gd name="adj" fmla="val 2333"/>
            </a:avLst>
          </a:prstGeom>
          <a:solidFill>
            <a:srgbClr val="D6EDF7"/>
          </a:solidFill>
          <a:ln w="19050">
            <a:solidFill>
              <a:srgbClr val="1A6B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NOTE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73152" cy="73152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11" name="Text 9"/>
          <p:cNvSpPr/>
          <p:nvPr/>
        </p:nvSpPr>
        <p:spPr>
          <a:xfrm>
            <a:off x="521208" y="2395728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explorations/idea-notes/{slug}.md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3657600"/>
            <a:ext cx="73152" cy="73152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" y="3584448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Evolving summary — no full transcript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4846320"/>
            <a:ext cx="73152" cy="73152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" y="4773168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 + candidate papers to check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008376" y="3520440"/>
            <a:ext cx="201168" cy="0"/>
          </a:xfrm>
          <a:prstGeom prst="line">
            <a:avLst/>
          </a:prstGeom>
          <a:noFill/>
          <a:ln w="25400">
            <a:solidFill>
              <a:srgbClr val="0B1F3A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3227832" y="1280160"/>
            <a:ext cx="2743200" cy="438912"/>
          </a:xfrm>
          <a:prstGeom prst="roundRect">
            <a:avLst>
              <a:gd name="adj" fmla="val 14583"/>
            </a:avLst>
          </a:prstGeom>
          <a:solidFill>
            <a:srgbClr val="3A9EC2"/>
          </a:solidFill>
          <a:ln/>
        </p:spPr>
      </p:sp>
      <p:sp>
        <p:nvSpPr>
          <p:cNvPr id="18" name="Text 16"/>
          <p:cNvSpPr/>
          <p:nvPr/>
        </p:nvSpPr>
        <p:spPr>
          <a:xfrm>
            <a:off x="3227832" y="128016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 ·  focused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27832" y="1737360"/>
            <a:ext cx="2743200" cy="4480560"/>
          </a:xfrm>
          <a:prstGeom prst="roundRect">
            <a:avLst>
              <a:gd name="adj" fmla="val 2333"/>
            </a:avLst>
          </a:prstGeom>
          <a:solidFill>
            <a:srgbClr val="D6EDF7"/>
          </a:solidFill>
          <a:ln w="19050">
            <a:solidFill>
              <a:srgbClr val="3A9E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27832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9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BRIEF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364992" y="2468880"/>
            <a:ext cx="73152" cy="73152"/>
          </a:xfrm>
          <a:prstGeom prst="rect">
            <a:avLst/>
          </a:prstGeom>
          <a:solidFill>
            <a:srgbClr val="3A9EC2"/>
          </a:solidFill>
          <a:ln/>
        </p:spPr>
      </p:sp>
      <p:sp>
        <p:nvSpPr>
          <p:cNvPr id="22" name="Text 20"/>
          <p:cNvSpPr/>
          <p:nvPr/>
        </p:nvSpPr>
        <p:spPr>
          <a:xfrm>
            <a:off x="3520440" y="2395728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explorations/ideas/Exploration_Brief_{slug}.md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364992" y="3657600"/>
            <a:ext cx="73152" cy="73152"/>
          </a:xfrm>
          <a:prstGeom prst="rect">
            <a:avLst/>
          </a:prstGeom>
          <a:solidFill>
            <a:srgbClr val="3A9EC2"/>
          </a:solidFill>
          <a:ln/>
        </p:spPr>
      </p:sp>
      <p:sp>
        <p:nvSpPr>
          <p:cNvPr id="24" name="Text 22"/>
          <p:cNvSpPr/>
          <p:nvPr/>
        </p:nvSpPr>
        <p:spPr>
          <a:xfrm>
            <a:off x="3520440" y="3584448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question + search scope + seed ideas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364992" y="4846320"/>
            <a:ext cx="73152" cy="73152"/>
          </a:xfrm>
          <a:prstGeom prst="rect">
            <a:avLst/>
          </a:prstGeom>
          <a:solidFill>
            <a:srgbClr val="3A9EC2"/>
          </a:solidFill>
          <a:ln/>
        </p:spPr>
      </p:sp>
      <p:sp>
        <p:nvSpPr>
          <p:cNvPr id="26" name="Text 24"/>
          <p:cNvSpPr/>
          <p:nvPr/>
        </p:nvSpPr>
        <p:spPr>
          <a:xfrm>
            <a:off x="3520440" y="4773168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Exploration Skeptic Review before scouting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007608" y="3520440"/>
            <a:ext cx="201168" cy="0"/>
          </a:xfrm>
          <a:prstGeom prst="line">
            <a:avLst/>
          </a:prstGeom>
          <a:noFill/>
          <a:ln w="25400">
            <a:solidFill>
              <a:srgbClr val="0B1F3A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6227064" y="1280160"/>
            <a:ext cx="2743200" cy="438912"/>
          </a:xfrm>
          <a:prstGeom prst="roundRect">
            <a:avLst>
              <a:gd name="adj" fmla="val 14583"/>
            </a:avLst>
          </a:prstGeom>
          <a:solidFill>
            <a:srgbClr val="1E5E7A"/>
          </a:solidFill>
          <a:ln/>
        </p:spPr>
      </p:sp>
      <p:sp>
        <p:nvSpPr>
          <p:cNvPr id="29" name="Text 27"/>
          <p:cNvSpPr/>
          <p:nvPr/>
        </p:nvSpPr>
        <p:spPr>
          <a:xfrm>
            <a:off x="6227064" y="128016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 ·  scout-ready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27064" y="1737360"/>
            <a:ext cx="2743200" cy="4480560"/>
          </a:xfrm>
          <a:prstGeom prst="roundRect">
            <a:avLst>
              <a:gd name="adj" fmla="val 2333"/>
            </a:avLst>
          </a:prstGeom>
          <a:solidFill>
            <a:srgbClr val="D6EDF7"/>
          </a:solidFill>
          <a:ln w="19050">
            <a:solidFill>
              <a:srgbClr val="1E5E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27064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EXPLORATION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364224" y="2468880"/>
            <a:ext cx="73152" cy="73152"/>
          </a:xfrm>
          <a:prstGeom prst="rect">
            <a:avLst/>
          </a:prstGeom>
          <a:solidFill>
            <a:srgbClr val="1E5E7A"/>
          </a:solidFill>
          <a:ln/>
        </p:spPr>
      </p:sp>
      <p:sp>
        <p:nvSpPr>
          <p:cNvPr id="33" name="Text 31"/>
          <p:cNvSpPr/>
          <p:nvPr/>
        </p:nvSpPr>
        <p:spPr>
          <a:xfrm>
            <a:off x="6519672" y="2395728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explorations/active/{slug}/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364224" y="3657600"/>
            <a:ext cx="73152" cy="73152"/>
          </a:xfrm>
          <a:prstGeom prst="rect">
            <a:avLst/>
          </a:prstGeom>
          <a:solidFill>
            <a:srgbClr val="1E5E7A"/>
          </a:solidFill>
          <a:ln/>
        </p:spPr>
      </p:sp>
      <p:sp>
        <p:nvSpPr>
          <p:cNvPr id="35" name="Text 33"/>
          <p:cNvSpPr/>
          <p:nvPr/>
        </p:nvSpPr>
        <p:spPr>
          <a:xfrm>
            <a:off x="6519672" y="3584448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candidates → paper-briefs/ → synthesis.md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364224" y="4846320"/>
            <a:ext cx="73152" cy="73152"/>
          </a:xfrm>
          <a:prstGeom prst="rect">
            <a:avLst/>
          </a:prstGeom>
          <a:solidFill>
            <a:srgbClr val="1E5E7A"/>
          </a:solidFill>
          <a:ln/>
        </p:spPr>
      </p:sp>
      <p:sp>
        <p:nvSpPr>
          <p:cNvPr id="37" name="Text 35"/>
          <p:cNvSpPr/>
          <p:nvPr/>
        </p:nvSpPr>
        <p:spPr>
          <a:xfrm>
            <a:off x="6519672" y="4773168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PDFs in _pdfs/ (not corpus)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9006840" y="3520440"/>
            <a:ext cx="201168" cy="0"/>
          </a:xfrm>
          <a:prstGeom prst="line">
            <a:avLst/>
          </a:prstGeom>
          <a:noFill/>
          <a:ln w="25400">
            <a:solidFill>
              <a:srgbClr val="0B1F3A"/>
            </a:solidFill>
            <a:prstDash val="solid"/>
            <a:tailEnd type="arrow"/>
          </a:ln>
        </p:spPr>
      </p:sp>
      <p:sp>
        <p:nvSpPr>
          <p:cNvPr id="39" name="Shape 37"/>
          <p:cNvSpPr/>
          <p:nvPr/>
        </p:nvSpPr>
        <p:spPr>
          <a:xfrm>
            <a:off x="9226296" y="1280160"/>
            <a:ext cx="2743200" cy="438912"/>
          </a:xfrm>
          <a:prstGeom prst="roundRect">
            <a:avLst>
              <a:gd name="adj" fmla="val 14583"/>
            </a:avLst>
          </a:prstGeom>
          <a:solidFill>
            <a:srgbClr val="F0A500"/>
          </a:solidFill>
          <a:ln/>
        </p:spPr>
      </p:sp>
      <p:sp>
        <p:nvSpPr>
          <p:cNvPr id="40" name="Text 38"/>
          <p:cNvSpPr/>
          <p:nvPr/>
        </p:nvSpPr>
        <p:spPr>
          <a:xfrm>
            <a:off x="9226296" y="128016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 ·  human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226296" y="1737360"/>
            <a:ext cx="2743200" cy="4480560"/>
          </a:xfrm>
          <a:prstGeom prst="roundRect">
            <a:avLst>
              <a:gd name="adj" fmla="val 2333"/>
            </a:avLst>
          </a:prstGeom>
          <a:solidFill>
            <a:srgbClr val="D6EDF7"/>
          </a:solidFill>
          <a:ln w="19050">
            <a:solidFill>
              <a:srgbClr val="F0A5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26296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DECISION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9363456" y="2468880"/>
            <a:ext cx="73152" cy="73152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4" name="Text 42"/>
          <p:cNvSpPr/>
          <p:nvPr/>
        </p:nvSpPr>
        <p:spPr>
          <a:xfrm>
            <a:off x="9518904" y="2395728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Promote PDF to Library (wiki ingest)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9363456" y="3657600"/>
            <a:ext cx="73152" cy="73152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6" name="Text 44"/>
          <p:cNvSpPr/>
          <p:nvPr/>
        </p:nvSpPr>
        <p:spPr>
          <a:xfrm>
            <a:off x="9518904" y="3584448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Promote to Project (if deliverable emerges)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9363456" y="4846320"/>
            <a:ext cx="73152" cy="73152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8" name="Text 46"/>
          <p:cNvSpPr/>
          <p:nvPr/>
        </p:nvSpPr>
        <p:spPr>
          <a:xfrm>
            <a:off x="9518904" y="4773168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Archive (if dead end)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12079224" cy="54864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Tool for Which Task?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5394960" cy="51206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3444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Synthesizer — wiki/overviews/ pages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Drafter — manuscript / grant sections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Critic — reviewer pressure test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7033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Exploration Skeptic reviews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2976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Hypothesis and framing discussions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8920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Strategic conversations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54864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Editorial revision of prose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92240" y="1234440"/>
            <a:ext cx="5394960" cy="512064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23444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CLI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75120" y="19202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Scout scripts — all four sources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75120" y="25146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Triage of candidate JSON batches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75120" y="31089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Ingester — extract, rename, write pages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75120" y="37033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File maintenance and bulk renaming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75120" y="42976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Citation verification scripts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75120" y="48920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Any task with &gt; 3 sequential file ops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687568" y="1234440"/>
            <a:ext cx="786384" cy="5120640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24" name="Text 22"/>
          <p:cNvSpPr/>
          <p:nvPr/>
        </p:nvSpPr>
        <p:spPr>
          <a:xfrm>
            <a:off x="5687568" y="3108960"/>
            <a:ext cx="78638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6492240"/>
            <a:ext cx="11612880" cy="256032"/>
          </a:xfrm>
          <a:prstGeom prst="rect">
            <a:avLst/>
          </a:prstGeom>
          <a:solidFill>
            <a:srgbClr val="D6EDF7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doubt: Claude Code for reasoning and writing, Codex CLI for throughput and file operations.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12079224" cy="54864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Control Room — What the Dashboard Shows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5669280" cy="1554480"/>
          </a:xfrm>
          <a:prstGeom prst="roundRect">
            <a:avLst>
              <a:gd name="adj" fmla="val 4706"/>
            </a:avLst>
          </a:prstGeom>
          <a:solidFill>
            <a:srgbClr val="D6EDF7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32688" y="1481328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Snapshot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32688" y="1847088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Papers, sources, overviews, candidates, drafts, idea notes, explorations — counts at a glance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371600"/>
            <a:ext cx="5669280" cy="1554480"/>
          </a:xfrm>
          <a:prstGeom prst="roundRect">
            <a:avLst>
              <a:gd name="adj" fmla="val 4706"/>
            </a:avLst>
          </a:prstGeom>
          <a:solidFill>
            <a:srgbClr val="D6EDF7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3368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922008" y="1481328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Incubator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22008" y="1847088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idea notes, briefs, active explorations. Copy-paste commands for each stage of the idea → exploration flow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3154680"/>
            <a:ext cx="5669280" cy="1554480"/>
          </a:xfrm>
          <a:prstGeom prst="roundRect">
            <a:avLst>
              <a:gd name="adj" fmla="val 4706"/>
            </a:avLst>
          </a:prstGeom>
          <a:solidFill>
            <a:srgbClr val="D6EDF7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🎛️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32688" y="3264408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Launcher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32688" y="3630168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project → select action → copy prompt into Codex or Claude Code. Three workflow lanes: Project Discovery / LLM-Wiki Core / Project Writing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3154680"/>
            <a:ext cx="5669280" cy="1554480"/>
          </a:xfrm>
          <a:prstGeom prst="roundRect">
            <a:avLst>
              <a:gd name="adj" fmla="val 4706"/>
            </a:avLst>
          </a:prstGeom>
          <a:solidFill>
            <a:srgbClr val="D6EDF7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73368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922008" y="3264408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Projects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22008" y="3630168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bar, stage tracking, file counts, figure/experiment plan progress. Links to latest approval board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4320" y="4937760"/>
            <a:ext cx="5669280" cy="1554480"/>
          </a:xfrm>
          <a:prstGeom prst="roundRect">
            <a:avLst>
              <a:gd name="adj" fmla="val 4706"/>
            </a:avLst>
          </a:prstGeom>
          <a:solidFill>
            <a:srgbClr val="D6EDF7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5029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32688" y="5047488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Obsidian Vault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32688" y="5413248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open + graph filter for wiki. Best reading order: index.md → overviews/ → categories/ → sources/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63640" y="4937760"/>
            <a:ext cx="5669280" cy="1554480"/>
          </a:xfrm>
          <a:prstGeom prst="roundRect">
            <a:avLst>
              <a:gd name="adj" fmla="val 4706"/>
            </a:avLst>
          </a:prstGeom>
          <a:solidFill>
            <a:srgbClr val="D6EDF7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73368" y="5029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922008" y="5047488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Mendeley Bridge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22008" y="5413248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Optional. Audit export, copy selected PDFs to watch folder. System works fully without Mendeley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74320" y="6492240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 python3 scripts/build_dashboard.py  →  open _system/dashboard/index.html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12079224" cy="54864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A9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Rules — Core Anti-Hallucination System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548640" cy="548640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13258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WEB SEARCH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709928"/>
            <a:ext cx="10515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WebSearch or WebFetch to fill gaps. The point of this system is that every answer is grounded in papers you actually have.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679192"/>
            <a:ext cx="548640" cy="548640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2679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05840" y="25877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FROM THE WIKI FIRST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971800"/>
            <a:ext cx="10515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sources/ and wiki/ as the only sources of truth. If the overview page exists, start there.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941064"/>
            <a:ext cx="548640" cy="548640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394106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05840" y="3849624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WIKI IS INSUFFICIENT, RE-READ THE PDF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4233672"/>
            <a:ext cx="10515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papers/{stem}.pdf and extract more detail. Then update the wiki page with what you found.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5202936"/>
            <a:ext cx="548640" cy="548640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52029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05840" y="5111496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PAPER EXISTS, SAY SO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5495544"/>
            <a:ext cx="10515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don't have a paper on this — please give me the PDF." Do not improvise or infer from general knowledge.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6400800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Violating these rules defeats the purpose of the system.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12079224" cy="54864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— Prerequisites &amp; Installation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5394960" cy="5120640"/>
          </a:xfrm>
          <a:prstGeom prst="rect">
            <a:avLst/>
          </a:prstGeom>
          <a:solidFill>
            <a:srgbClr val="D6EDF7"/>
          </a:solidFill>
          <a:ln w="19050">
            <a:solidFill>
              <a:srgbClr val="1A6B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280160"/>
            <a:ext cx="5394960" cy="457200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2801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97480" y="19202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+ ingest scripts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5603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CLI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97480" y="25603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claude.ai/code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2004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CLI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97480" y="3200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platform.openai.com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Obsidian (optional)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97480" y="38404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obsidian.md — recommended wiki viewer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4805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97480" y="4480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~/.research-system.env  (never commit)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51206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NCBI_API_KEY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97480" y="51206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PubMed scouting — free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57607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S2_API_KEY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97480" y="57607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Scholar — free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1280160"/>
            <a:ext cx="5486400" cy="5120640"/>
          </a:xfrm>
          <a:prstGeom prst="rect">
            <a:avLst/>
          </a:prstGeom>
          <a:solidFill>
            <a:srgbClr val="D6EDF7"/>
          </a:solidFill>
          <a:ln w="19050">
            <a:solidFill>
              <a:srgbClr val="0B1F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1280160"/>
            <a:ext cx="5486400" cy="4572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SETUP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537960" y="1993392"/>
            <a:ext cx="320040" cy="32004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19933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31152" y="1920240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or copy the repo folder to your machine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37960" y="2633472"/>
            <a:ext cx="320040" cy="32004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26334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31152" y="2560320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Customize CLAUDE.md + AGENTS.md for your domain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537960" y="3273552"/>
            <a:ext cx="320040" cy="32004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3" name="Text 31"/>
          <p:cNvSpPr/>
          <p:nvPr/>
        </p:nvSpPr>
        <p:spPr>
          <a:xfrm>
            <a:off x="6537960" y="32735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31152" y="3200400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~/.research-system.env with API keys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537960" y="3913632"/>
            <a:ext cx="320040" cy="32004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6" name="Text 34"/>
          <p:cNvSpPr/>
          <p:nvPr/>
        </p:nvSpPr>
        <p:spPr>
          <a:xfrm>
            <a:off x="6537960" y="39136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31152" y="3840480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pypdf requests biopython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537960" y="4553712"/>
            <a:ext cx="320040" cy="32004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9" name="Text 37"/>
          <p:cNvSpPr/>
          <p:nvPr/>
        </p:nvSpPr>
        <p:spPr>
          <a:xfrm>
            <a:off x="6537960" y="45537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931152" y="4480560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folder in Obsidian as a vault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537960" y="5193792"/>
            <a:ext cx="320040" cy="32004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42" name="Text 40"/>
          <p:cNvSpPr/>
          <p:nvPr/>
        </p:nvSpPr>
        <p:spPr>
          <a:xfrm>
            <a:off x="6537960" y="51937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931152" y="5120640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folder in Claude Code + Codex CLI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537960" y="5833872"/>
            <a:ext cx="320040" cy="32004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45" name="Text 43"/>
          <p:cNvSpPr/>
          <p:nvPr/>
        </p:nvSpPr>
        <p:spPr>
          <a:xfrm>
            <a:off x="6537960" y="58338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931152" y="5760720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5–15 foundational papers you already know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12079224" cy="54864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ADAPTING THE SYSTEM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System is Field-Agnostic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D6EDF7"/>
          </a:solidFill>
          <a:ln w="19050">
            <a:solidFill>
              <a:srgbClr val="1A6B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280160"/>
            <a:ext cx="5486400" cy="475488"/>
          </a:xfrm>
          <a:prstGeom prst="roundRect">
            <a:avLst>
              <a:gd name="adj" fmla="val 9615"/>
            </a:avLst>
          </a:prstGeom>
          <a:solidFill>
            <a:srgbClr val="1A6B8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280160"/>
            <a:ext cx="5486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What to Change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93852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+ AGENTS.md header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267712"/>
            <a:ext cx="5120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neuroscience domain with your field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94436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wiki/ categories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273552"/>
            <a:ext cx="5120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to your subject areas (e.g., immunology, ML, economics)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95020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Project_Brief template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279392"/>
            <a:ext cx="5120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triage criteria for your paper / grant types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95604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queries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5285232"/>
            <a:ext cx="5120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keywords with your field's search terms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0" y="128016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D6EDF7"/>
          </a:solidFill>
          <a:ln w="19050">
            <a:solidFill>
              <a:srgbClr val="0B1F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1280160"/>
            <a:ext cx="5486400" cy="475488"/>
          </a:xfrm>
          <a:prstGeom prst="roundRect">
            <a:avLst>
              <a:gd name="adj" fmla="val 9615"/>
            </a:avLst>
          </a:prstGeom>
          <a:solidFill>
            <a:srgbClr val="0B1F3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1280160"/>
            <a:ext cx="5486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What NOT to Change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83680" y="193852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The Three Spaces model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0" y="2267712"/>
            <a:ext cx="5120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/ Exploration / Project is the core architecture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0" y="294436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The Four Rules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83680" y="3273552"/>
            <a:ext cx="5120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prevent hallucination regardless of field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0" y="395020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The promotion gate logic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83680" y="4279392"/>
            <a:ext cx="5120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human approval before anything enters the Library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83680" y="495604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Claude Code vs Codex routing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83680" y="5285232"/>
            <a:ext cx="5120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vs throughput — the split works in every domain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4320" y="626364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any field where you read papers and produce written deliverables.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12079224" cy="54864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A9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at a Glance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2377440" cy="594360"/>
          </a:xfrm>
          <a:prstGeom prst="roundRect">
            <a:avLst>
              <a:gd name="adj" fmla="val 10769"/>
            </a:avLst>
          </a:prstGeom>
          <a:solidFill>
            <a:srgbClr val="1A6B8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3716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Spaces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834640" y="1417320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(permanent)  ·  Exploration (incubator)  ·  Project (deliverable)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194560"/>
            <a:ext cx="2377440" cy="594360"/>
          </a:xfrm>
          <a:prstGeom prst="roundRect">
            <a:avLst>
              <a:gd name="adj" fmla="val 10769"/>
            </a:avLst>
          </a:prstGeom>
          <a:solidFill>
            <a:srgbClr val="1A6B8A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21945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Tools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34640" y="2240280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(reasoning + writing)  ·  Codex CLI (throughput + files)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017520"/>
            <a:ext cx="2377440" cy="594360"/>
          </a:xfrm>
          <a:prstGeom prst="roundRect">
            <a:avLst>
              <a:gd name="adj" fmla="val 10769"/>
            </a:avLst>
          </a:prstGeom>
          <a:solidFill>
            <a:srgbClr val="1A6B8A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30175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Agents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34640" y="3063240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→ Triage → Ingester → Synthesizer → Drafter → Critic  |  Exploration Skeptic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3840480"/>
            <a:ext cx="2377440" cy="594360"/>
          </a:xfrm>
          <a:prstGeom prst="roundRect">
            <a:avLst>
              <a:gd name="adj" fmla="val 10769"/>
            </a:avLst>
          </a:prstGeom>
          <a:solidFill>
            <a:srgbClr val="1A6B8A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38404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Rules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834640" y="3886200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web search  ·  Wiki first  ·  Re-read PDF  ·  Say if missing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4663440"/>
            <a:ext cx="2377440" cy="594360"/>
          </a:xfrm>
          <a:prstGeom prst="roundRect">
            <a:avLst>
              <a:gd name="adj" fmla="val 10769"/>
            </a:avLst>
          </a:prstGeom>
          <a:solidFill>
            <a:srgbClr val="1A6B8A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46634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834640" y="4709160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build_dashboard.py → index.html  ·  Copy commands, track progress, open Obsidian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5486400"/>
            <a:ext cx="2377440" cy="594360"/>
          </a:xfrm>
          <a:prstGeom prst="roundRect">
            <a:avLst>
              <a:gd name="adj" fmla="val 10769"/>
            </a:avLst>
          </a:prstGeom>
          <a:solidFill>
            <a:srgbClr val="F0A500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54864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Principle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834640" y="5532120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traces to a paper you actually have.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74320" y="6446520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on: Karpathy's LLM Wiki pattern  ·  Claude Code  ·  Codex CLI  ·  Obsidian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2026-05-11T09:39:39Z</dcterms:created>
  <dcterms:modified xsi:type="dcterms:W3CDTF">2026-05-11T09:39:39Z</dcterms:modified>
</cp:coreProperties>
</file>